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  <p:embeddedFont>
      <p:font typeface="Inter Italics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871" y="7670444"/>
            <a:ext cx="3843480" cy="382172"/>
            <a:chOff x="0" y="0"/>
            <a:chExt cx="5124640" cy="5095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4704" cy="509533"/>
            </a:xfrm>
            <a:custGeom>
              <a:avLst/>
              <a:gdLst/>
              <a:ahLst/>
              <a:cxnLst/>
              <a:rect r="r" b="b" t="t" l="l"/>
              <a:pathLst>
                <a:path h="509533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509533"/>
                  </a:lnTo>
                  <a:lnTo>
                    <a:pt x="0" y="509533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71871" y="2832973"/>
            <a:ext cx="16687429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Diagnostic Analytics</a:t>
            </a:r>
          </a:p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&amp; Data Visualization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28439" y="414042"/>
            <a:ext cx="5877961" cy="5348945"/>
          </a:xfrm>
          <a:custGeom>
            <a:avLst/>
            <a:gdLst/>
            <a:ahLst/>
            <a:cxnLst/>
            <a:rect r="r" b="b" t="t" l="l"/>
            <a:pathLst>
              <a:path h="5348945" w="5877961">
                <a:moveTo>
                  <a:pt x="0" y="0"/>
                </a:moveTo>
                <a:lnTo>
                  <a:pt x="5877962" y="0"/>
                </a:lnTo>
                <a:lnTo>
                  <a:pt x="5877962" y="5348945"/>
                </a:lnTo>
                <a:lnTo>
                  <a:pt x="0" y="534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1871" y="6127394"/>
            <a:ext cx="13654326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Finding the Signals in the Noise. </a:t>
            </a:r>
          </a:p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Identifying Patterns and Communicating the Why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944" y="7704368"/>
            <a:ext cx="3523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2837278"/>
            <a:ext cx="16230600" cy="6588824"/>
            <a:chOff x="0" y="0"/>
            <a:chExt cx="21640800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40699" cy="8785098"/>
            </a:xfrm>
            <a:custGeom>
              <a:avLst/>
              <a:gdLst/>
              <a:ahLst/>
              <a:cxnLst/>
              <a:rect r="r" b="b" t="t" l="l"/>
              <a:pathLst>
                <a:path h="8785098" w="21640699">
                  <a:moveTo>
                    <a:pt x="0" y="0"/>
                  </a:moveTo>
                  <a:lnTo>
                    <a:pt x="21640699" y="0"/>
                  </a:lnTo>
                  <a:lnTo>
                    <a:pt x="21640699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6637" y="5212728"/>
            <a:ext cx="164725" cy="164725"/>
            <a:chOff x="0" y="0"/>
            <a:chExt cx="219634" cy="219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56637" y="6036326"/>
            <a:ext cx="164725" cy="164725"/>
            <a:chOff x="0" y="0"/>
            <a:chExt cx="219634" cy="2196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6637" y="6859934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6637" y="7683541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41744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41744" y="6036326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41744" y="6859934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41744" y="7683541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5839202" y="3997045"/>
            <a:ext cx="2607063" cy="739458"/>
          </a:xfrm>
          <a:custGeom>
            <a:avLst/>
            <a:gdLst/>
            <a:ahLst/>
            <a:cxnLst/>
            <a:rect r="r" b="b" t="t" l="l"/>
            <a:pathLst>
              <a:path h="739458" w="2607063">
                <a:moveTo>
                  <a:pt x="0" y="0"/>
                </a:moveTo>
                <a:lnTo>
                  <a:pt x="2607063" y="0"/>
                </a:lnTo>
                <a:lnTo>
                  <a:pt x="2607063" y="739458"/>
                </a:lnTo>
                <a:lnTo>
                  <a:pt x="0" y="739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ANATOMY OF WHY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Transition: Reporter to Detective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9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Descriptive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64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Diagnostic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1244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temperature is high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1244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dropped by 12%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1244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Traffic is down this month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1244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Tells you WHAT happened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76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patient has an infection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76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competitor opened across the street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76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Instagram ad credit card expired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76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Tells you WHY it happened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832037"/>
            <a:ext cx="18288000" cy="12115800"/>
          </a:xfrm>
          <a:custGeom>
            <a:avLst/>
            <a:gdLst/>
            <a:ahLst/>
            <a:cxnLst/>
            <a:rect r="r" b="b" t="t" l="l"/>
            <a:pathLst>
              <a:path h="12115800" w="18288000">
                <a:moveTo>
                  <a:pt x="0" y="0"/>
                </a:moveTo>
                <a:lnTo>
                  <a:pt x="18288000" y="0"/>
                </a:lnTo>
                <a:lnTo>
                  <a:pt x="18288000" y="12115800"/>
                </a:lnTo>
                <a:lnTo>
                  <a:pt x="0" y="12115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WHY WE USE CHARTS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60,000x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6" y="6497279"/>
            <a:ext cx="153695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faster, the brain processes visuals compared to text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0450" y="7801318"/>
            <a:ext cx="1399682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50-row table requires reading every cell. A line chart reveals the peak in 0.1 seconds.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SEE THE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Anscombe's Quartet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Four datasets with identical Mean, Variance, and Correlation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graphed, they look completely different from each other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Proof that statistics alone can be deeply misleading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must see the data to truly understand the behavior of the business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Numbers summarize. Charts reveal.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ROOT CAUSE TECHNIQUE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5 Whys Technique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are down  -&gt;  Why? Fewer customers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Fewer customers  -&gt;  Why? Less website traffic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Less traffic  -&gt;  Why? The Instagram ad stopped running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 stopped  -&gt;  Why? The credit card on file expired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665" y="6329229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Root cause: no one was assigned to manage the billing account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37329" y="-570057"/>
            <a:ext cx="6324126" cy="6630800"/>
          </a:xfrm>
          <a:custGeom>
            <a:avLst/>
            <a:gdLst/>
            <a:ahLst/>
            <a:cxnLst/>
            <a:rect r="r" b="b" t="t" l="l"/>
            <a:pathLst>
              <a:path h="6630800" w="6324126">
                <a:moveTo>
                  <a:pt x="0" y="0"/>
                </a:moveTo>
                <a:lnTo>
                  <a:pt x="6324126" y="0"/>
                </a:lnTo>
                <a:lnTo>
                  <a:pt x="6324126" y="6630800"/>
                </a:lnTo>
                <a:lnTo>
                  <a:pt x="0" y="6630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Art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of Selection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Choosing the right chart is choosing the right argument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534" y="2808703"/>
            <a:ext cx="4334208" cy="5902490"/>
            <a:chOff x="0" y="0"/>
            <a:chExt cx="5778944" cy="7869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46017" y="2808703"/>
            <a:ext cx="4334208" cy="5902490"/>
            <a:chOff x="0" y="0"/>
            <a:chExt cx="5778944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17500" y="2808703"/>
            <a:ext cx="4334208" cy="5902490"/>
            <a:chOff x="0" y="0"/>
            <a:chExt cx="5778944" cy="786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88982" y="2808703"/>
            <a:ext cx="4334208" cy="5902490"/>
            <a:chOff x="0" y="0"/>
            <a:chExt cx="5778944" cy="7869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61901" y="5277580"/>
            <a:ext cx="3759485" cy="374690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73095" y="5278838"/>
            <a:ext cx="3680063" cy="3744388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13822" y="5241899"/>
            <a:ext cx="4187652" cy="3818265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4398883" y="5759948"/>
            <a:ext cx="2914417" cy="2914417"/>
          </a:xfrm>
          <a:custGeom>
            <a:avLst/>
            <a:gdLst/>
            <a:ahLst/>
            <a:cxnLst/>
            <a:rect r="r" b="b" t="t" l="l"/>
            <a:pathLst>
              <a:path h="2914417" w="2914417">
                <a:moveTo>
                  <a:pt x="0" y="0"/>
                </a:moveTo>
                <a:lnTo>
                  <a:pt x="2914417" y="0"/>
                </a:lnTo>
                <a:lnTo>
                  <a:pt x="2914417" y="2914417"/>
                </a:lnTo>
                <a:lnTo>
                  <a:pt x="0" y="2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CHART SELECTION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Four Goals, Four Chart Families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974" y="2991698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Comparison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1876" y="3943045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things differ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from each other</a:t>
            </a:r>
          </a:p>
          <a:p>
            <a:pPr algn="ctr">
              <a:lnSpc>
                <a:spcPts val="2702"/>
              </a:lnSpc>
            </a:p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Bar / Column Charts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37457" y="2991698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Distribution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43359" y="3943045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values spread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across a range</a:t>
            </a:r>
          </a:p>
          <a:p>
            <a:pPr algn="ctr">
              <a:lnSpc>
                <a:spcPts val="2702"/>
              </a:lnSpc>
            </a:p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Histogram / Box Plot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08940" y="2991698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Composition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4842" y="3943045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Parts of a whole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at one point in time</a:t>
            </a:r>
          </a:p>
          <a:p>
            <a:pPr algn="ctr">
              <a:lnSpc>
                <a:spcPts val="2702"/>
              </a:lnSpc>
            </a:p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Pie / Treemap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80422" y="2991698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Relationship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86324" y="3943045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Does X affect Y?</a:t>
            </a:r>
          </a:p>
          <a:p>
            <a:pPr algn="ctr">
              <a:lnSpc>
                <a:spcPts val="2702"/>
              </a:lnSpc>
            </a:p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Scatter Plot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Correlation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46" y="8958567"/>
            <a:ext cx="168382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true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Choosing the wrong chart is like using a hammer to turn a screw. Wrong tool, wrong answer.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COMPARISON CHARTS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Comparison: Bar &amp; Column Charts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Column Charts (vertical) to compare values across categories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Bar Charts (horizontal) when category names are long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e.g. 'Northwestern Regional Office' | horizontal fits better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sort from largest to smallest for instant ranking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use 3D bars, depth distorts the actual value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COMPOSITION CHARTS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Composition: Pie Charts &amp; Treemaps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Pie charts show parts of a whole at a single point in time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use a Pie for more than 5 categories, it becomes unreadable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slices are similar in size, the human eye cannot distinguish them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 Treemap for complex budget breakdowns with many categories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Rule: if you need a legend to explain it, reconsider the chart type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TREND CHARTS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Trends: Line &amp; Area Charts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Line charts are built for time-series data: revenue, visits, temperature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720823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line implies a connection between data points, never use for unrelated categories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Connecting 'Apples' and 'Oranges' with a line implies a change that doesn't exist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Area charts add visual weight, useful for showing volume over time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Monthly revenue over 3 years: the perfect use case for a line chart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RELATIONSHIP CHARTS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Relationships: Scatter Plots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Does variable X affect variable Y?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 Does temperature predict ice cream sales?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Each dot is one data point, the pattern of dots reveals the relationship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tight diagonal cluster = strong correlation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the direct bridge to Week 7: </a:t>
            </a: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Regression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start a bar chart at 90 to make a change from 91 to 95 look dramatic,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are not visualizing data.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are manufacturing a story.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08821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Golden Rule: Always Start the Y-Axis at Zero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DESIGN PRINCIPLES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Color Strategy in Charts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color to highlight, not to decorate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 everything grey. Use one accent color only for the point that matters.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When everything is colorful, nothing is emphasized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Colorblind-safe palettes: avoid Red-Green combinations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Which chart for a split marketing budget (TV / Radio / Social)? Pie or Treemap.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180161" y="-1173888"/>
            <a:ext cx="7838461" cy="7838461"/>
          </a:xfrm>
          <a:custGeom>
            <a:avLst/>
            <a:gdLst/>
            <a:ahLst/>
            <a:cxnLst/>
            <a:rect r="r" b="b" t="t" l="l"/>
            <a:pathLst>
              <a:path h="7838461" w="7838461">
                <a:moveTo>
                  <a:pt x="0" y="0"/>
                </a:moveTo>
                <a:lnTo>
                  <a:pt x="7838462" y="0"/>
                </a:lnTo>
                <a:lnTo>
                  <a:pt x="7838462" y="7838462"/>
                </a:lnTo>
                <a:lnTo>
                  <a:pt x="0" y="7838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Excel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Visualization Tools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From raw data to a Disney land charts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EXCEL CHARTS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Insert Tab. Your Chart Workshop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Recommended Charts: Excel suggests chart types based on your selected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start with a recommendation, then fine-tune it yourself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An analyst never accepts the default. They ask: does this choice serve the insight?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Chart Elements button (plus icon): toggle titles, labels, gridlines on/off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Change Chart Type: swap any chart to another family in two clicks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SPARKLINES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Hidden Power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Tiny charts that live inside a single cell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720823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Show 12 months of trend data next to an employee's name, no extra space needed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Perfect for dashboards where screen real estate is scarce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Three types: Line, Column, Win/Loss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Sparklines make tables scannable at a glance, no chart required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HEATMAPS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758857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Conditional Formatting. Heatmaps in a Cell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Color cells automatically based on their value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Stock level sheet: Red when inventory falls below 10 units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insight is instant, no chart needed, no scanning required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color scales for rankings (green = high, red = low)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 sets: arrows and traffic lights for executive summaries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LABEL DECISIONS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Labels vs. Clean Charts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Use Data Labels When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Keep It Clean When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exact number is critical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Profit margin: 14.3%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Audience is non-technical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want no ambiguity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shape of the trend matters more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Labels would overlap or clutter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Audience reads charts fluently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data table below serves better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3  •  PROFESSIONAL FORMATTING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Formatting for the C-Suite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Remove gridlines, they add noise, not information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Remove chart borders and background boxes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Calibri or Arial, clean, readable, universally available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Professionalism is invisible: if they notice your formatting, it is wrong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214" y="6085475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goal is for the insight to be the only thing they remember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582581" y="6682759"/>
            <a:ext cx="5132563" cy="3334906"/>
          </a:xfrm>
          <a:custGeom>
            <a:avLst/>
            <a:gdLst/>
            <a:ahLst/>
            <a:cxnLst/>
            <a:rect r="r" b="b" t="t" l="l"/>
            <a:pathLst>
              <a:path h="3334906" w="5132563">
                <a:moveTo>
                  <a:pt x="0" y="0"/>
                </a:moveTo>
                <a:lnTo>
                  <a:pt x="5132563" y="0"/>
                </a:lnTo>
                <a:lnTo>
                  <a:pt x="5132563" y="3334906"/>
                </a:lnTo>
                <a:lnTo>
                  <a:pt x="0" y="3334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ADVANCED CHARTS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Dual-Axis Charts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 different scales on one chart: e.g. Units Sold and Total Profit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when two metrics are related but live on completely different scales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Units in thousands, Profit in millions, a single axis would flatten one to zero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Warning: non-technical audiences often misread dual-axis charts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label both axes clearly and use contrasting colors for each series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726961" y="6682759"/>
            <a:ext cx="6253558" cy="3517626"/>
          </a:xfrm>
          <a:custGeom>
            <a:avLst/>
            <a:gdLst/>
            <a:ahLst/>
            <a:cxnLst/>
            <a:rect r="r" b="b" t="t" l="l"/>
            <a:pathLst>
              <a:path h="3517626" w="6253558">
                <a:moveTo>
                  <a:pt x="0" y="0"/>
                </a:moveTo>
                <a:lnTo>
                  <a:pt x="6253558" y="0"/>
                </a:lnTo>
                <a:lnTo>
                  <a:pt x="6253558" y="3517626"/>
                </a:lnTo>
                <a:lnTo>
                  <a:pt x="0" y="3517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INTERACTIVITY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Slicers &amp; Interactive Filtering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Slicers are buttons that filter your Pivot Table data instantly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Insert -&gt; Slicer -&gt; select a field (Region, Product, Month)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Your entire dashboard updates with one click, no formulas needed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Makes your Excel feel like a professional BI application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Combine with Pivot Charts for a fully interactive reporting layer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FINAL RULES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Two Rules That Change Everything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Always Sort Your Charts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10-Foot Test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Bar charts: largest to smallest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Makes ranking instant for the viewer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Unsorted bars force the eye to search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Sorted bars answer the question immediately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back 10 feet from your screen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 you understand the chart?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not, simplify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Clarity beats complexity every time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You Soft Skill For Today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Story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&amp; The Ethics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Clarity is more important than beauty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4  •  STORYTELLING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Data Storytelling Framework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6333" y="3157147"/>
            <a:ext cx="5284784" cy="5216157"/>
            <a:chOff x="0" y="0"/>
            <a:chExt cx="7046379" cy="6954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7118" y="3848405"/>
            <a:ext cx="1043235" cy="1043235"/>
            <a:chOff x="0" y="0"/>
            <a:chExt cx="1390980" cy="1390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98558" y="4074747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778" y="5188639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Context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52" y="6227674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situation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are we in?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030" y="5261877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7029" y="3157147"/>
            <a:ext cx="5284784" cy="5216157"/>
            <a:chOff x="0" y="0"/>
            <a:chExt cx="7046379" cy="6954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97813" y="3848405"/>
            <a:ext cx="1043235" cy="1043235"/>
            <a:chOff x="0" y="0"/>
            <a:chExt cx="1390980" cy="1390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389244" y="4074747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68474" y="5188639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Evidence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739" y="6227674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Chart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does the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show?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50726" y="5261877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7715" y="3157147"/>
            <a:ext cx="5284784" cy="5216157"/>
            <a:chOff x="0" y="0"/>
            <a:chExt cx="7046379" cy="6954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88500" y="3848405"/>
            <a:ext cx="1043235" cy="1043235"/>
            <a:chOff x="0" y="0"/>
            <a:chExt cx="1390980" cy="13909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79935" y="4074747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59160" y="5188639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6425" y="6227674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Action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should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do now?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4  •  BENCHMARKS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Context Is King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20% growth looks impressive until you add context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the market grew by 50%, your 20% is actually underperformance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Diagnostic analytics always compares your data to a benchmark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Benchmarks can be: last year, competitors, industry average, your own target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show a number without its reference point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 to Lie with Charts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Truncated axes: starting at 90 to make a small change look massive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Cumulative graphs that never go down, they hide reversals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Improper scaling: making a 2% change look like a 200% change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720823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the news is bad, show it clearly, hiding it in a confusing chart destroys your credibility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214" y="6085475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Be an honest broker of truth. Your reputation is built on it.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DIAGNOSTIC SKILL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Spotting the Anomaly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you see a spike or a dip, do not ignore it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That is exactly where the Why lives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spike without an explanation is a question that will embarrass you later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Isolate the anomaly: what changed that day? External event? Internal process?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analyst who finds the anomaly first is the most valuable person in the room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2813980"/>
            <a:ext cx="7961500" cy="5902490"/>
            <a:chOff x="0" y="0"/>
            <a:chExt cx="10615333" cy="7869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15295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45970" y="2813980"/>
            <a:ext cx="7961500" cy="5902490"/>
            <a:chOff x="0" y="0"/>
            <a:chExt cx="10615333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295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40E2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417716" y="3772329"/>
            <a:ext cx="2001412" cy="4114800"/>
          </a:xfrm>
          <a:custGeom>
            <a:avLst/>
            <a:gdLst/>
            <a:ahLst/>
            <a:cxnLst/>
            <a:rect r="r" b="b" t="t" l="l"/>
            <a:pathLst>
              <a:path h="4114800" w="2001412">
                <a:moveTo>
                  <a:pt x="0" y="0"/>
                </a:moveTo>
                <a:lnTo>
                  <a:pt x="2001412" y="0"/>
                </a:lnTo>
                <a:lnTo>
                  <a:pt x="20014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5594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4  •  HUMAN-IN-THE-LOOP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Interpreting Sentiment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509" y="4634646"/>
            <a:ext cx="77786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AI 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509" y="5467779"/>
            <a:ext cx="7778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What the algorithm sees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6411" y="6222749"/>
            <a:ext cx="736681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complaints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rose by 10%.</a:t>
            </a:r>
          </a:p>
          <a:p>
            <a:pPr algn="ctr">
              <a:lnSpc>
                <a:spcPts val="2882"/>
              </a:lnSpc>
            </a:pP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That is all.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7410" y="4634646"/>
            <a:ext cx="77786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Human Answer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7410" y="5467779"/>
            <a:ext cx="7778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What the context reveals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43312" y="6222749"/>
            <a:ext cx="736681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Complaints rose because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new app update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crashes on older phones.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25845" y="4850073"/>
            <a:ext cx="667583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837410" y="3960431"/>
            <a:ext cx="1906085" cy="3738596"/>
          </a:xfrm>
          <a:custGeom>
            <a:avLst/>
            <a:gdLst/>
            <a:ahLst/>
            <a:cxnLst/>
            <a:rect r="r" b="b" t="t" l="l"/>
            <a:pathLst>
              <a:path h="3738596" w="1906085">
                <a:moveTo>
                  <a:pt x="0" y="0"/>
                </a:moveTo>
                <a:lnTo>
                  <a:pt x="1906085" y="0"/>
                </a:lnTo>
                <a:lnTo>
                  <a:pt x="1906085" y="3738596"/>
                </a:lnTo>
                <a:lnTo>
                  <a:pt x="0" y="3738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614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DASHBOARD PRINCIPLES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Dashboard Design Principles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Most important KPI goes top-left, that is where human eyes land first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insight per chart, never combine two messages into one visual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white space intentionally, breathing room reduces cognitive load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pretty dashboard that doesn't drive a decision is just art, not analytics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1439307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5193240"/>
            <a:ext cx="107985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picture is worth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thousand rows of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431" y="7000627"/>
            <a:ext cx="6177029" cy="38129"/>
            <a:chOff x="0" y="0"/>
            <a:chExt cx="8236039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1871" y="7320886"/>
            <a:ext cx="1217116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Visualization assignment, build a diagnostic dashboard in Excel.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Flow &amp; Logic. Mapping the Business Mind.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DAHGfCvL86E</dc:identifier>
  <dcterms:modified xsi:type="dcterms:W3CDTF">2011-08-01T06:04:30Z</dcterms:modified>
  <cp:revision>1</cp:revision>
  <dc:title>BA1 - Week2</dc:title>
</cp:coreProperties>
</file>