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x="18288000" cy="10287000"/>
  <p:notesSz cx="6858000" cy="9144000"/>
  <p:embeddedFontLst>
    <p:embeddedFont>
      <p:font typeface="Inter Bold" charset="1" panose="02000503000000020004"/>
      <p:regular r:id="rId36"/>
    </p:embeddedFont>
    <p:embeddedFont>
      <p:font typeface="Inter" charset="1" panose="02000503000000020004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667715" y="-2059010"/>
            <a:ext cx="10295039" cy="10295039"/>
            <a:chOff x="0" y="0"/>
            <a:chExt cx="13726719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2666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13726668">
                  <a:moveTo>
                    <a:pt x="0" y="6863334"/>
                  </a:moveTo>
                  <a:cubicBezTo>
                    <a:pt x="0" y="3072892"/>
                    <a:pt x="3072892" y="0"/>
                    <a:pt x="6863334" y="0"/>
                  </a:cubicBezTo>
                  <a:cubicBezTo>
                    <a:pt x="10653775" y="0"/>
                    <a:pt x="13726668" y="3072892"/>
                    <a:pt x="13726668" y="6863334"/>
                  </a:cubicBezTo>
                  <a:cubicBezTo>
                    <a:pt x="13726668" y="10653775"/>
                    <a:pt x="10653775" y="13726668"/>
                    <a:pt x="6863334" y="13726668"/>
                  </a:cubicBezTo>
                  <a:cubicBezTo>
                    <a:pt x="3072892" y="13726668"/>
                    <a:pt x="0" y="10653903"/>
                    <a:pt x="0" y="6863334"/>
                  </a:cubicBezTo>
                  <a:close/>
                </a:path>
              </a:pathLst>
            </a:custGeom>
            <a:solidFill>
              <a:srgbClr val="0A1A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040392" y="-686333"/>
            <a:ext cx="7549696" cy="7549696"/>
            <a:chOff x="0" y="0"/>
            <a:chExt cx="10066261" cy="1006626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066274" cy="10066274"/>
            </a:xfrm>
            <a:custGeom>
              <a:avLst/>
              <a:gdLst/>
              <a:ahLst/>
              <a:cxnLst/>
              <a:rect r="r" b="b" t="t" l="l"/>
              <a:pathLst>
                <a:path h="10066274" w="10066274">
                  <a:moveTo>
                    <a:pt x="0" y="5033137"/>
                  </a:moveTo>
                  <a:cubicBezTo>
                    <a:pt x="0" y="2253361"/>
                    <a:pt x="2253361" y="0"/>
                    <a:pt x="5033137" y="0"/>
                  </a:cubicBezTo>
                  <a:cubicBezTo>
                    <a:pt x="7812913" y="0"/>
                    <a:pt x="10066274" y="2253361"/>
                    <a:pt x="10066274" y="5033137"/>
                  </a:cubicBezTo>
                  <a:cubicBezTo>
                    <a:pt x="10066274" y="7812913"/>
                    <a:pt x="7812913" y="10066274"/>
                    <a:pt x="5033137" y="10066274"/>
                  </a:cubicBezTo>
                  <a:cubicBezTo>
                    <a:pt x="2253361" y="10066274"/>
                    <a:pt x="0" y="7812913"/>
                    <a:pt x="0" y="5033137"/>
                  </a:cubicBezTo>
                  <a:close/>
                </a:path>
              </a:pathLst>
            </a:custGeom>
            <a:solidFill>
              <a:srgbClr val="122232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23539" cy="10295039"/>
            <a:chOff x="0" y="0"/>
            <a:chExt cx="164719" cy="137267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4719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164719">
                  <a:moveTo>
                    <a:pt x="0" y="0"/>
                  </a:moveTo>
                  <a:lnTo>
                    <a:pt x="164719" y="0"/>
                  </a:lnTo>
                  <a:lnTo>
                    <a:pt x="164719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571871" y="2928328"/>
            <a:ext cx="12857512" cy="3276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70"/>
              </a:lnSpc>
            </a:pPr>
            <a:r>
              <a:rPr lang="en-US" sz="10808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Data Governance</a:t>
            </a:r>
          </a:p>
          <a:p>
            <a:pPr algn="l">
              <a:lnSpc>
                <a:spcPts val="12970"/>
              </a:lnSpc>
            </a:pPr>
            <a:r>
              <a:rPr lang="en-US" sz="10808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&amp; Source Integrity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71871" y="7585653"/>
            <a:ext cx="3843480" cy="295275"/>
            <a:chOff x="0" y="0"/>
            <a:chExt cx="5124640" cy="3937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124704" cy="393677"/>
            </a:xfrm>
            <a:custGeom>
              <a:avLst/>
              <a:gdLst/>
              <a:ahLst/>
              <a:cxnLst/>
              <a:rect r="r" b="b" t="t" l="l"/>
              <a:pathLst>
                <a:path h="393677" w="5124704">
                  <a:moveTo>
                    <a:pt x="0" y="0"/>
                  </a:moveTo>
                  <a:lnTo>
                    <a:pt x="5124704" y="0"/>
                  </a:lnTo>
                  <a:lnTo>
                    <a:pt x="5124704" y="393677"/>
                  </a:lnTo>
                  <a:lnTo>
                    <a:pt x="0" y="393677"/>
                  </a:lnTo>
                  <a:close/>
                </a:path>
              </a:pathLst>
            </a:custGeom>
            <a:solidFill>
              <a:srgbClr val="102030"/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4119959" y="671566"/>
            <a:ext cx="4694922" cy="4833897"/>
          </a:xfrm>
          <a:custGeom>
            <a:avLst/>
            <a:gdLst/>
            <a:ahLst/>
            <a:cxnLst/>
            <a:rect r="r" b="b" t="t" l="l"/>
            <a:pathLst>
              <a:path h="4833897" w="4694922">
                <a:moveTo>
                  <a:pt x="0" y="0"/>
                </a:moveTo>
                <a:lnTo>
                  <a:pt x="4694922" y="0"/>
                </a:lnTo>
                <a:lnTo>
                  <a:pt x="4694922" y="4833897"/>
                </a:lnTo>
                <a:lnTo>
                  <a:pt x="0" y="48338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71871" y="6130661"/>
            <a:ext cx="12857512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Protecting the Foundation -- Ensuring Truth, Privacy, and Automation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31944" y="7576128"/>
            <a:ext cx="3523336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WEEK 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01 / 30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571871" y="473296"/>
            <a:ext cx="2615214" cy="2615214"/>
          </a:xfrm>
          <a:custGeom>
            <a:avLst/>
            <a:gdLst/>
            <a:ahLst/>
            <a:cxnLst/>
            <a:rect r="r" b="b" t="t" l="l"/>
            <a:pathLst>
              <a:path h="2615214" w="2615214">
                <a:moveTo>
                  <a:pt x="0" y="0"/>
                </a:moveTo>
                <a:lnTo>
                  <a:pt x="2615214" y="0"/>
                </a:lnTo>
                <a:lnTo>
                  <a:pt x="2615214" y="2615214"/>
                </a:lnTo>
                <a:lnTo>
                  <a:pt x="0" y="26152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THE TRUST BRIDGE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'Trash In, Trash Out' Warning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159797" y="2970269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No amount of complex math can fix a broken data source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123269" y="3789419"/>
            <a:ext cx="16014659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sensor double-counting customers near a swinging door makes your Conversion Rate a lie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29171" y="4960994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Your Excel skills are irrelevant if the input is fundamentally wrong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17706" y="5648744"/>
            <a:ext cx="192176" cy="192176"/>
            <a:chOff x="0" y="0"/>
            <a:chExt cx="256235" cy="2562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123269" y="5484869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An analyst's first job is not to calculate it is to verify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17706" y="6499803"/>
            <a:ext cx="192176" cy="192176"/>
            <a:chOff x="0" y="0"/>
            <a:chExt cx="256235" cy="2562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123269" y="6335928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Before running one formula, ask: where did this number come from?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02 / 30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49069" y="2745343"/>
            <a:ext cx="8098765" cy="6588824"/>
            <a:chOff x="0" y="0"/>
            <a:chExt cx="10798353" cy="87850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798302" cy="8785098"/>
            </a:xfrm>
            <a:custGeom>
              <a:avLst/>
              <a:gdLst/>
              <a:ahLst/>
              <a:cxnLst/>
              <a:rect r="r" b="b" t="t" l="l"/>
              <a:pathLst>
                <a:path h="8785098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334176" y="2745343"/>
            <a:ext cx="8098765" cy="6588824"/>
            <a:chOff x="0" y="0"/>
            <a:chExt cx="10798353" cy="87850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98302" cy="8785098"/>
            </a:xfrm>
            <a:custGeom>
              <a:avLst/>
              <a:gdLst/>
              <a:ahLst/>
              <a:cxnLst/>
              <a:rect r="r" b="b" t="t" l="l"/>
              <a:pathLst>
                <a:path h="8785098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991000" y="2745343"/>
            <a:ext cx="38129" cy="6588824"/>
            <a:chOff x="0" y="0"/>
            <a:chExt cx="50838" cy="878509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0800" cy="8785098"/>
            </a:xfrm>
            <a:custGeom>
              <a:avLst/>
              <a:gdLst/>
              <a:ahLst/>
              <a:cxnLst/>
              <a:rect r="r" b="b" t="t" l="l"/>
              <a:pathLst>
                <a:path h="8785098" w="50800">
                  <a:moveTo>
                    <a:pt x="0" y="0"/>
                  </a:moveTo>
                  <a:lnTo>
                    <a:pt x="50800" y="0"/>
                  </a:lnTo>
                  <a:lnTo>
                    <a:pt x="50800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33334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66377" y="5085750"/>
            <a:ext cx="164725" cy="164725"/>
            <a:chOff x="0" y="0"/>
            <a:chExt cx="219634" cy="21963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66377" y="5909348"/>
            <a:ext cx="164725" cy="164725"/>
            <a:chOff x="0" y="0"/>
            <a:chExt cx="219634" cy="21963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66377" y="6732956"/>
            <a:ext cx="164725" cy="164725"/>
            <a:chOff x="0" y="0"/>
            <a:chExt cx="219634" cy="21963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66377" y="7554906"/>
            <a:ext cx="164725" cy="164725"/>
            <a:chOff x="0" y="0"/>
            <a:chExt cx="219634" cy="21963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551484" y="5085750"/>
            <a:ext cx="164725" cy="164725"/>
            <a:chOff x="0" y="0"/>
            <a:chExt cx="219634" cy="21963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551484" y="5909348"/>
            <a:ext cx="164725" cy="164725"/>
            <a:chOff x="0" y="0"/>
            <a:chExt cx="219634" cy="21963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551484" y="6732956"/>
            <a:ext cx="164725" cy="164725"/>
            <a:chOff x="0" y="0"/>
            <a:chExt cx="219634" cy="21963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551484" y="7556564"/>
            <a:ext cx="164725" cy="164725"/>
            <a:chOff x="0" y="0"/>
            <a:chExt cx="219634" cy="21963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Freeform 28" id="28"/>
          <p:cNvSpPr/>
          <p:nvPr/>
        </p:nvSpPr>
        <p:spPr>
          <a:xfrm flipH="false" flipV="false" rot="0">
            <a:off x="4108003" y="5022306"/>
            <a:ext cx="4068509" cy="4114800"/>
          </a:xfrm>
          <a:custGeom>
            <a:avLst/>
            <a:gdLst/>
            <a:ahLst/>
            <a:cxnLst/>
            <a:rect r="r" b="b" t="t" l="l"/>
            <a:pathLst>
              <a:path h="4114800" w="4068509">
                <a:moveTo>
                  <a:pt x="0" y="0"/>
                </a:moveTo>
                <a:lnTo>
                  <a:pt x="4068509" y="0"/>
                </a:lnTo>
                <a:lnTo>
                  <a:pt x="406850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3257695" y="5022306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THE TRUST BRIDGE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09146" y="1006592"/>
            <a:ext cx="16289188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5"/>
              </a:lnSpc>
            </a:pPr>
            <a:r>
              <a:rPr lang="en-US" sz="60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Data as Asset vs. Liability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89189" y="3982622"/>
            <a:ext cx="736681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Data as an Asset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574287" y="3982622"/>
            <a:ext cx="736681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Data as a Liability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00983" y="4953019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Provides insight and competitive edge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00983" y="5776627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Drives better decisions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00983" y="6600225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Generates revenue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00983" y="7423833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Managed, clean, trusted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986091" y="4953019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Unmanaged, leaked, or incorrect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986091" y="5776627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Exposes the company to lawsuits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986091" y="6600225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Destroys customer trust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986091" y="7423833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Treat data like money: strict accounting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03 / 30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49069" y="2745343"/>
            <a:ext cx="8098765" cy="6588824"/>
            <a:chOff x="0" y="0"/>
            <a:chExt cx="10798353" cy="87850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798302" cy="8785098"/>
            </a:xfrm>
            <a:custGeom>
              <a:avLst/>
              <a:gdLst/>
              <a:ahLst/>
              <a:cxnLst/>
              <a:rect r="r" b="b" t="t" l="l"/>
              <a:pathLst>
                <a:path h="8785098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334176" y="2745343"/>
            <a:ext cx="8098765" cy="6588824"/>
            <a:chOff x="0" y="0"/>
            <a:chExt cx="10798353" cy="87850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98302" cy="8785098"/>
            </a:xfrm>
            <a:custGeom>
              <a:avLst/>
              <a:gdLst/>
              <a:ahLst/>
              <a:cxnLst/>
              <a:rect r="r" b="b" t="t" l="l"/>
              <a:pathLst>
                <a:path h="8785098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991000" y="2745343"/>
            <a:ext cx="38129" cy="6588824"/>
            <a:chOff x="0" y="0"/>
            <a:chExt cx="50838" cy="878509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0800" cy="8785098"/>
            </a:xfrm>
            <a:custGeom>
              <a:avLst/>
              <a:gdLst/>
              <a:ahLst/>
              <a:cxnLst/>
              <a:rect r="r" b="b" t="t" l="l"/>
              <a:pathLst>
                <a:path h="8785098" w="50800">
                  <a:moveTo>
                    <a:pt x="0" y="0"/>
                  </a:moveTo>
                  <a:lnTo>
                    <a:pt x="50800" y="0"/>
                  </a:lnTo>
                  <a:lnTo>
                    <a:pt x="50800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33334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03637" y="5085750"/>
            <a:ext cx="164725" cy="164725"/>
            <a:chOff x="0" y="0"/>
            <a:chExt cx="219634" cy="21963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03637" y="5909348"/>
            <a:ext cx="164725" cy="164725"/>
            <a:chOff x="0" y="0"/>
            <a:chExt cx="219634" cy="21963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03637" y="6732956"/>
            <a:ext cx="164725" cy="164725"/>
            <a:chOff x="0" y="0"/>
            <a:chExt cx="219634" cy="21963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03637" y="7556564"/>
            <a:ext cx="164725" cy="164725"/>
            <a:chOff x="0" y="0"/>
            <a:chExt cx="219634" cy="21963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688744" y="5085750"/>
            <a:ext cx="164725" cy="164725"/>
            <a:chOff x="0" y="0"/>
            <a:chExt cx="219634" cy="21963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688744" y="5909348"/>
            <a:ext cx="164725" cy="164725"/>
            <a:chOff x="0" y="0"/>
            <a:chExt cx="219634" cy="21963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688744" y="6732956"/>
            <a:ext cx="164725" cy="164725"/>
            <a:chOff x="0" y="0"/>
            <a:chExt cx="219634" cy="21963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688744" y="7556564"/>
            <a:ext cx="164725" cy="164725"/>
            <a:chOff x="0" y="0"/>
            <a:chExt cx="219634" cy="21963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Freeform 28" id="28"/>
          <p:cNvSpPr/>
          <p:nvPr/>
        </p:nvSpPr>
        <p:spPr>
          <a:xfrm flipH="false" flipV="false" rot="0">
            <a:off x="3979489" y="5085750"/>
            <a:ext cx="4354286" cy="4114800"/>
          </a:xfrm>
          <a:custGeom>
            <a:avLst/>
            <a:gdLst/>
            <a:ahLst/>
            <a:cxnLst/>
            <a:rect r="r" b="b" t="t" l="l"/>
            <a:pathLst>
              <a:path h="4114800" w="4354286">
                <a:moveTo>
                  <a:pt x="0" y="0"/>
                </a:moveTo>
                <a:lnTo>
                  <a:pt x="4354286" y="0"/>
                </a:lnTo>
                <a:lnTo>
                  <a:pt x="435428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1617994" y="5080977"/>
            <a:ext cx="5459104" cy="4114800"/>
          </a:xfrm>
          <a:custGeom>
            <a:avLst/>
            <a:gdLst/>
            <a:ahLst/>
            <a:cxnLst/>
            <a:rect r="r" b="b" t="t" l="l"/>
            <a:pathLst>
              <a:path h="4114800" w="5459104">
                <a:moveTo>
                  <a:pt x="0" y="0"/>
                </a:moveTo>
                <a:lnTo>
                  <a:pt x="5459104" y="0"/>
                </a:lnTo>
                <a:lnTo>
                  <a:pt x="54591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DATA SOURCES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09146" y="1006592"/>
            <a:ext cx="16289188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5"/>
              </a:lnSpc>
            </a:pPr>
            <a:r>
              <a:rPr lang="en-US" sz="60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Internal vs. External Data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26449" y="3982622"/>
            <a:ext cx="736681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Internal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711547" y="3982622"/>
            <a:ext cx="736681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External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38243" y="4953019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Sales, payroll, CRM records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38243" y="5776627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Controlled entirely by you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38243" y="6600225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High trust, direct access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38243" y="7423833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Your primary source of truth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123351" y="4953019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Weather, stock market, competitor pricing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123351" y="5776627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Connected via APIs or web scraping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123351" y="6600225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Provides context for internal trends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123351" y="7423833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e.g. FRED economic data + your sales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04 / 30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77773" y="320259"/>
            <a:ext cx="1628918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 GOVERNANCE PRINCIPLE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440" y="2114255"/>
            <a:ext cx="18114845" cy="296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8"/>
              </a:lnSpc>
            </a:pPr>
            <a:r>
              <a:rPr lang="en-US" sz="19515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SSOT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54382" y="5314655"/>
            <a:ext cx="15804918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3"/>
              </a:lnSpc>
            </a:pPr>
            <a:r>
              <a:rPr lang="en-US" sz="420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Single Source of Truth, one number, one file, no contradictions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72090" y="6190955"/>
            <a:ext cx="1536950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2"/>
              </a:lnSpc>
            </a:pPr>
            <a:r>
              <a:rPr lang="en-US" sz="2702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Sales says 100 units sold. Finance says 90 paid for. A governance framework ends this conflict.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05 / 30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64725" cy="10295039"/>
            <a:chOff x="0" y="0"/>
            <a:chExt cx="219634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583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95039" y="-2059010"/>
            <a:ext cx="9608706" cy="9608706"/>
            <a:chOff x="0" y="0"/>
            <a:chExt cx="12811608" cy="12811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811506" cy="12811506"/>
            </a:xfrm>
            <a:custGeom>
              <a:avLst/>
              <a:gdLst/>
              <a:ahLst/>
              <a:cxnLst/>
              <a:rect r="r" b="b" t="t" l="l"/>
              <a:pathLst>
                <a:path h="12811506" w="12811506">
                  <a:moveTo>
                    <a:pt x="0" y="6405753"/>
                  </a:moveTo>
                  <a:cubicBezTo>
                    <a:pt x="0" y="2867914"/>
                    <a:pt x="2867914" y="0"/>
                    <a:pt x="6405753" y="0"/>
                  </a:cubicBezTo>
                  <a:cubicBezTo>
                    <a:pt x="9943592" y="0"/>
                    <a:pt x="12811506" y="2867914"/>
                    <a:pt x="12811506" y="6405753"/>
                  </a:cubicBezTo>
                  <a:cubicBezTo>
                    <a:pt x="12811506" y="9943592"/>
                    <a:pt x="9943592" y="12811506"/>
                    <a:pt x="6405753" y="12811506"/>
                  </a:cubicBezTo>
                  <a:cubicBezTo>
                    <a:pt x="2867914" y="12811506"/>
                    <a:pt x="0" y="9943592"/>
                    <a:pt x="0" y="6405753"/>
                  </a:cubicBezTo>
                  <a:close/>
                </a:path>
              </a:pathLst>
            </a:custGeom>
            <a:solidFill>
              <a:srgbClr val="182838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1865757" y="687943"/>
            <a:ext cx="6467269" cy="4114800"/>
          </a:xfrm>
          <a:custGeom>
            <a:avLst/>
            <a:gdLst/>
            <a:ahLst/>
            <a:cxnLst/>
            <a:rect r="r" b="b" t="t" l="l"/>
            <a:pathLst>
              <a:path h="4114800" w="6467269">
                <a:moveTo>
                  <a:pt x="0" y="0"/>
                </a:moveTo>
                <a:lnTo>
                  <a:pt x="6467270" y="0"/>
                </a:lnTo>
                <a:lnTo>
                  <a:pt x="64672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77773" y="4270743"/>
            <a:ext cx="1628918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SECTION 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77773" y="4575543"/>
            <a:ext cx="14916512" cy="274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8"/>
              </a:lnSpc>
            </a:pPr>
            <a:r>
              <a:rPr lang="en-US" sz="9007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Privacy, Ethics</a:t>
            </a:r>
          </a:p>
          <a:p>
            <a:pPr algn="l">
              <a:lnSpc>
                <a:spcPts val="10808"/>
              </a:lnSpc>
            </a:pPr>
            <a:r>
              <a:rPr lang="en-US" sz="9007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&amp; Law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77773" y="7309218"/>
            <a:ext cx="13543845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Navigating the ethical middle between technology and human rights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06 / 30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PRIVACY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Privacy Conflict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Technology makes it easy to track everything about everyone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76986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Law (GDPR, CCPA) makes tracking without consent illegal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8214" y="4383367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The analyst must navigate the ethical middle between capability and legality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17706" y="5243608"/>
            <a:ext cx="192176" cy="192176"/>
            <a:chOff x="0" y="0"/>
            <a:chExt cx="256235" cy="2562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9764" y="5060175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Just because you CAN collect it does not mean you SHOULD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17706" y="6094666"/>
            <a:ext cx="192176" cy="192176"/>
            <a:chOff x="0" y="0"/>
            <a:chExt cx="256235" cy="2562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79764" y="5911234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question is not 'What data do we have?' but 'What data do we need?'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07 / 30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REGULATION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06592"/>
            <a:ext cx="16289188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5"/>
              </a:lnSpc>
            </a:pPr>
            <a:r>
              <a:rPr lang="en-US" sz="60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GDPR, CCPA, and You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49069" y="2745343"/>
            <a:ext cx="8098765" cy="6588824"/>
            <a:chOff x="0" y="0"/>
            <a:chExt cx="10798353" cy="87850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98302" cy="8785098"/>
            </a:xfrm>
            <a:custGeom>
              <a:avLst/>
              <a:gdLst/>
              <a:ahLst/>
              <a:cxnLst/>
              <a:rect r="r" b="b" t="t" l="l"/>
              <a:pathLst>
                <a:path h="8785098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334176" y="2745343"/>
            <a:ext cx="8098765" cy="6588824"/>
            <a:chOff x="0" y="0"/>
            <a:chExt cx="10798353" cy="878509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98302" cy="8785098"/>
            </a:xfrm>
            <a:custGeom>
              <a:avLst/>
              <a:gdLst/>
              <a:ahLst/>
              <a:cxnLst/>
              <a:rect r="r" b="b" t="t" l="l"/>
              <a:pathLst>
                <a:path h="8785098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991000" y="2745343"/>
            <a:ext cx="38129" cy="6588824"/>
            <a:chOff x="0" y="0"/>
            <a:chExt cx="50838" cy="878509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0800" cy="8785098"/>
            </a:xfrm>
            <a:custGeom>
              <a:avLst/>
              <a:gdLst/>
              <a:ahLst/>
              <a:cxnLst/>
              <a:rect r="r" b="b" t="t" l="l"/>
              <a:pathLst>
                <a:path h="8785098" w="50800">
                  <a:moveTo>
                    <a:pt x="0" y="0"/>
                  </a:moveTo>
                  <a:lnTo>
                    <a:pt x="50800" y="0"/>
                  </a:lnTo>
                  <a:lnTo>
                    <a:pt x="50800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333344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26449" y="4109599"/>
            <a:ext cx="736681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Right to Be Forgotten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11547" y="4109599"/>
            <a:ext cx="736681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Data Portability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03637" y="5212728"/>
            <a:ext cx="164725" cy="164725"/>
            <a:chOff x="0" y="0"/>
            <a:chExt cx="219634" cy="21963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338243" y="5079997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Customer can request full deletion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03637" y="6036326"/>
            <a:ext cx="164725" cy="164725"/>
            <a:chOff x="0" y="0"/>
            <a:chExt cx="219634" cy="21963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338243" y="5903605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You must purge from every file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03637" y="6859934"/>
            <a:ext cx="164725" cy="164725"/>
            <a:chOff x="0" y="0"/>
            <a:chExt cx="219634" cy="21963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338243" y="6727203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Do you know where all your data lives?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03637" y="7683541"/>
            <a:ext cx="164725" cy="164725"/>
            <a:chOff x="0" y="0"/>
            <a:chExt cx="219634" cy="21963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338243" y="7550810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Spreadsheets in email = compliance risk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688744" y="5212728"/>
            <a:ext cx="164725" cy="164725"/>
            <a:chOff x="0" y="0"/>
            <a:chExt cx="219634" cy="21963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0123351" y="5079997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Customer can request their data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688744" y="6036326"/>
            <a:ext cx="164725" cy="164725"/>
            <a:chOff x="0" y="0"/>
            <a:chExt cx="219634" cy="21963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0123351" y="5903605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Must be in a usable format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688744" y="6859934"/>
            <a:ext cx="164725" cy="164725"/>
            <a:chOff x="0" y="0"/>
            <a:chExt cx="219634" cy="21963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0123351" y="6727203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You must be able to find and export it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688744" y="7683541"/>
            <a:ext cx="164725" cy="164725"/>
            <a:chOff x="0" y="0"/>
            <a:chExt cx="219634" cy="21963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0123351" y="7550810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Undocumented data = legal exposure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08 / 30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PII PROTECTION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06592"/>
            <a:ext cx="16289188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5"/>
              </a:lnSpc>
            </a:pPr>
            <a:r>
              <a:rPr lang="en-US" sz="60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Anonymization vs. Pseudonymization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49069" y="2745343"/>
            <a:ext cx="8098765" cy="6588824"/>
            <a:chOff x="0" y="0"/>
            <a:chExt cx="10798353" cy="87850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98302" cy="8785098"/>
            </a:xfrm>
            <a:custGeom>
              <a:avLst/>
              <a:gdLst/>
              <a:ahLst/>
              <a:cxnLst/>
              <a:rect r="r" b="b" t="t" l="l"/>
              <a:pathLst>
                <a:path h="8785098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334176" y="2745343"/>
            <a:ext cx="8098765" cy="6588824"/>
            <a:chOff x="0" y="0"/>
            <a:chExt cx="10798353" cy="878509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98302" cy="8785098"/>
            </a:xfrm>
            <a:custGeom>
              <a:avLst/>
              <a:gdLst/>
              <a:ahLst/>
              <a:cxnLst/>
              <a:rect r="r" b="b" t="t" l="l"/>
              <a:pathLst>
                <a:path h="8785098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991000" y="2745343"/>
            <a:ext cx="38129" cy="6588824"/>
            <a:chOff x="0" y="0"/>
            <a:chExt cx="50838" cy="878509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0800" cy="8785098"/>
            </a:xfrm>
            <a:custGeom>
              <a:avLst/>
              <a:gdLst/>
              <a:ahLst/>
              <a:cxnLst/>
              <a:rect r="r" b="b" t="t" l="l"/>
              <a:pathLst>
                <a:path h="8785098" w="50800">
                  <a:moveTo>
                    <a:pt x="0" y="0"/>
                  </a:moveTo>
                  <a:lnTo>
                    <a:pt x="50800" y="0"/>
                  </a:lnTo>
                  <a:lnTo>
                    <a:pt x="50800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333344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26449" y="3904812"/>
            <a:ext cx="736681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Anonymization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11547" y="3904812"/>
            <a:ext cx="736681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Pseudonymization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03637" y="5007940"/>
            <a:ext cx="164725" cy="164725"/>
            <a:chOff x="0" y="0"/>
            <a:chExt cx="219634" cy="21963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338243" y="4875209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PII is permanently removed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03637" y="5831538"/>
            <a:ext cx="164725" cy="164725"/>
            <a:chOff x="0" y="0"/>
            <a:chExt cx="219634" cy="21963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338243" y="5698817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Cannot be reversed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03637" y="6655146"/>
            <a:ext cx="164725" cy="164725"/>
            <a:chOff x="0" y="0"/>
            <a:chExt cx="219634" cy="21963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338243" y="6522415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No link back to the individual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03637" y="7478754"/>
            <a:ext cx="164725" cy="164725"/>
            <a:chOff x="0" y="0"/>
            <a:chExt cx="219634" cy="21963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338243" y="7346023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Safest for public datasets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688744" y="5007940"/>
            <a:ext cx="164725" cy="164725"/>
            <a:chOff x="0" y="0"/>
            <a:chExt cx="219634" cy="21963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0123351" y="4875209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Names replaced with User IDs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688744" y="5831538"/>
            <a:ext cx="164725" cy="164725"/>
            <a:chOff x="0" y="0"/>
            <a:chExt cx="219634" cy="21963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0123351" y="5698817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Can be reversed with a key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688744" y="6655146"/>
            <a:ext cx="164725" cy="164725"/>
            <a:chOff x="0" y="0"/>
            <a:chExt cx="219634" cy="21963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0123351" y="6522415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Still protects identity in analysis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688744" y="7478754"/>
            <a:ext cx="164725" cy="164725"/>
            <a:chOff x="0" y="0"/>
            <a:chExt cx="219634" cy="21963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0123351" y="7346023"/>
            <a:ext cx="6955012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You don't need a name to see buying patterns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09 / 30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CASE STUDY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Cost of a Data Breach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Equifax (2017): 147 million records exposed, $700M+ in settlements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76986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Marriott (2018): 500 million guest records compromised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17706" y="4804353"/>
            <a:ext cx="192176" cy="192176"/>
            <a:chOff x="0" y="0"/>
            <a:chExt cx="256235" cy="25623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79764" y="4620920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fine is not the real cost the destruction of customer trust is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58214" y="5234426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Customers don't return. Competitors gain. The brand takes years to recover.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17706" y="6094666"/>
            <a:ext cx="192176" cy="192176"/>
            <a:chOff x="0" y="0"/>
            <a:chExt cx="256235" cy="2562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79764" y="5911234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Prevention cost: thousands. Breach cost: billions.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10 / 30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OWNERSHIP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Who Owns the Data?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user owns the rights to their personal data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76986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company is the custodian -- responsible for protecting it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8214" y="4383367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The analyst is the user responsible for handling it ethically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17706" y="5243608"/>
            <a:ext cx="192176" cy="192176"/>
            <a:chOff x="0" y="0"/>
            <a:chExt cx="256235" cy="2562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9764" y="5060175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Ownership defines who can access, share, delete, and monetize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17706" y="6094666"/>
            <a:ext cx="192176" cy="192176"/>
            <a:chOff x="0" y="0"/>
            <a:chExt cx="256235" cy="2562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79764" y="5911234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When in doubt: would the customer be comfortable seeing how we use this?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11 / 30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ETHICS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06592"/>
            <a:ext cx="16289188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5"/>
              </a:lnSpc>
            </a:pPr>
            <a:r>
              <a:rPr lang="en-US" sz="60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Ethics in Action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49069" y="2745343"/>
            <a:ext cx="8098765" cy="6588824"/>
            <a:chOff x="0" y="0"/>
            <a:chExt cx="10798353" cy="87850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98302" cy="8785098"/>
            </a:xfrm>
            <a:custGeom>
              <a:avLst/>
              <a:gdLst/>
              <a:ahLst/>
              <a:cxnLst/>
              <a:rect r="r" b="b" t="t" l="l"/>
              <a:pathLst>
                <a:path h="8785098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334176" y="2745343"/>
            <a:ext cx="8098765" cy="6588824"/>
            <a:chOff x="0" y="0"/>
            <a:chExt cx="10798353" cy="878509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98302" cy="8785098"/>
            </a:xfrm>
            <a:custGeom>
              <a:avLst/>
              <a:gdLst/>
              <a:ahLst/>
              <a:cxnLst/>
              <a:rect r="r" b="b" t="t" l="l"/>
              <a:pathLst>
                <a:path h="8785098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991000" y="2745343"/>
            <a:ext cx="38129" cy="6588824"/>
            <a:chOff x="0" y="0"/>
            <a:chExt cx="50838" cy="878509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0800" cy="8785098"/>
            </a:xfrm>
            <a:custGeom>
              <a:avLst/>
              <a:gdLst/>
              <a:ahLst/>
              <a:cxnLst/>
              <a:rect r="r" b="b" t="t" l="l"/>
              <a:pathLst>
                <a:path h="8785098" w="50800">
                  <a:moveTo>
                    <a:pt x="0" y="0"/>
                  </a:moveTo>
                  <a:lnTo>
                    <a:pt x="50800" y="0"/>
                  </a:lnTo>
                  <a:lnTo>
                    <a:pt x="50800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333344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26449" y="4109599"/>
            <a:ext cx="736681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The Nudge Question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11547" y="4109599"/>
            <a:ext cx="736681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Transparency in Reporting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03637" y="5212728"/>
            <a:ext cx="164725" cy="164725"/>
            <a:chOff x="0" y="0"/>
            <a:chExt cx="219634" cy="21963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338243" y="5079997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Predict when a gambler is about to quit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03637" y="6036326"/>
            <a:ext cx="164725" cy="164725"/>
            <a:chOff x="0" y="0"/>
            <a:chExt cx="219634" cy="21963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338243" y="5903605"/>
            <a:ext cx="6955012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Send a free drink coupon to keep them playing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03637" y="6992664"/>
            <a:ext cx="164725" cy="164725"/>
            <a:chOff x="0" y="0"/>
            <a:chExt cx="219634" cy="21963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338243" y="6859934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Is this Marketing or Exploitation?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03637" y="7816272"/>
            <a:ext cx="164725" cy="164725"/>
            <a:chOff x="0" y="0"/>
            <a:chExt cx="219634" cy="21963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338243" y="7683541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Where is the line?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688744" y="5212728"/>
            <a:ext cx="164725" cy="164725"/>
            <a:chOff x="0" y="0"/>
            <a:chExt cx="219634" cy="21963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0123351" y="5079997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Always cite your data source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688744" y="6036326"/>
            <a:ext cx="164725" cy="164725"/>
            <a:chOff x="0" y="0"/>
            <a:chExt cx="219634" cy="21963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0123351" y="5903605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Twitter poll vs. scientific study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688744" y="6859934"/>
            <a:ext cx="164725" cy="164725"/>
            <a:chOff x="0" y="0"/>
            <a:chExt cx="219634" cy="21963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0123351" y="6727203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Don't let the audience assume authority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688744" y="7683541"/>
            <a:ext cx="164725" cy="164725"/>
            <a:chOff x="0" y="0"/>
            <a:chExt cx="219634" cy="21963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0123351" y="7550810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Credibility is built on honesty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64725" cy="10295039"/>
            <a:chOff x="0" y="0"/>
            <a:chExt cx="219634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583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95039" y="-2059010"/>
            <a:ext cx="9608706" cy="9608706"/>
            <a:chOff x="0" y="0"/>
            <a:chExt cx="12811608" cy="12811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811506" cy="12811506"/>
            </a:xfrm>
            <a:custGeom>
              <a:avLst/>
              <a:gdLst/>
              <a:ahLst/>
              <a:cxnLst/>
              <a:rect r="r" b="b" t="t" l="l"/>
              <a:pathLst>
                <a:path h="12811506" w="12811506">
                  <a:moveTo>
                    <a:pt x="0" y="6405753"/>
                  </a:moveTo>
                  <a:cubicBezTo>
                    <a:pt x="0" y="2867914"/>
                    <a:pt x="2867914" y="0"/>
                    <a:pt x="6405753" y="0"/>
                  </a:cubicBezTo>
                  <a:cubicBezTo>
                    <a:pt x="9943592" y="0"/>
                    <a:pt x="12811506" y="2867914"/>
                    <a:pt x="12811506" y="6405753"/>
                  </a:cubicBezTo>
                  <a:cubicBezTo>
                    <a:pt x="12811506" y="9943592"/>
                    <a:pt x="9943592" y="12811506"/>
                    <a:pt x="6405753" y="12811506"/>
                  </a:cubicBezTo>
                  <a:cubicBezTo>
                    <a:pt x="2867914" y="12811506"/>
                    <a:pt x="0" y="9943592"/>
                    <a:pt x="0" y="6405753"/>
                  </a:cubicBezTo>
                  <a:close/>
                </a:path>
              </a:pathLst>
            </a:custGeom>
            <a:solidFill>
              <a:srgbClr val="182838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2539558" y="-214003"/>
            <a:ext cx="5119669" cy="5918692"/>
          </a:xfrm>
          <a:custGeom>
            <a:avLst/>
            <a:gdLst/>
            <a:ahLst/>
            <a:cxnLst/>
            <a:rect r="r" b="b" t="t" l="l"/>
            <a:pathLst>
              <a:path h="5918692" w="5119669">
                <a:moveTo>
                  <a:pt x="0" y="0"/>
                </a:moveTo>
                <a:lnTo>
                  <a:pt x="5119668" y="0"/>
                </a:lnTo>
                <a:lnTo>
                  <a:pt x="5119668" y="5918692"/>
                </a:lnTo>
                <a:lnTo>
                  <a:pt x="0" y="59186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77773" y="4270743"/>
            <a:ext cx="1628918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SECTION 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77773" y="4575543"/>
            <a:ext cx="14916512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8"/>
              </a:lnSpc>
            </a:pPr>
            <a:r>
              <a:rPr lang="en-US" sz="9007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Power Query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77773" y="5937618"/>
            <a:ext cx="13543845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The professional way to touch data without touching it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13 / 30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E</a:t>
            </a: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TL FRAMEWORK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06592"/>
            <a:ext cx="16289188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5"/>
              </a:lnSpc>
            </a:pPr>
            <a:r>
              <a:rPr lang="en-US" sz="60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Extract  -&gt;  Transform  -&gt;  Load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86333" y="3157147"/>
            <a:ext cx="5284784" cy="5216157"/>
            <a:chOff x="0" y="0"/>
            <a:chExt cx="7046379" cy="69548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46341" cy="6954901"/>
            </a:xfrm>
            <a:custGeom>
              <a:avLst/>
              <a:gdLst/>
              <a:ahLst/>
              <a:cxnLst/>
              <a:rect r="r" b="b" t="t" l="l"/>
              <a:pathLst>
                <a:path h="6954901" w="7046341">
                  <a:moveTo>
                    <a:pt x="0" y="0"/>
                  </a:moveTo>
                  <a:lnTo>
                    <a:pt x="7046341" y="0"/>
                  </a:lnTo>
                  <a:lnTo>
                    <a:pt x="7046341" y="6954901"/>
                  </a:lnTo>
                  <a:lnTo>
                    <a:pt x="0" y="6954901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841436" y="3986517"/>
            <a:ext cx="1043235" cy="1043235"/>
            <a:chOff x="0" y="0"/>
            <a:chExt cx="1390980" cy="13909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90904" cy="1390904"/>
            </a:xfrm>
            <a:custGeom>
              <a:avLst/>
              <a:gdLst/>
              <a:ahLst/>
              <a:cxnLst/>
              <a:rect r="r" b="b" t="t" l="l"/>
              <a:pathLst>
                <a:path h="1390904" w="1390904">
                  <a:moveTo>
                    <a:pt x="0" y="695452"/>
                  </a:moveTo>
                  <a:cubicBezTo>
                    <a:pt x="0" y="311404"/>
                    <a:pt x="311404" y="0"/>
                    <a:pt x="695452" y="0"/>
                  </a:cubicBezTo>
                  <a:cubicBezTo>
                    <a:pt x="1079500" y="0"/>
                    <a:pt x="1390904" y="311404"/>
                    <a:pt x="1390904" y="695452"/>
                  </a:cubicBezTo>
                  <a:cubicBezTo>
                    <a:pt x="1390904" y="1079500"/>
                    <a:pt x="1079500" y="1390904"/>
                    <a:pt x="695452" y="1390904"/>
                  </a:cubicBezTo>
                  <a:cubicBezTo>
                    <a:pt x="311404" y="1390904"/>
                    <a:pt x="0" y="1079627"/>
                    <a:pt x="0" y="695452"/>
                  </a:cubicBez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2932876" y="4212860"/>
            <a:ext cx="860355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3903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12097" y="5326751"/>
            <a:ext cx="5101904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3"/>
              </a:lnSpc>
            </a:pPr>
            <a:r>
              <a:rPr lang="en-US" sz="3602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Extract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80720" y="6365786"/>
            <a:ext cx="4896012" cy="1447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Pull data from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source.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CSV, folder,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webpage, database.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894353" y="5816717"/>
            <a:ext cx="35945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3"/>
              </a:lnSpc>
            </a:pPr>
            <a:r>
              <a:rPr lang="en-US" sz="4203" b="true">
                <a:solidFill>
                  <a:srgbClr val="667788"/>
                </a:solidFill>
                <a:latin typeface="Inter Bold"/>
                <a:ea typeface="Inter Bold"/>
                <a:cs typeface="Inter Bold"/>
                <a:sym typeface="Inter Bold"/>
              </a:rPr>
              <a:t>&gt;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177029" y="3157147"/>
            <a:ext cx="5284784" cy="5216157"/>
            <a:chOff x="0" y="0"/>
            <a:chExt cx="7046379" cy="695487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046341" cy="6954901"/>
            </a:xfrm>
            <a:custGeom>
              <a:avLst/>
              <a:gdLst/>
              <a:ahLst/>
              <a:cxnLst/>
              <a:rect r="r" b="b" t="t" l="l"/>
              <a:pathLst>
                <a:path h="6954901" w="7046341">
                  <a:moveTo>
                    <a:pt x="0" y="0"/>
                  </a:moveTo>
                  <a:lnTo>
                    <a:pt x="7046341" y="0"/>
                  </a:lnTo>
                  <a:lnTo>
                    <a:pt x="7046341" y="6954901"/>
                  </a:lnTo>
                  <a:lnTo>
                    <a:pt x="0" y="6954901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332132" y="3986517"/>
            <a:ext cx="1043235" cy="1043235"/>
            <a:chOff x="0" y="0"/>
            <a:chExt cx="1390980" cy="13909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90904" cy="1390904"/>
            </a:xfrm>
            <a:custGeom>
              <a:avLst/>
              <a:gdLst/>
              <a:ahLst/>
              <a:cxnLst/>
              <a:rect r="r" b="b" t="t" l="l"/>
              <a:pathLst>
                <a:path h="1390904" w="1390904">
                  <a:moveTo>
                    <a:pt x="0" y="695452"/>
                  </a:moveTo>
                  <a:cubicBezTo>
                    <a:pt x="0" y="311404"/>
                    <a:pt x="311404" y="0"/>
                    <a:pt x="695452" y="0"/>
                  </a:cubicBezTo>
                  <a:cubicBezTo>
                    <a:pt x="1079500" y="0"/>
                    <a:pt x="1390904" y="311404"/>
                    <a:pt x="1390904" y="695452"/>
                  </a:cubicBezTo>
                  <a:cubicBezTo>
                    <a:pt x="1390904" y="1079500"/>
                    <a:pt x="1079500" y="1390904"/>
                    <a:pt x="695452" y="1390904"/>
                  </a:cubicBezTo>
                  <a:cubicBezTo>
                    <a:pt x="311404" y="1390904"/>
                    <a:pt x="0" y="1079627"/>
                    <a:pt x="0" y="695452"/>
                  </a:cubicBez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423572" y="4212860"/>
            <a:ext cx="860355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3903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302793" y="5326751"/>
            <a:ext cx="5101904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3"/>
              </a:lnSpc>
            </a:pPr>
            <a:r>
              <a:rPr lang="en-US" sz="3602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Transform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405743" y="6365786"/>
            <a:ext cx="4896012" cy="1447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Clean, filter,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reshape, merge.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Power Query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does the work.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383694" y="5810945"/>
            <a:ext cx="35945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3"/>
              </a:lnSpc>
            </a:pPr>
            <a:r>
              <a:rPr lang="en-US" sz="4203" b="true">
                <a:solidFill>
                  <a:srgbClr val="667788"/>
                </a:solidFill>
                <a:latin typeface="Inter Bold"/>
                <a:ea typeface="Inter Bold"/>
                <a:cs typeface="Inter Bold"/>
                <a:sym typeface="Inter Bold"/>
              </a:rPr>
              <a:t>&gt;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1667715" y="3157147"/>
            <a:ext cx="5284784" cy="5216157"/>
            <a:chOff x="0" y="0"/>
            <a:chExt cx="7046379" cy="695487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046341" cy="6954901"/>
            </a:xfrm>
            <a:custGeom>
              <a:avLst/>
              <a:gdLst/>
              <a:ahLst/>
              <a:cxnLst/>
              <a:rect r="r" b="b" t="t" l="l"/>
              <a:pathLst>
                <a:path h="6954901" w="7046341">
                  <a:moveTo>
                    <a:pt x="0" y="0"/>
                  </a:moveTo>
                  <a:lnTo>
                    <a:pt x="7046341" y="0"/>
                  </a:lnTo>
                  <a:lnTo>
                    <a:pt x="7046341" y="6954901"/>
                  </a:lnTo>
                  <a:lnTo>
                    <a:pt x="0" y="6954901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3822818" y="3986517"/>
            <a:ext cx="1043235" cy="1043235"/>
            <a:chOff x="0" y="0"/>
            <a:chExt cx="1390980" cy="13909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90904" cy="1390904"/>
            </a:xfrm>
            <a:custGeom>
              <a:avLst/>
              <a:gdLst/>
              <a:ahLst/>
              <a:cxnLst/>
              <a:rect r="r" b="b" t="t" l="l"/>
              <a:pathLst>
                <a:path h="1390904" w="1390904">
                  <a:moveTo>
                    <a:pt x="0" y="695452"/>
                  </a:moveTo>
                  <a:cubicBezTo>
                    <a:pt x="0" y="311404"/>
                    <a:pt x="311404" y="0"/>
                    <a:pt x="695452" y="0"/>
                  </a:cubicBezTo>
                  <a:cubicBezTo>
                    <a:pt x="1079500" y="0"/>
                    <a:pt x="1390904" y="311404"/>
                    <a:pt x="1390904" y="695452"/>
                  </a:cubicBezTo>
                  <a:cubicBezTo>
                    <a:pt x="1390904" y="1079500"/>
                    <a:pt x="1079500" y="1390904"/>
                    <a:pt x="695452" y="1390904"/>
                  </a:cubicBezTo>
                  <a:cubicBezTo>
                    <a:pt x="311404" y="1390904"/>
                    <a:pt x="0" y="1079627"/>
                    <a:pt x="0" y="695452"/>
                  </a:cubicBezTo>
                  <a:close/>
                </a:path>
              </a:pathLst>
            </a:custGeom>
            <a:solidFill>
              <a:srgbClr val="88DDFF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3914258" y="4212860"/>
            <a:ext cx="860355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3903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3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793479" y="5326751"/>
            <a:ext cx="5101904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3"/>
              </a:lnSpc>
            </a:pPr>
            <a:r>
              <a:rPr lang="en-US" sz="3602" b="true">
                <a:solidFill>
                  <a:srgbClr val="88DDFF"/>
                </a:solidFill>
                <a:latin typeface="Inter Bold"/>
                <a:ea typeface="Inter Bold"/>
                <a:cs typeface="Inter Bold"/>
                <a:sym typeface="Inter Bold"/>
              </a:rPr>
              <a:t>Load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896425" y="6365786"/>
            <a:ext cx="4896012" cy="1447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Push clean data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into your report.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Refresh = done.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No copy-paste.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POWER QUERY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Death of Copy-Paste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Copy-paste is the #1 cause of manual errors in professional Excel work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76986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Power Query creates a Recipe a recorded set of transformation steps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8214" y="4383367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When the data changes, click Refresh. The system re-runs the recipe automatically.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17706" y="5243608"/>
            <a:ext cx="192176" cy="192176"/>
            <a:chOff x="0" y="0"/>
            <a:chExt cx="256235" cy="2562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9764" y="5060175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human never touches the cells. The system does.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17706" y="6094666"/>
            <a:ext cx="192176" cy="192176"/>
            <a:chOff x="0" y="0"/>
            <a:chExt cx="256235" cy="2562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79764" y="5911234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One refresh updates every table, chart, and KPI in your report instantly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CONNECTING SOURCES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'Get Data' Menu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Connect to: CSV files, Excel folders, SharePoint, webpages, databases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769862"/>
            <a:ext cx="16014659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Folder connection: drop a new 'October.csv' in the folder Excel adds it automatically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79764" y="4979537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No manual work. No missed files. No version confusion.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17706" y="5867819"/>
            <a:ext cx="192176" cy="192176"/>
            <a:chOff x="0" y="0"/>
            <a:chExt cx="256235" cy="2562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9764" y="5684387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Web connection: live data from a public URL updates on every refresh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17706" y="6718878"/>
            <a:ext cx="192176" cy="192176"/>
            <a:chOff x="0" y="0"/>
            <a:chExt cx="256235" cy="2562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79764" y="6535445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Data &gt; Get Data &gt; From File / From Web / From Database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16 / 30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POWER QUERY EDITOR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Power Query Editor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Think of it as the Kitchen you prep here before serving in the spreadsheet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76986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Left panel: list of all your connected queries (data sources)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17706" y="4804353"/>
            <a:ext cx="192176" cy="192176"/>
            <a:chOff x="0" y="0"/>
            <a:chExt cx="256235" cy="25623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79764" y="4620920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Center: live preview of the data at the current transformation step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17706" y="5655412"/>
            <a:ext cx="192176" cy="192176"/>
            <a:chOff x="0" y="0"/>
            <a:chExt cx="256235" cy="25623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079764" y="5471979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Right panel: Applied Steps your full recorded transformation history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APPLIED STEPS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Applied Steps: Undo on Steroids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Every action is recorded: Remove Column, Filter Rows, Change Type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76986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Delete any step from 10 minutes ago without losing your current work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85665" y="4491218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This is safe data work no irreversible changes to the original source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17706" y="5243608"/>
            <a:ext cx="192176" cy="192176"/>
            <a:chOff x="0" y="0"/>
            <a:chExt cx="256235" cy="2562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9764" y="5060175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Rename steps to document your logic for future analysts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17706" y="6094666"/>
            <a:ext cx="192176" cy="192176"/>
            <a:chOff x="0" y="0"/>
            <a:chExt cx="256235" cy="2562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79764" y="5911234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If something breaks, you can see exactly which step caused it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18 / 30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DATA TYPES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Promoting Headers &amp; Fixing Data Types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'Use First Row as Headers' one click to fix misread column names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76986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If '10.50' is imported as Text, you cannot do math with it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85665" y="4491218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Power Query detects and fixes data types at the source before errors reach your sheet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17706" y="5243608"/>
            <a:ext cx="192176" cy="192176"/>
            <a:chOff x="0" y="0"/>
            <a:chExt cx="256235" cy="2562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9764" y="5060175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Date columns stored as text = pivot tables that can't sort by month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17706" y="6094666"/>
            <a:ext cx="192176" cy="192176"/>
            <a:chOff x="0" y="0"/>
            <a:chExt cx="256235" cy="2562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79764" y="5911234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Fix types once in Power Query never fix them manually again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PERFORMANCE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Filtering at the Source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Your database has 1 million rows. You need only 'Region: Dubai.'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76986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Filter inside Power Query only the needed rows load into Excel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85665" y="4491218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Smaller file, faster refresh, less memory, less risk of hitting row limits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17706" y="5243608"/>
            <a:ext cx="192176" cy="192176"/>
            <a:chOff x="0" y="0"/>
            <a:chExt cx="256235" cy="2562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9764" y="5060175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Never load all rows into Excel just to filter them on a sheet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17706" y="6094666"/>
            <a:ext cx="192176" cy="192176"/>
            <a:chOff x="0" y="0"/>
            <a:chExt cx="256235" cy="2562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79764" y="5911234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Filter early = fast. Filter late = slow and fragile.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COMBINING DATA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06592"/>
            <a:ext cx="16289188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5"/>
              </a:lnSpc>
            </a:pPr>
            <a:r>
              <a:rPr lang="en-US" sz="60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Merging vs. Appending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49069" y="2745343"/>
            <a:ext cx="8098765" cy="6588824"/>
            <a:chOff x="0" y="0"/>
            <a:chExt cx="10798353" cy="87850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98302" cy="8785098"/>
            </a:xfrm>
            <a:custGeom>
              <a:avLst/>
              <a:gdLst/>
              <a:ahLst/>
              <a:cxnLst/>
              <a:rect r="r" b="b" t="t" l="l"/>
              <a:pathLst>
                <a:path h="8785098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334176" y="2745343"/>
            <a:ext cx="8098765" cy="6588824"/>
            <a:chOff x="0" y="0"/>
            <a:chExt cx="10798353" cy="878509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98302" cy="8785098"/>
            </a:xfrm>
            <a:custGeom>
              <a:avLst/>
              <a:gdLst/>
              <a:ahLst/>
              <a:cxnLst/>
              <a:rect r="r" b="b" t="t" l="l"/>
              <a:pathLst>
                <a:path h="8785098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991000" y="2745343"/>
            <a:ext cx="38129" cy="6588824"/>
            <a:chOff x="0" y="0"/>
            <a:chExt cx="50838" cy="878509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0800" cy="8785098"/>
            </a:xfrm>
            <a:custGeom>
              <a:avLst/>
              <a:gdLst/>
              <a:ahLst/>
              <a:cxnLst/>
              <a:rect r="r" b="b" t="t" l="l"/>
              <a:pathLst>
                <a:path h="8785098" w="50800">
                  <a:moveTo>
                    <a:pt x="0" y="0"/>
                  </a:moveTo>
                  <a:lnTo>
                    <a:pt x="50800" y="0"/>
                  </a:lnTo>
                  <a:lnTo>
                    <a:pt x="50800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333344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26449" y="4109599"/>
            <a:ext cx="736681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Append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11547" y="4109599"/>
            <a:ext cx="736681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Merge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03637" y="5212728"/>
            <a:ext cx="164725" cy="164725"/>
            <a:chOff x="0" y="0"/>
            <a:chExt cx="219634" cy="21963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338243" y="5079997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Stack rows on top of each other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03637" y="6036326"/>
            <a:ext cx="164725" cy="164725"/>
            <a:chOff x="0" y="0"/>
            <a:chExt cx="219634" cy="21963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338243" y="5903605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Jan + Feb + Mar = Q1 table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03637" y="6859934"/>
            <a:ext cx="164725" cy="164725"/>
            <a:chOff x="0" y="0"/>
            <a:chExt cx="219634" cy="21963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338243" y="6727203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Same columns, more rows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03637" y="7683541"/>
            <a:ext cx="164725" cy="164725"/>
            <a:chOff x="0" y="0"/>
            <a:chExt cx="219634" cy="21963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338243" y="7550810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Use for combining same-structure files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688744" y="5212728"/>
            <a:ext cx="164725" cy="164725"/>
            <a:chOff x="0" y="0"/>
            <a:chExt cx="219634" cy="21963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0123351" y="5079997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Join tables by a shared key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688744" y="6036326"/>
            <a:ext cx="164725" cy="164725"/>
            <a:chOff x="0" y="0"/>
            <a:chExt cx="219634" cy="21963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0123351" y="5903605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Sales Table + Customer Info Table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688744" y="6859934"/>
            <a:ext cx="164725" cy="164725"/>
            <a:chOff x="0" y="0"/>
            <a:chExt cx="219634" cy="21963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0123351" y="6727203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Same rows, more columns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688744" y="7683541"/>
            <a:ext cx="164725" cy="164725"/>
            <a:chOff x="0" y="0"/>
            <a:chExt cx="219634" cy="21963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0123351" y="7550810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Use for enriching data with context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DOCUMENTATION &amp; LIVE DATA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06592"/>
            <a:ext cx="16289188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5"/>
              </a:lnSpc>
            </a:pPr>
            <a:r>
              <a:rPr lang="en-US" sz="60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Document the Lineage. Connect Live.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49069" y="2745343"/>
            <a:ext cx="8098765" cy="6588824"/>
            <a:chOff x="0" y="0"/>
            <a:chExt cx="10798353" cy="87850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98302" cy="8785098"/>
            </a:xfrm>
            <a:custGeom>
              <a:avLst/>
              <a:gdLst/>
              <a:ahLst/>
              <a:cxnLst/>
              <a:rect r="r" b="b" t="t" l="l"/>
              <a:pathLst>
                <a:path h="8785098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334176" y="2745343"/>
            <a:ext cx="8098765" cy="6588824"/>
            <a:chOff x="0" y="0"/>
            <a:chExt cx="10798353" cy="878509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98302" cy="8785098"/>
            </a:xfrm>
            <a:custGeom>
              <a:avLst/>
              <a:gdLst/>
              <a:ahLst/>
              <a:cxnLst/>
              <a:rect r="r" b="b" t="t" l="l"/>
              <a:pathLst>
                <a:path h="8785098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991000" y="2745343"/>
            <a:ext cx="38129" cy="6588824"/>
            <a:chOff x="0" y="0"/>
            <a:chExt cx="50838" cy="878509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0800" cy="8785098"/>
            </a:xfrm>
            <a:custGeom>
              <a:avLst/>
              <a:gdLst/>
              <a:ahLst/>
              <a:cxnLst/>
              <a:rect r="r" b="b" t="t" l="l"/>
              <a:pathLst>
                <a:path h="8785098" w="50800">
                  <a:moveTo>
                    <a:pt x="0" y="0"/>
                  </a:moveTo>
                  <a:lnTo>
                    <a:pt x="50800" y="0"/>
                  </a:lnTo>
                  <a:lnTo>
                    <a:pt x="50800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333344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26449" y="4109599"/>
            <a:ext cx="736681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Source Log (Always Keep)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11547" y="4109599"/>
            <a:ext cx="736681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Live Data Connections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03637" y="5212728"/>
            <a:ext cx="164725" cy="164725"/>
            <a:chOff x="0" y="0"/>
            <a:chExt cx="219634" cy="21963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338243" y="5079997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Date of download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03637" y="6036326"/>
            <a:ext cx="164725" cy="164725"/>
            <a:chOff x="0" y="0"/>
            <a:chExt cx="219634" cy="21963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338243" y="5903605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URL or file path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03637" y="6859934"/>
            <a:ext cx="164725" cy="164725"/>
            <a:chOff x="0" y="0"/>
            <a:chExt cx="219634" cy="21963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338243" y="6727203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Transformations applied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03637" y="7683541"/>
            <a:ext cx="164725" cy="164725"/>
            <a:chOff x="0" y="0"/>
            <a:chExt cx="219634" cy="21963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338243" y="7550810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Who touched it and when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688744" y="5212728"/>
            <a:ext cx="164725" cy="164725"/>
            <a:chOff x="0" y="0"/>
            <a:chExt cx="219634" cy="21963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0123351" y="5079997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Connect to a live currency exchange site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688744" y="6036326"/>
            <a:ext cx="164725" cy="164725"/>
            <a:chOff x="0" y="0"/>
            <a:chExt cx="219634" cy="21963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0123351" y="5903605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Price in USD updates every refresh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688744" y="6859934"/>
            <a:ext cx="164725" cy="164725"/>
            <a:chOff x="0" y="0"/>
            <a:chExt cx="219634" cy="21963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0123351" y="6727203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No manual updates. No stale numbers.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688744" y="7683541"/>
            <a:ext cx="164725" cy="164725"/>
            <a:chOff x="0" y="0"/>
            <a:chExt cx="219634" cy="21963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0123351" y="7550810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Real-time data = real-time decisions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64725" cy="10295039"/>
            <a:chOff x="0" y="0"/>
            <a:chExt cx="219634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583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95039" y="-2059010"/>
            <a:ext cx="9608706" cy="9608706"/>
            <a:chOff x="0" y="0"/>
            <a:chExt cx="12811608" cy="12811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811506" cy="12811506"/>
            </a:xfrm>
            <a:custGeom>
              <a:avLst/>
              <a:gdLst/>
              <a:ahLst/>
              <a:cxnLst/>
              <a:rect r="r" b="b" t="t" l="l"/>
              <a:pathLst>
                <a:path h="12811506" w="12811506">
                  <a:moveTo>
                    <a:pt x="0" y="6405753"/>
                  </a:moveTo>
                  <a:cubicBezTo>
                    <a:pt x="0" y="2867914"/>
                    <a:pt x="2867914" y="0"/>
                    <a:pt x="6405753" y="0"/>
                  </a:cubicBezTo>
                  <a:cubicBezTo>
                    <a:pt x="9943592" y="0"/>
                    <a:pt x="12811506" y="2867914"/>
                    <a:pt x="12811506" y="6405753"/>
                  </a:cubicBezTo>
                  <a:cubicBezTo>
                    <a:pt x="12811506" y="9943592"/>
                    <a:pt x="9943592" y="12811506"/>
                    <a:pt x="6405753" y="12811506"/>
                  </a:cubicBezTo>
                  <a:cubicBezTo>
                    <a:pt x="2867914" y="12811506"/>
                    <a:pt x="0" y="9943592"/>
                    <a:pt x="0" y="6405753"/>
                  </a:cubicBezTo>
                  <a:close/>
                </a:path>
              </a:pathLst>
            </a:custGeom>
            <a:solidFill>
              <a:srgbClr val="182838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1599644" y="-754405"/>
            <a:ext cx="6999497" cy="6999497"/>
          </a:xfrm>
          <a:custGeom>
            <a:avLst/>
            <a:gdLst/>
            <a:ahLst/>
            <a:cxnLst/>
            <a:rect r="r" b="b" t="t" l="l"/>
            <a:pathLst>
              <a:path h="6999497" w="6999497">
                <a:moveTo>
                  <a:pt x="0" y="0"/>
                </a:moveTo>
                <a:lnTo>
                  <a:pt x="6999496" y="0"/>
                </a:lnTo>
                <a:lnTo>
                  <a:pt x="6999496" y="6999496"/>
                </a:lnTo>
                <a:lnTo>
                  <a:pt x="0" y="69994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77773" y="4350815"/>
            <a:ext cx="1628918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SECTION 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77773" y="4655615"/>
            <a:ext cx="14916512" cy="274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8"/>
              </a:lnSpc>
            </a:pPr>
            <a:r>
              <a:rPr lang="en-US" sz="9007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Security &amp;</a:t>
            </a:r>
          </a:p>
          <a:p>
            <a:pPr algn="l">
              <a:lnSpc>
                <a:spcPts val="10808"/>
              </a:lnSpc>
            </a:pPr>
            <a:r>
              <a:rPr lang="en-US" sz="9007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Professionalism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77773" y="7389290"/>
            <a:ext cx="13543845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Your reputation is built on how you protect what you know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23 / 30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SECURITY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Password Protection &amp; Encryption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If a file contains a salary or a phone number, it must have a password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76986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File &gt; Info &gt; Protect Workbook &gt; Encrypt with Password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8214" y="4383367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A password without encryption is just a lock with the key under the mat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17706" y="5243608"/>
            <a:ext cx="192176" cy="192176"/>
            <a:chOff x="0" y="0"/>
            <a:chExt cx="256235" cy="2562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9764" y="5060175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Share files via secure links, not email attachments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17706" y="6094666"/>
            <a:ext cx="192176" cy="192176"/>
            <a:chOff x="0" y="0"/>
            <a:chExt cx="256235" cy="2562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79764" y="5911234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Revoke access when a project ends or a team member leaves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DATA INTEGRITY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Read-Only Philosophy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Never work directly on the original source file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76986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Always work on a Power Query connection the original stays untouched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8214" y="4383367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If something breaks, the source is intact. You can always re-extract.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17706" y="5243608"/>
            <a:ext cx="192176" cy="192176"/>
            <a:chOff x="0" y="0"/>
            <a:chExt cx="256235" cy="2562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9764" y="5060175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Mark the source file as Read-Only at the OS level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17706" y="6094666"/>
            <a:ext cx="192176" cy="192176"/>
            <a:chOff x="0" y="0"/>
            <a:chExt cx="256235" cy="2562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79764" y="5911234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One accidental delete on an original file has ended careers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FILE MANAGEMENT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Version Control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Stop using: Report_v1, Report_v2, Report_FINAL, Report_FINAL_FINAL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76986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Use date-based naming: 2024-10-15_Sales_Report.xlsx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8214" y="4383367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Date-first naming sorts correctly in any file explorer automatically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17706" y="5243608"/>
            <a:ext cx="192176" cy="192176"/>
            <a:chOff x="0" y="0"/>
            <a:chExt cx="256235" cy="2562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9764" y="5060175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Keep a /archive folder never delete old versions, just move them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17706" y="6094666"/>
            <a:ext cx="192176" cy="192176"/>
            <a:chOff x="0" y="0"/>
            <a:chExt cx="256235" cy="2562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79764" y="5911234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One master file + one archive folder = zero confusion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49069" y="2745343"/>
            <a:ext cx="8098765" cy="6588824"/>
            <a:chOff x="0" y="0"/>
            <a:chExt cx="10798353" cy="87850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798302" cy="8785098"/>
            </a:xfrm>
            <a:custGeom>
              <a:avLst/>
              <a:gdLst/>
              <a:ahLst/>
              <a:cxnLst/>
              <a:rect r="r" b="b" t="t" l="l"/>
              <a:pathLst>
                <a:path h="8785098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334176" y="2745343"/>
            <a:ext cx="8098765" cy="6588824"/>
            <a:chOff x="0" y="0"/>
            <a:chExt cx="10798353" cy="87850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98302" cy="8785098"/>
            </a:xfrm>
            <a:custGeom>
              <a:avLst/>
              <a:gdLst/>
              <a:ahLst/>
              <a:cxnLst/>
              <a:rect r="r" b="b" t="t" l="l"/>
              <a:pathLst>
                <a:path h="8785098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991000" y="2745343"/>
            <a:ext cx="38129" cy="6588824"/>
            <a:chOff x="0" y="0"/>
            <a:chExt cx="50838" cy="878509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0800" cy="8785098"/>
            </a:xfrm>
            <a:custGeom>
              <a:avLst/>
              <a:gdLst/>
              <a:ahLst/>
              <a:cxnLst/>
              <a:rect r="r" b="b" t="t" l="l"/>
              <a:pathLst>
                <a:path h="8785098" w="50800">
                  <a:moveTo>
                    <a:pt x="0" y="0"/>
                  </a:moveTo>
                  <a:lnTo>
                    <a:pt x="50800" y="0"/>
                  </a:lnTo>
                  <a:lnTo>
                    <a:pt x="50800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33334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03637" y="5212728"/>
            <a:ext cx="164725" cy="164725"/>
            <a:chOff x="0" y="0"/>
            <a:chExt cx="219634" cy="21963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03637" y="6036326"/>
            <a:ext cx="164725" cy="164725"/>
            <a:chOff x="0" y="0"/>
            <a:chExt cx="219634" cy="21963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03637" y="6859934"/>
            <a:ext cx="164725" cy="164725"/>
            <a:chOff x="0" y="0"/>
            <a:chExt cx="219634" cy="21963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03637" y="7683541"/>
            <a:ext cx="164725" cy="164725"/>
            <a:chOff x="0" y="0"/>
            <a:chExt cx="219634" cy="21963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688744" y="5212728"/>
            <a:ext cx="164725" cy="164725"/>
            <a:chOff x="0" y="0"/>
            <a:chExt cx="219634" cy="21963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688744" y="6036326"/>
            <a:ext cx="164725" cy="164725"/>
            <a:chOff x="0" y="0"/>
            <a:chExt cx="219634" cy="21963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688744" y="6859934"/>
            <a:ext cx="164725" cy="164725"/>
            <a:chOff x="0" y="0"/>
            <a:chExt cx="219634" cy="21963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688744" y="7683541"/>
            <a:ext cx="164725" cy="164725"/>
            <a:chOff x="0" y="0"/>
            <a:chExt cx="219634" cy="21963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Freeform 28" id="28"/>
          <p:cNvSpPr/>
          <p:nvPr/>
        </p:nvSpPr>
        <p:spPr>
          <a:xfrm flipH="false" flipV="false" rot="0">
            <a:off x="4815750" y="4874590"/>
            <a:ext cx="3317558" cy="4114800"/>
          </a:xfrm>
          <a:custGeom>
            <a:avLst/>
            <a:gdLst/>
            <a:ahLst/>
            <a:cxnLst/>
            <a:rect r="r" b="b" t="t" l="l"/>
            <a:pathLst>
              <a:path h="4114800" w="3317558">
                <a:moveTo>
                  <a:pt x="0" y="0"/>
                </a:moveTo>
                <a:lnTo>
                  <a:pt x="3317557" y="0"/>
                </a:lnTo>
                <a:lnTo>
                  <a:pt x="33175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2963563" y="4884896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ROLES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09146" y="1006592"/>
            <a:ext cx="16289188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5"/>
              </a:lnSpc>
            </a:pPr>
            <a:r>
              <a:rPr lang="en-US" sz="60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Data Governance Roles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26449" y="4109599"/>
            <a:ext cx="736681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Data Steward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711547" y="4109599"/>
            <a:ext cx="736681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Data Analyst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38243" y="5079997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Protector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38243" y="5903605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Owns the policies and standards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38243" y="6727203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Controls access and permissions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38243" y="7550810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Accountable for compliance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123351" y="5079997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User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123351" y="5903605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Works within the steward's rules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123351" y="6727203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Requests access, doesn't grant it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123351" y="7550810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Accountable for accurate reporting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 HUMAN TOUCH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Auditing the Query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Computers follow instructions exactly even wrong ones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76986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'Delete all rows with errors' might silently remove your most important data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85665" y="4491218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Check the Error Row count in Power Query after every single refresh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17706" y="5243608"/>
            <a:ext cx="192176" cy="192176"/>
            <a:chOff x="0" y="0"/>
            <a:chExt cx="256235" cy="2562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9764" y="5060175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If a refresh removes more rows than expected stop and investigate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17706" y="6094666"/>
            <a:ext cx="192176" cy="192176"/>
            <a:chOff x="0" y="0"/>
            <a:chExt cx="256235" cy="2562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79764" y="5911234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Automation without oversight is not efficiency. It is a ticking clock.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28 / 30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9069" y="2470814"/>
            <a:ext cx="76257" cy="5216157"/>
            <a:chOff x="0" y="0"/>
            <a:chExt cx="101676" cy="69548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727" cy="6954901"/>
            </a:xfrm>
            <a:custGeom>
              <a:avLst/>
              <a:gdLst/>
              <a:ahLst/>
              <a:cxnLst/>
              <a:rect r="r" b="b" t="t" l="l"/>
              <a:pathLst>
                <a:path h="6954901" w="101727">
                  <a:moveTo>
                    <a:pt x="0" y="0"/>
                  </a:moveTo>
                  <a:lnTo>
                    <a:pt x="101727" y="0"/>
                  </a:lnTo>
                  <a:lnTo>
                    <a:pt x="101727" y="6954901"/>
                  </a:lnTo>
                  <a:lnTo>
                    <a:pt x="0" y="6954901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52312" y="1418396"/>
            <a:ext cx="1143952" cy="274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6"/>
              </a:lnSpc>
            </a:pPr>
            <a:r>
              <a:rPr lang="en-US" sz="18014" b="true">
                <a:solidFill>
                  <a:srgbClr val="222233"/>
                </a:solidFill>
                <a:latin typeface="Inter Bold"/>
                <a:ea typeface="Inter Bold"/>
                <a:cs typeface="Inter Bold"/>
                <a:sym typeface="Inter Bold"/>
              </a:rPr>
              <a:t>“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38646" y="2928328"/>
            <a:ext cx="15191051" cy="217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If you find a data leak, report it immediately.</a:t>
            </a:r>
          </a:p>
          <a:p>
            <a:pPr algn="l">
              <a:lnSpc>
                <a:spcPts val="5764"/>
              </a:lnSpc>
            </a:pPr>
          </a:p>
          <a:p>
            <a:pPr algn="l">
              <a:lnSpc>
                <a:spcPts val="5764"/>
              </a:lnSpc>
            </a:pPr>
            <a:r>
              <a:rPr lang="en-US" sz="480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Integrity is more important than a project deadline.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028700"/>
            <a:ext cx="15191051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Accountability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29 / 30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90686" y="-1372676"/>
            <a:ext cx="12354049" cy="12354049"/>
            <a:chOff x="0" y="0"/>
            <a:chExt cx="16472065" cy="164720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72154" cy="16472154"/>
            </a:xfrm>
            <a:custGeom>
              <a:avLst/>
              <a:gdLst/>
              <a:ahLst/>
              <a:cxnLst/>
              <a:rect r="r" b="b" t="t" l="l"/>
              <a:pathLst>
                <a:path h="16472154" w="16472154">
                  <a:moveTo>
                    <a:pt x="0" y="8236077"/>
                  </a:moveTo>
                  <a:cubicBezTo>
                    <a:pt x="0" y="3687445"/>
                    <a:pt x="3687445" y="0"/>
                    <a:pt x="8236077" y="0"/>
                  </a:cubicBezTo>
                  <a:cubicBezTo>
                    <a:pt x="12784710" y="0"/>
                    <a:pt x="16472154" y="3687445"/>
                    <a:pt x="16472154" y="8236077"/>
                  </a:cubicBezTo>
                  <a:cubicBezTo>
                    <a:pt x="16472154" y="12784710"/>
                    <a:pt x="12784710" y="16472154"/>
                    <a:pt x="8236077" y="16472154"/>
                  </a:cubicBezTo>
                  <a:cubicBezTo>
                    <a:pt x="3687445" y="16472154"/>
                    <a:pt x="0" y="12784709"/>
                    <a:pt x="0" y="8236077"/>
                  </a:cubicBezTo>
                  <a:close/>
                </a:path>
              </a:pathLst>
            </a:custGeom>
            <a:solidFill>
              <a:srgbClr val="0A1622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7277556" y="915670"/>
            <a:ext cx="8780310" cy="7408386"/>
          </a:xfrm>
          <a:custGeom>
            <a:avLst/>
            <a:gdLst/>
            <a:ahLst/>
            <a:cxnLst/>
            <a:rect r="r" b="b" t="t" l="l"/>
            <a:pathLst>
              <a:path h="7408386" w="8780310">
                <a:moveTo>
                  <a:pt x="0" y="0"/>
                </a:moveTo>
                <a:lnTo>
                  <a:pt x="8780310" y="0"/>
                </a:lnTo>
                <a:lnTo>
                  <a:pt x="8780310" y="7408386"/>
                </a:lnTo>
                <a:lnTo>
                  <a:pt x="0" y="74083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0"/>
            <a:ext cx="123539" cy="10295039"/>
            <a:chOff x="0" y="0"/>
            <a:chExt cx="164719" cy="137267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719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164719">
                  <a:moveTo>
                    <a:pt x="0" y="0"/>
                  </a:moveTo>
                  <a:lnTo>
                    <a:pt x="164719" y="0"/>
                  </a:lnTo>
                  <a:lnTo>
                    <a:pt x="164719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571871" y="1820666"/>
            <a:ext cx="12171169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CLOSING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71871" y="2781538"/>
            <a:ext cx="12171169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1"/>
              </a:lnSpc>
            </a:pPr>
            <a:r>
              <a:rPr lang="en-US" sz="12009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Let's Talk.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71871" y="5193240"/>
            <a:ext cx="10798502" cy="127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Data is the new oil</a:t>
            </a:r>
          </a:p>
          <a:p>
            <a:pPr algn="l">
              <a:lnSpc>
                <a:spcPts val="5043"/>
              </a:lnSpc>
            </a:pPr>
            <a:r>
              <a:rPr lang="en-US" sz="4203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but only if it's refined and protected.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480431" y="7000627"/>
            <a:ext cx="6177029" cy="38129"/>
            <a:chOff x="0" y="0"/>
            <a:chExt cx="8236039" cy="5083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236077" cy="50800"/>
            </a:xfrm>
            <a:custGeom>
              <a:avLst/>
              <a:gdLst/>
              <a:ahLst/>
              <a:cxnLst/>
              <a:rect r="r" b="b" t="t" l="l"/>
              <a:pathLst>
                <a:path h="50800" w="8236077">
                  <a:moveTo>
                    <a:pt x="0" y="0"/>
                  </a:moveTo>
                  <a:lnTo>
                    <a:pt x="8236077" y="0"/>
                  </a:lnTo>
                  <a:lnTo>
                    <a:pt x="8236077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571871" y="7320886"/>
            <a:ext cx="12171169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Lab: 'ETL Cleanup'  connect a folder of CSVs using Power Query.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Next week: Pivot Tables &amp; Advanced Aggregation.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30 /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DAHGvNQkhF8</dc:identifier>
  <dcterms:modified xsi:type="dcterms:W3CDTF">2011-08-01T06:04:30Z</dcterms:modified>
  <cp:revision>1</cp:revision>
  <dc:title>BA1 - Week4.pptx</dc:title>
</cp:coreProperties>
</file>