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  <p:embeddedFont>
      <p:font typeface="Inter Italics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119666" y="740760"/>
            <a:ext cx="4695509" cy="4695509"/>
          </a:xfrm>
          <a:custGeom>
            <a:avLst/>
            <a:gdLst/>
            <a:ahLst/>
            <a:cxnLst/>
            <a:rect r="r" b="b" t="t" l="l"/>
            <a:pathLst>
              <a:path h="4695509" w="4695509">
                <a:moveTo>
                  <a:pt x="0" y="0"/>
                </a:moveTo>
                <a:lnTo>
                  <a:pt x="4695509" y="0"/>
                </a:lnTo>
                <a:lnTo>
                  <a:pt x="4695509" y="4695509"/>
                </a:lnTo>
                <a:lnTo>
                  <a:pt x="0" y="4695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1871" y="2928328"/>
            <a:ext cx="15874841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Multivariable World</a:t>
            </a:r>
          </a:p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Multiple Regression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871" y="7422899"/>
            <a:ext cx="3843480" cy="382172"/>
            <a:chOff x="0" y="0"/>
            <a:chExt cx="5124640" cy="5095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4704" cy="509533"/>
            </a:xfrm>
            <a:custGeom>
              <a:avLst/>
              <a:gdLst/>
              <a:ahLst/>
              <a:cxnLst/>
              <a:rect r="r" b="b" t="t" l="l"/>
              <a:pathLst>
                <a:path h="509533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509533"/>
                  </a:lnTo>
                  <a:lnTo>
                    <a:pt x="0" y="509533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1871" y="6222749"/>
            <a:ext cx="1285751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Mastering Complexity</a:t>
            </a:r>
          </a:p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Weaving Multiple Factors into a Unified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9088" y="7456822"/>
            <a:ext cx="9490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1120163" y="7023544"/>
            <a:ext cx="4526782" cy="2160055"/>
          </a:xfrm>
          <a:custGeom>
            <a:avLst/>
            <a:gdLst/>
            <a:ahLst/>
            <a:cxnLst/>
            <a:rect r="r" b="b" t="t" l="l"/>
            <a:pathLst>
              <a:path h="2160055" w="4526782">
                <a:moveTo>
                  <a:pt x="0" y="0"/>
                </a:moveTo>
                <a:lnTo>
                  <a:pt x="4526782" y="0"/>
                </a:lnTo>
                <a:lnTo>
                  <a:pt x="4526782" y="2160056"/>
                </a:lnTo>
                <a:lnTo>
                  <a:pt x="0" y="2160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93824" y="7023544"/>
            <a:ext cx="2580570" cy="2160055"/>
          </a:xfrm>
          <a:custGeom>
            <a:avLst/>
            <a:gdLst/>
            <a:ahLst/>
            <a:cxnLst/>
            <a:rect r="r" b="b" t="t" l="l"/>
            <a:pathLst>
              <a:path h="2160055" w="2580570">
                <a:moveTo>
                  <a:pt x="0" y="0"/>
                </a:moveTo>
                <a:lnTo>
                  <a:pt x="2580570" y="0"/>
                </a:lnTo>
                <a:lnTo>
                  <a:pt x="2580570" y="2160056"/>
                </a:lnTo>
                <a:lnTo>
                  <a:pt x="0" y="2160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MULTI-FACTOR REALITY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7773" y="921763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Beyond the Single Thread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Multiple Regression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f(X)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predictor, one outcome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driven by ad spend alone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Useful but incomplete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f(X1, X2, X3...)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Multiple predictors, one outcome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Sales = Ad Spend + Reps + Season + Price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Models the whole story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9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b="true" sz="3302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Single Regression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MULTI-FACTOR REALITY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Geometry of Multiple Dimensions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Simple regression finds a line through a 2D scatter plot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Multiple regression finds a plane slicing through a 3D cloud of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Add more variables and the plane becomes a hyper-plane, impossible to draw, but still just math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model still asks the same question: what flat surface fits the data best?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Visualization changes. The logic doesn't.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706" y="6533921"/>
            <a:ext cx="192176" cy="192176"/>
            <a:chOff x="0" y="0"/>
            <a:chExt cx="256235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126569" y="3328726"/>
            <a:ext cx="5807130" cy="6986021"/>
          </a:xfrm>
          <a:custGeom>
            <a:avLst/>
            <a:gdLst/>
            <a:ahLst/>
            <a:cxnLst/>
            <a:rect r="r" b="b" t="t" l="l"/>
            <a:pathLst>
              <a:path h="6986021" w="5807130">
                <a:moveTo>
                  <a:pt x="0" y="0"/>
                </a:moveTo>
                <a:lnTo>
                  <a:pt x="5807129" y="0"/>
                </a:lnTo>
                <a:lnTo>
                  <a:pt x="5807129" y="6986020"/>
                </a:lnTo>
                <a:lnTo>
                  <a:pt x="0" y="6986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EQUATION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Multiple Regression Equation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a + b1*X1 + b2*X2 + b3*X3 + ...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'b' coefficient is the specific weight of that one factor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b1 = 5.0 vs b2 = 0.2, X1 is a far more powerful lever than X2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Ceteris Paribus: each coefficient holds all other variables constant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214" y="5673681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We isolate the effect of one factor while the rest of the world stays frozen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9764" y="635048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how we untangle the causes, one thread at a time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OCCAM'S RAZOR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 Parsimony: Less Is More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Adding 50 variables doesn't make a model smarter, it makes it fragile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extra variable adds noise. Complex models break when new data arrives.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model with 3 strong variables beats a model with 20 weak ones every time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goal: find the minimum set of variables that explain the maximum variation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Simple models that survive new data are more valuable than perfect models that don't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608913" y="-745136"/>
            <a:ext cx="6980958" cy="6980958"/>
          </a:xfrm>
          <a:custGeom>
            <a:avLst/>
            <a:gdLst/>
            <a:ahLst/>
            <a:cxnLst/>
            <a:rect r="r" b="b" t="t" l="l"/>
            <a:pathLst>
              <a:path h="6980958" w="6980958">
                <a:moveTo>
                  <a:pt x="0" y="0"/>
                </a:moveTo>
                <a:lnTo>
                  <a:pt x="6980958" y="0"/>
                </a:lnTo>
                <a:lnTo>
                  <a:pt x="6980958" y="6980958"/>
                </a:lnTo>
                <a:lnTo>
                  <a:pt x="0" y="6980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17549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Logic of Refinement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6032868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Choosing the right variables and trusting the right metrics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HE HONEST METRIC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R² vs. Adjusted R²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Standard R²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Adjusted R²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goes up with more variables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 useless variables improve it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Flatters the model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metric that can lie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goes up if the variable helps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Penalizes unnecessary complexity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honest quality score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this for all multi-variable models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THE DUPLICATE DANGER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Multicollinearity: The Duplicate Danger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two independent variables are too highly correlated with each other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Website Traffic and Unique Visitors tell the same story, don't include both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math gets confused: which variable gets the credit when they always move together?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23810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Symptoms: coefficients flip signs, standard errors balloon, results change randomly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97819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Rule: if two X variables correlate &gt; 0.80, drop the weaker one before running the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DIAGNOSTICS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Correlation Matrix: </a:t>
            </a:r>
          </a:p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Map Before You Model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5382" y="3045381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5382" y="3609842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7439" y="342640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running regression, build a correlation map of all your X variables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5382" y="4460900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7439" y="4277468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heat map shows every pairwise correlation at a glance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890" y="4890973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Dark cells = high correlation = potential multicollinearity problem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5382" y="5751214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7439" y="556778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Excel: Data &gt; Data Analysis &gt; Correlation -- select all X columns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5382" y="660227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7439" y="641884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one step prevents the most common mistake in multiple regression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QUALITATIVE VARIABLES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Dummy Variables: Adding Text to Math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Regression requires numbers, but business data is full of categories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dummy variable converts a category into 0 or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Dubai = 1, Abu Dhabi = 0. Now 'Location' is a number the model can use.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Rule: for a category with N groups, create N-1 dummy variables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5673681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last group becomes the 'reference', everything is measured against it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706" y="6533921"/>
            <a:ext cx="192176" cy="192176"/>
            <a:chOff x="0" y="0"/>
            <a:chExt cx="256235" cy="256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9764" y="635048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bridges qualitative insight and quantitative prediction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VARIABLE SELECTION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Variable Selection: The P-Value Audit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After running regression, check the p-value for each individual variable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 &gt; 0.05 = the variable is not contributing real signal, it is noise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Remove the most insignificant variable, re-run the model, repeat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iterative carving process is how a raw block of data becomes a masterpiece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re-check Adjusted R² after each removal, it should hold or improve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MODEL-LEVEL TESTING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F-Test: Does the Team Win?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Individual p-values test each variable. The F-test tests the entire model.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Significance F &lt; 0.05 = the combination of all your variables is better than guessing the average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292" y="497953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variable might look good alone but drag the team down, the F-test reveals this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234" y="5867819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16292" y="5684387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Think of it as the coach evaluating the full lineup, not individual players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4234" y="6718878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16292" y="653544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check Significance F before reporting any multi-variable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Predict Employee Productivity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7773" y="2722436"/>
            <a:ext cx="167009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You have four potential predictors. Which has the lowest p-value?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3912118"/>
            <a:ext cx="5490686" cy="5078892"/>
            <a:chOff x="0" y="0"/>
            <a:chExt cx="7320915" cy="6771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4815" y="4085577"/>
            <a:ext cx="40191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[P-value?]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509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Hours Slept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6411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Fatigue reduces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focus and output.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Biological signal.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45657" y="3912118"/>
            <a:ext cx="5490686" cy="5078892"/>
            <a:chOff x="0" y="0"/>
            <a:chExt cx="7320915" cy="6771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81404" y="4085577"/>
            <a:ext cx="40191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[P-value?]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7097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Coffee Drunk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2999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Correlated with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fatigue. May not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 independently.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42254" y="3912118"/>
            <a:ext cx="5490686" cy="5078892"/>
            <a:chOff x="0" y="0"/>
            <a:chExt cx="7320915" cy="6771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678001" y="4085577"/>
            <a:ext cx="40191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[P-value?]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33695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Office Temp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39587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Comfort matters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but varies widely.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Weak or strong?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270543" y="-536493"/>
            <a:ext cx="6844111" cy="8346476"/>
          </a:xfrm>
          <a:custGeom>
            <a:avLst/>
            <a:gdLst/>
            <a:ahLst/>
            <a:cxnLst/>
            <a:rect r="r" b="b" t="t" l="l"/>
            <a:pathLst>
              <a:path h="8346476" w="6844111">
                <a:moveTo>
                  <a:pt x="0" y="0"/>
                </a:moveTo>
                <a:lnTo>
                  <a:pt x="6844111" y="0"/>
                </a:lnTo>
                <a:lnTo>
                  <a:pt x="6844111" y="8346477"/>
                </a:lnTo>
                <a:lnTo>
                  <a:pt x="0" y="8346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Diagnostics &amp; Overfitting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6328143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Proving the model works on data it has never seen before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MODEL DIAGNOSTICS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81614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Residual Analysis: The Model's Conscience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Plot your errors (residuals) against your predicted values after running regression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Random scatter = good model. Your errors are evenly distributed, no hidden patterns.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5050974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U-shaped or fan-shaped pattern = the model is biased, it is missing something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867819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684387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Clustered errors in one range = the model performs well sometimes and badly other times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996231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81279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trust a model whose residuals you haven't examined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OVERFITTING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Overfitting: Fitting the Noise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model that predicts 2024 data perfectly is suspicious, not impressive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Overfitting: the model memorizes the specific accidents of the training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Result: perfect performance on historical data, catastrophic failure on new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Adding variables without theory or logic is how overfitting starts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test: does it still work on data it has never seen before?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VALIDATION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Validating with New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Training Set (80%)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Test Set (20%)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 the model here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 coefficients and R²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Optimize on this data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model has 'seen' this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touched during training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 predictions on new rows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Compare predicted vs. actual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True measure of model quality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SO WHAT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Interpreting Coefficients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coefficient is a rate of change holding all other variables constant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Coefficient of -500 for Price: for every $1 increase in price, we lose 500 units in sales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94143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Ceteris Paribus, this is true while ad spend, season, and location stay the same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648744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46531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positive coefficient means that variable is an accelerator, push it to grow 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49980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31637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negative coefficient means it is a drag, manage it carefully or reduce 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AUTOMATION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49861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Stepwise Regression: The Automated Way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computer adds or removes variables automatically based on statistical criteria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Forward selection: starts empty, adds the best variable one at a 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Backward elimination: starts full, removes the worst variable one at a time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Warning: the computer has no business logic, it will include absurd predictors if they fit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3698" y="633898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5756" y="615555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Stepwise gives you a starting point, human judgment provides the final decision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 PRO MODE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Reading the ToolPak Regression Output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&gt; Data Analysis &gt; Regression. Multiple X Range: select all predictor columns.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Focus on three numbers: Adjusted R-Square, Significance F, and each variable's P-value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94143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Coefficients column = your equation. Standard Error column = precision of each estimate.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648744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46531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Significance F is the model-level p-value. Must be &lt; 0.05 before trusting anything else.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639344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45591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output table is dense, translate every number into a business sentence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APPLIED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Building the What-If Calculator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Take the coefficients from the output table and build an input dashboard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=Intercept + (b1 * Input_X1) + (b2 * Input_X2) + (b3 * Input_X3)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manager types in their planned spend levels, the cell shows the predicted profit instantly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Change one input and every downstream prediction updates live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how analytics stops being a report and starts being a decision tool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Real Estate Appraiser Model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7773" y="2722436"/>
            <a:ext cx="167009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Predict House Price using three predictors. What do the signs tell you?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3912118"/>
            <a:ext cx="5490686" cy="5078892"/>
            <a:chOff x="0" y="0"/>
            <a:chExt cx="7320915" cy="6771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95556" y="4085577"/>
            <a:ext cx="359771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b = +350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509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Size (sqft)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6411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Positive: each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extra square foot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adds $350 in value.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45657" y="3912118"/>
            <a:ext cx="5490686" cy="5078892"/>
            <a:chOff x="0" y="0"/>
            <a:chExt cx="7320915" cy="6771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63735" y="4085577"/>
            <a:ext cx="385453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b = varies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7097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Age (years)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2999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Newer = cheaper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but very old =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premium. Non-linear?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42254" y="3912118"/>
            <a:ext cx="5490686" cy="5078892"/>
            <a:chOff x="0" y="0"/>
            <a:chExt cx="7320915" cy="6771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34982" y="4085577"/>
            <a:ext cx="4705231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b = +12,000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33695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Location Score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39587" y="6154112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Biggest lever.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Location dwarfs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size and age.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037282" y="-602618"/>
            <a:ext cx="6124219" cy="7435586"/>
          </a:xfrm>
          <a:custGeom>
            <a:avLst/>
            <a:gdLst/>
            <a:ahLst/>
            <a:cxnLst/>
            <a:rect r="r" b="b" t="t" l="l"/>
            <a:pathLst>
              <a:path h="7435586" w="6124219">
                <a:moveTo>
                  <a:pt x="0" y="0"/>
                </a:moveTo>
                <a:lnTo>
                  <a:pt x="6124220" y="0"/>
                </a:lnTo>
                <a:lnTo>
                  <a:pt x="6124220" y="7435586"/>
                </a:lnTo>
                <a:lnTo>
                  <a:pt x="0" y="743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290506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Professional Finish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6328143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Ethics, communication, and the analyst's final responsibility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COMMUNICATION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041463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Communicating Complexity </a:t>
            </a:r>
          </a:p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 Non-Data People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02064" y="2851537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2064" y="3299241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87171" y="3299241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3995" y="3299241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68043" y="3472701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Don't Show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3141" y="3472701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Do Say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5231" y="4575829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79837" y="444309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4200 + 5.0*X1 + 0.2*X2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5231" y="5399427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79837" y="52667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Adjusted R² = 0.83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45231" y="6223035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79837" y="609030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Significance F = 0.0002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5231" y="7046643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79837" y="6913912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the coefficients table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30338" y="4575829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264945" y="4443098"/>
            <a:ext cx="718649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model explains 83% of revenue variation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30338" y="5399427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64945" y="5266706"/>
            <a:ext cx="718649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service speed is 3x more powerful than price discounts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30338" y="6223035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264945" y="6090304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three factors reliably predict next quarter's outcome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30338" y="7046643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264945" y="6913912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Here is the what-if calculator, you drive it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Ethics of Algorithmic Bias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720823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Including 'Zip Code' as a variable can accidentally encode racial or income discrimination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4230648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404721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math doesn't know what the variable represents, the human is responsible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660720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model that perpetuates historical inequality is not a neutral tool, it is a weapon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520961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33752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including any variable, ask: is this a proxy for a protected characteristic?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372020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188588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are responsible for the moral logic of your model, not just the statistical logic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TRANSPARENCY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Black Box Problem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cannot explain why a variable is in the model, take it out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model with unexplainable inputs will eventually produce unexplainable outputs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Stakeholders don't trust what they can't understand, and they shouldn't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Transparency is not a nicety, it is the foundation of trust in data-driven decisions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best model is the one the organization will actually use and scrutinize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4  •  THE FULL JOURNEY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Course 1: The Full Data Professional Lineage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6333" y="3157147"/>
            <a:ext cx="5284784" cy="5216157"/>
            <a:chOff x="0" y="0"/>
            <a:chExt cx="7046379" cy="6954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7118" y="4032666"/>
            <a:ext cx="1043235" cy="1043235"/>
            <a:chOff x="0" y="0"/>
            <a:chExt cx="1390980" cy="1390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98558" y="425900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778" y="5372900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Weeks 1-2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52" y="641193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KPIs and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Visualization.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happened?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035" y="5862866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7029" y="3157147"/>
            <a:ext cx="5284784" cy="5216157"/>
            <a:chOff x="0" y="0"/>
            <a:chExt cx="7046379" cy="6954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97813" y="4032666"/>
            <a:ext cx="1043235" cy="1043235"/>
            <a:chOff x="0" y="0"/>
            <a:chExt cx="1390980" cy="1390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389253" y="425900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68474" y="5372900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Weeks 3-5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739" y="641193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Logic, Governance,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Cleaning.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the data right?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50731" y="5862866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7715" y="3157147"/>
            <a:ext cx="5284784" cy="5216157"/>
            <a:chOff x="0" y="0"/>
            <a:chExt cx="7046379" cy="6954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88500" y="4032666"/>
            <a:ext cx="1043235" cy="1043235"/>
            <a:chOff x="0" y="0"/>
            <a:chExt cx="1390980" cy="13909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79940" y="425900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59160" y="5372900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Weeks 6-8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6425" y="641193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Stats, Regression,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Prediction.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will happen?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 confident in your math.</a:t>
            </a: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 humble about the future.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show the interval, never just the number.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646" y="7595416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Soft Skill: Confidence vs. Humility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We Covered This Week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Multiple regression: isolating the effect of each variable while holding others constant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4270715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408728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Adjusted R² is the honest metric. Multicollinearity is the hidden enemy.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943894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7604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P-value audit: carve the model down to only the variables that earn their place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5382" y="5620169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7439" y="5436737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Hold-out testing, residual analysis, and ethical variable selection complete the professional picture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915670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5193240"/>
            <a:ext cx="107985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world is a very big place.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But it is a place that can be modeled.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431" y="7000627"/>
            <a:ext cx="6177029" cy="38129"/>
            <a:chOff x="0" y="0"/>
            <a:chExt cx="8236039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1871" y="7320886"/>
            <a:ext cx="1404139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Final Project: Use everything from Week 1 to Week 8 to solve a single business problem.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You now have the full toolkit of a data professional.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DAHGvNCrx-s</dc:identifier>
  <dcterms:modified xsi:type="dcterms:W3CDTF">2011-08-01T06:04:30Z</dcterms:modified>
  <cp:revision>1</cp:revision>
  <dc:title>BA1 - Week 8</dc:title>
</cp:coreProperties>
</file>