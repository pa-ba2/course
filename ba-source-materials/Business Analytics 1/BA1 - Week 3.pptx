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Inter Bold" charset="1" panose="02000503000000020004"/>
      <p:regular r:id="rId36"/>
    </p:embeddedFont>
    <p:embeddedFont>
      <p:font typeface="Inter" charset="1" panose="02000503000000020004"/>
      <p:regular r:id="rId37"/>
    </p:embeddedFont>
    <p:embeddedFont>
      <p:font typeface="Inter Italics" charset="1" panose="020005030000000200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67715" y="-2059010"/>
            <a:ext cx="10295039" cy="10295039"/>
            <a:chOff x="0" y="0"/>
            <a:chExt cx="13726719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26668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3726668">
                  <a:moveTo>
                    <a:pt x="0" y="6863334"/>
                  </a:moveTo>
                  <a:cubicBezTo>
                    <a:pt x="0" y="3072892"/>
                    <a:pt x="3072892" y="0"/>
                    <a:pt x="6863334" y="0"/>
                  </a:cubicBezTo>
                  <a:cubicBezTo>
                    <a:pt x="10653775" y="0"/>
                    <a:pt x="13726668" y="3072892"/>
                    <a:pt x="13726668" y="6863334"/>
                  </a:cubicBezTo>
                  <a:cubicBezTo>
                    <a:pt x="13726668" y="10653775"/>
                    <a:pt x="10653775" y="13726668"/>
                    <a:pt x="6863334" y="13726668"/>
                  </a:cubicBezTo>
                  <a:cubicBezTo>
                    <a:pt x="3072892" y="13726668"/>
                    <a:pt x="0" y="10653903"/>
                    <a:pt x="0" y="6863334"/>
                  </a:cubicBezTo>
                  <a:close/>
                </a:path>
              </a:pathLst>
            </a:custGeom>
            <a:solidFill>
              <a:srgbClr val="0A1A2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040392" y="-686333"/>
            <a:ext cx="7549696" cy="7549696"/>
            <a:chOff x="0" y="0"/>
            <a:chExt cx="10066261" cy="100662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66274" cy="10066274"/>
            </a:xfrm>
            <a:custGeom>
              <a:avLst/>
              <a:gdLst/>
              <a:ahLst/>
              <a:cxnLst/>
              <a:rect r="r" b="b" t="t" l="l"/>
              <a:pathLst>
                <a:path h="10066274" w="10066274">
                  <a:moveTo>
                    <a:pt x="0" y="5033137"/>
                  </a:moveTo>
                  <a:cubicBezTo>
                    <a:pt x="0" y="2253361"/>
                    <a:pt x="2253361" y="0"/>
                    <a:pt x="5033137" y="0"/>
                  </a:cubicBezTo>
                  <a:cubicBezTo>
                    <a:pt x="7812913" y="0"/>
                    <a:pt x="10066274" y="2253361"/>
                    <a:pt x="10066274" y="5033137"/>
                  </a:cubicBezTo>
                  <a:cubicBezTo>
                    <a:pt x="10066274" y="7812913"/>
                    <a:pt x="7812913" y="10066274"/>
                    <a:pt x="5033137" y="10066274"/>
                  </a:cubicBezTo>
                  <a:cubicBezTo>
                    <a:pt x="2253361" y="10066274"/>
                    <a:pt x="0" y="7812913"/>
                    <a:pt x="0" y="5033137"/>
                  </a:cubicBezTo>
                  <a:close/>
                </a:path>
              </a:pathLst>
            </a:custGeom>
            <a:solidFill>
              <a:srgbClr val="122232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751406" y="-25929"/>
            <a:ext cx="6127659" cy="6228878"/>
          </a:xfrm>
          <a:custGeom>
            <a:avLst/>
            <a:gdLst/>
            <a:ahLst/>
            <a:cxnLst/>
            <a:rect r="r" b="b" t="t" l="l"/>
            <a:pathLst>
              <a:path h="6228878" w="6127659">
                <a:moveTo>
                  <a:pt x="0" y="0"/>
                </a:moveTo>
                <a:lnTo>
                  <a:pt x="6127658" y="0"/>
                </a:lnTo>
                <a:lnTo>
                  <a:pt x="6127658" y="6228878"/>
                </a:lnTo>
                <a:lnTo>
                  <a:pt x="0" y="6228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0"/>
            <a:ext cx="123539" cy="10295039"/>
            <a:chOff x="0" y="0"/>
            <a:chExt cx="164719" cy="1372671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47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571871" y="2928328"/>
            <a:ext cx="17355683" cy="491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0"/>
              </a:lnSpc>
            </a:pPr>
            <a:r>
              <a:rPr lang="en-US" sz="10808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SYSTEMS THINKING</a:t>
            </a:r>
          </a:p>
          <a:p>
            <a:pPr algn="l">
              <a:lnSpc>
                <a:spcPts val="12970"/>
              </a:lnSpc>
            </a:pPr>
            <a:r>
              <a:rPr lang="en-US" sz="10808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Mapping the Business Mind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71871" y="8928859"/>
            <a:ext cx="3843480" cy="658882"/>
            <a:chOff x="0" y="0"/>
            <a:chExt cx="5124640" cy="878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124704" cy="878459"/>
            </a:xfrm>
            <a:custGeom>
              <a:avLst/>
              <a:gdLst/>
              <a:ahLst/>
              <a:cxnLst/>
              <a:rect r="r" b="b" t="t" l="l"/>
              <a:pathLst>
                <a:path h="878459" w="5124704">
                  <a:moveTo>
                    <a:pt x="0" y="0"/>
                  </a:moveTo>
                  <a:lnTo>
                    <a:pt x="5124704" y="0"/>
                  </a:lnTo>
                  <a:lnTo>
                    <a:pt x="5124704" y="878459"/>
                  </a:lnTo>
                  <a:lnTo>
                    <a:pt x="0" y="878459"/>
                  </a:lnTo>
                  <a:close/>
                </a:path>
              </a:pathLst>
            </a:custGeom>
            <a:solidFill>
              <a:srgbClr val="10203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71871" y="7856458"/>
            <a:ext cx="12857512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3"/>
              </a:lnSpc>
            </a:pPr>
            <a:r>
              <a:rPr lang="en-US" sz="39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Visualizing the Architecture of Decisions and Data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31944" y="9101137"/>
            <a:ext cx="3523336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WEEK 3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01 / 30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571871" y="473296"/>
            <a:ext cx="2615214" cy="2615214"/>
          </a:xfrm>
          <a:custGeom>
            <a:avLst/>
            <a:gdLst/>
            <a:ahLst/>
            <a:cxnLst/>
            <a:rect r="r" b="b" t="t" l="l"/>
            <a:pathLst>
              <a:path h="2615214" w="2615214">
                <a:moveTo>
                  <a:pt x="0" y="0"/>
                </a:moveTo>
                <a:lnTo>
                  <a:pt x="2615214" y="0"/>
                </a:lnTo>
                <a:lnTo>
                  <a:pt x="2615214" y="2615214"/>
                </a:lnTo>
                <a:lnTo>
                  <a:pt x="0" y="2615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5314" y="2934233"/>
            <a:ext cx="3467367" cy="5902490"/>
            <a:chOff x="0" y="0"/>
            <a:chExt cx="4623156" cy="78699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23181" cy="7869936"/>
            </a:xfrm>
            <a:custGeom>
              <a:avLst/>
              <a:gdLst/>
              <a:ahLst/>
              <a:cxnLst/>
              <a:rect r="r" b="b" t="t" l="l"/>
              <a:pathLst>
                <a:path h="7869936" w="4623181">
                  <a:moveTo>
                    <a:pt x="0" y="0"/>
                  </a:moveTo>
                  <a:lnTo>
                    <a:pt x="4623181" y="0"/>
                  </a:lnTo>
                  <a:lnTo>
                    <a:pt x="4623181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789955" y="2934233"/>
            <a:ext cx="3467367" cy="5902490"/>
            <a:chOff x="0" y="0"/>
            <a:chExt cx="4623156" cy="7869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623181" cy="7869936"/>
            </a:xfrm>
            <a:custGeom>
              <a:avLst/>
              <a:gdLst/>
              <a:ahLst/>
              <a:cxnLst/>
              <a:rect r="r" b="b" t="t" l="l"/>
              <a:pathLst>
                <a:path h="7869936" w="4623181">
                  <a:moveTo>
                    <a:pt x="0" y="0"/>
                  </a:moveTo>
                  <a:lnTo>
                    <a:pt x="4623181" y="0"/>
                  </a:lnTo>
                  <a:lnTo>
                    <a:pt x="4623181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394596" y="2934233"/>
            <a:ext cx="3467367" cy="5902490"/>
            <a:chOff x="0" y="0"/>
            <a:chExt cx="4623156" cy="78699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3181" cy="7869936"/>
            </a:xfrm>
            <a:custGeom>
              <a:avLst/>
              <a:gdLst/>
              <a:ahLst/>
              <a:cxnLst/>
              <a:rect r="r" b="b" t="t" l="l"/>
              <a:pathLst>
                <a:path h="7869936" w="4623181">
                  <a:moveTo>
                    <a:pt x="0" y="0"/>
                  </a:moveTo>
                  <a:lnTo>
                    <a:pt x="4623181" y="0"/>
                  </a:lnTo>
                  <a:lnTo>
                    <a:pt x="4623181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99227" y="2934233"/>
            <a:ext cx="3467367" cy="5902490"/>
            <a:chOff x="0" y="0"/>
            <a:chExt cx="4623156" cy="78699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23181" cy="7869936"/>
            </a:xfrm>
            <a:custGeom>
              <a:avLst/>
              <a:gdLst/>
              <a:ahLst/>
              <a:cxnLst/>
              <a:rect r="r" b="b" t="t" l="l"/>
              <a:pathLst>
                <a:path h="7869936" w="4623181">
                  <a:moveTo>
                    <a:pt x="0" y="0"/>
                  </a:moveTo>
                  <a:lnTo>
                    <a:pt x="4623181" y="0"/>
                  </a:lnTo>
                  <a:lnTo>
                    <a:pt x="4623181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603868" y="2934233"/>
            <a:ext cx="3467367" cy="5902490"/>
            <a:chOff x="0" y="0"/>
            <a:chExt cx="4623156" cy="786998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23181" cy="7869936"/>
            </a:xfrm>
            <a:custGeom>
              <a:avLst/>
              <a:gdLst/>
              <a:ahLst/>
              <a:cxnLst/>
              <a:rect r="r" b="b" t="t" l="l"/>
              <a:pathLst>
                <a:path h="7869936" w="4623181">
                  <a:moveTo>
                    <a:pt x="0" y="0"/>
                  </a:moveTo>
                  <a:lnTo>
                    <a:pt x="4623181" y="0"/>
                  </a:lnTo>
                  <a:lnTo>
                    <a:pt x="4623181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578764" y="5885478"/>
            <a:ext cx="2680466" cy="2752725"/>
          </a:xfrm>
          <a:custGeom>
            <a:avLst/>
            <a:gdLst/>
            <a:ahLst/>
            <a:cxnLst/>
            <a:rect r="r" b="b" t="t" l="l"/>
            <a:pathLst>
              <a:path h="2752725" w="2680466">
                <a:moveTo>
                  <a:pt x="0" y="0"/>
                </a:moveTo>
                <a:lnTo>
                  <a:pt x="2680466" y="0"/>
                </a:lnTo>
                <a:lnTo>
                  <a:pt x="2680466" y="2752725"/>
                </a:lnTo>
                <a:lnTo>
                  <a:pt x="0" y="27527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4171367" y="5885478"/>
            <a:ext cx="2704552" cy="2752725"/>
          </a:xfrm>
          <a:custGeom>
            <a:avLst/>
            <a:gdLst/>
            <a:ahLst/>
            <a:cxnLst/>
            <a:rect r="r" b="b" t="t" l="l"/>
            <a:pathLst>
              <a:path h="2752725" w="2704552">
                <a:moveTo>
                  <a:pt x="0" y="0"/>
                </a:moveTo>
                <a:lnTo>
                  <a:pt x="2704552" y="0"/>
                </a:lnTo>
                <a:lnTo>
                  <a:pt x="2704552" y="2752725"/>
                </a:lnTo>
                <a:lnTo>
                  <a:pt x="0" y="27527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607436" y="5885478"/>
            <a:ext cx="3041685" cy="2752725"/>
          </a:xfrm>
          <a:custGeom>
            <a:avLst/>
            <a:gdLst/>
            <a:ahLst/>
            <a:cxnLst/>
            <a:rect r="r" b="b" t="t" l="l"/>
            <a:pathLst>
              <a:path h="2752725" w="3041685">
                <a:moveTo>
                  <a:pt x="0" y="0"/>
                </a:moveTo>
                <a:lnTo>
                  <a:pt x="3041686" y="0"/>
                </a:lnTo>
                <a:lnTo>
                  <a:pt x="3041686" y="2752725"/>
                </a:lnTo>
                <a:lnTo>
                  <a:pt x="0" y="27527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192929" y="5885478"/>
            <a:ext cx="3079972" cy="2752725"/>
          </a:xfrm>
          <a:custGeom>
            <a:avLst/>
            <a:gdLst/>
            <a:ahLst/>
            <a:cxnLst/>
            <a:rect r="r" b="b" t="t" l="l"/>
            <a:pathLst>
              <a:path h="2752725" w="3079972">
                <a:moveTo>
                  <a:pt x="0" y="0"/>
                </a:moveTo>
                <a:lnTo>
                  <a:pt x="3079972" y="0"/>
                </a:lnTo>
                <a:lnTo>
                  <a:pt x="3079972" y="2752725"/>
                </a:lnTo>
                <a:lnTo>
                  <a:pt x="0" y="27527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798254" y="6434773"/>
            <a:ext cx="3078594" cy="1658593"/>
          </a:xfrm>
          <a:custGeom>
            <a:avLst/>
            <a:gdLst/>
            <a:ahLst/>
            <a:cxnLst/>
            <a:rect r="r" b="b" t="t" l="l"/>
            <a:pathLst>
              <a:path h="1658593" w="3078594">
                <a:moveTo>
                  <a:pt x="0" y="0"/>
                </a:moveTo>
                <a:lnTo>
                  <a:pt x="3078595" y="0"/>
                </a:lnTo>
                <a:lnTo>
                  <a:pt x="3078595" y="1658593"/>
                </a:lnTo>
                <a:lnTo>
                  <a:pt x="0" y="16585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SYSTEMS THINKING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09146" y="997067"/>
            <a:ext cx="1628918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 Business Is a System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76754" y="3117228"/>
            <a:ext cx="328448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Inventory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2656" y="4068575"/>
            <a:ext cx="287269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What we have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in stock right now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81395" y="3117228"/>
            <a:ext cx="328448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Staff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87297" y="4068575"/>
            <a:ext cx="287269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Who executes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every task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486036" y="3117228"/>
            <a:ext cx="328448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Customer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91928" y="4068575"/>
            <a:ext cx="287269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Who drives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every demand signal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90667" y="3117228"/>
            <a:ext cx="328448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Payment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296569" y="4068575"/>
            <a:ext cx="287269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Where value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is exchanged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695308" y="3117228"/>
            <a:ext cx="3284487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Delivery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901210" y="4068575"/>
            <a:ext cx="2872692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How the product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reaches the end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9146" y="8958567"/>
            <a:ext cx="168382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i="true">
                <a:solidFill>
                  <a:srgbClr val="667788"/>
                </a:solidFill>
                <a:latin typeface="Inter Italics"/>
                <a:ea typeface="Inter Italics"/>
                <a:cs typeface="Inter Italics"/>
                <a:sym typeface="Inter Italics"/>
              </a:rPr>
              <a:t>Break any one of these parts and the entire system fails -- not just one department.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02 / 30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Why Map the Flow?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you don't know the process, you don't know the data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Most data errors happen when the process changes but the report does not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Mapping reveals the Blind Spots where data gets lost or corrupted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flowchart is a contract, it defines what should happen at every step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 cannot fix what you cannot see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03 / 30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Linear vs. Non-Linear Thinking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Linear Thinking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Systems Thinking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A leads to Step B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38243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path, one outcome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03637" y="6859934"/>
            <a:ext cx="164725" cy="164725"/>
            <a:chOff x="0" y="0"/>
            <a:chExt cx="219634" cy="2196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38243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Easy to model, dangerous in reality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03637" y="7683541"/>
            <a:ext cx="164725" cy="164725"/>
            <a:chOff x="0" y="0"/>
            <a:chExt cx="219634" cy="2196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38243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Ignores exceptions and failures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Step A leads to B... but what if C?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Multiple paths, multiple outcomes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123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Accounts for every exception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Analysts must think in branches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04 / 30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DATA INTEGRITY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Data Lineage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Where was this number born?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Who touched it between the source and your spreadsheet?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Every hand it passes through is a chance for error or manipulation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did it get into your report?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Understanding lineage is the first step in ensuring data integrity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8214" y="6524730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Based on Gateway to BA: trust is earned by tracing the origin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05 / 30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2384829" y="-295486"/>
            <a:ext cx="5429126" cy="6765266"/>
          </a:xfrm>
          <a:custGeom>
            <a:avLst/>
            <a:gdLst/>
            <a:ahLst/>
            <a:cxnLst/>
            <a:rect r="r" b="b" t="t" l="l"/>
            <a:pathLst>
              <a:path h="6765266" w="5429126">
                <a:moveTo>
                  <a:pt x="0" y="0"/>
                </a:moveTo>
                <a:lnTo>
                  <a:pt x="5429126" y="0"/>
                </a:lnTo>
                <a:lnTo>
                  <a:pt x="5429126" y="6765266"/>
                </a:lnTo>
                <a:lnTo>
                  <a:pt x="0" y="67652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3879675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491651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Language</a:t>
            </a:r>
          </a:p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of Logic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7860430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Flowchart symbols every analyst must know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06 / 30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0431" y="2882608"/>
            <a:ext cx="4334208" cy="5902490"/>
            <a:chOff x="0" y="0"/>
            <a:chExt cx="5778944" cy="78699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51914" y="2882608"/>
            <a:ext cx="4334208" cy="5902490"/>
            <a:chOff x="0" y="0"/>
            <a:chExt cx="5778944" cy="7869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23397" y="2882608"/>
            <a:ext cx="4334208" cy="5902490"/>
            <a:chOff x="0" y="0"/>
            <a:chExt cx="5778944" cy="78699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94880" y="2882608"/>
            <a:ext cx="4334208" cy="5902490"/>
            <a:chOff x="0" y="0"/>
            <a:chExt cx="5778944" cy="78699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62442" y="5833853"/>
            <a:ext cx="3970196" cy="2137477"/>
            <a:chOff x="0" y="0"/>
            <a:chExt cx="12077700" cy="6502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085612" cy="6502400"/>
            </a:xfrm>
            <a:custGeom>
              <a:avLst/>
              <a:gdLst/>
              <a:ahLst/>
              <a:cxnLst/>
              <a:rect r="r" b="b" t="t" l="l"/>
              <a:pathLst>
                <a:path h="6502400" w="12085612">
                  <a:moveTo>
                    <a:pt x="0" y="3024823"/>
                  </a:moveTo>
                  <a:lnTo>
                    <a:pt x="0" y="3343093"/>
                  </a:lnTo>
                  <a:cubicBezTo>
                    <a:pt x="0" y="3461910"/>
                    <a:pt x="33146" y="3682342"/>
                    <a:pt x="68089" y="3795904"/>
                  </a:cubicBezTo>
                  <a:lnTo>
                    <a:pt x="102132" y="3906547"/>
                  </a:lnTo>
                  <a:cubicBezTo>
                    <a:pt x="118562" y="3959945"/>
                    <a:pt x="165539" y="4069391"/>
                    <a:pt x="192930" y="4118085"/>
                  </a:cubicBezTo>
                  <a:lnTo>
                    <a:pt x="317750" y="4339989"/>
                  </a:lnTo>
                  <a:cubicBezTo>
                    <a:pt x="381814" y="4453879"/>
                    <a:pt x="532421" y="4647250"/>
                    <a:pt x="627158" y="4737250"/>
                  </a:cubicBezTo>
                  <a:lnTo>
                    <a:pt x="875304" y="4972990"/>
                  </a:lnTo>
                  <a:cubicBezTo>
                    <a:pt x="997824" y="5089383"/>
                    <a:pt x="1274207" y="5294157"/>
                    <a:pt x="1421235" y="5377473"/>
                  </a:cubicBezTo>
                  <a:lnTo>
                    <a:pt x="1783003" y="5582474"/>
                  </a:lnTo>
                  <a:cubicBezTo>
                    <a:pt x="1952014" y="5678248"/>
                    <a:pt x="2353417" y="5861994"/>
                    <a:pt x="2536360" y="5927330"/>
                  </a:cubicBezTo>
                  <a:lnTo>
                    <a:pt x="2817181" y="6027623"/>
                  </a:lnTo>
                  <a:cubicBezTo>
                    <a:pt x="2943225" y="6072638"/>
                    <a:pt x="3258440" y="6163569"/>
                    <a:pt x="3389094" y="6192604"/>
                  </a:cubicBezTo>
                  <a:lnTo>
                    <a:pt x="4040614" y="6337385"/>
                  </a:lnTo>
                  <a:cubicBezTo>
                    <a:pt x="4171465" y="6366463"/>
                    <a:pt x="4479148" y="6409418"/>
                    <a:pt x="4612959" y="6417290"/>
                  </a:cubicBezTo>
                  <a:lnTo>
                    <a:pt x="4762208" y="6426069"/>
                  </a:lnTo>
                  <a:cubicBezTo>
                    <a:pt x="4828392" y="6429963"/>
                    <a:pt x="4974190" y="6452276"/>
                    <a:pt x="5038509" y="6468356"/>
                  </a:cubicBezTo>
                  <a:lnTo>
                    <a:pt x="5106596" y="6485378"/>
                  </a:lnTo>
                  <a:cubicBezTo>
                    <a:pt x="5140234" y="6493787"/>
                    <a:pt x="5210197" y="6502400"/>
                    <a:pt x="5244869" y="6502400"/>
                  </a:cubicBezTo>
                  <a:lnTo>
                    <a:pt x="6517635" y="6502400"/>
                  </a:lnTo>
                  <a:cubicBezTo>
                    <a:pt x="6661156" y="6502400"/>
                    <a:pt x="7023526" y="6483381"/>
                    <a:pt x="7166258" y="6468356"/>
                  </a:cubicBezTo>
                  <a:lnTo>
                    <a:pt x="7327966" y="6451335"/>
                  </a:lnTo>
                  <a:cubicBezTo>
                    <a:pt x="7398220" y="6443939"/>
                    <a:pt x="7579946" y="6416760"/>
                    <a:pt x="7649289" y="6403277"/>
                  </a:cubicBezTo>
                  <a:lnTo>
                    <a:pt x="8182273" y="6299641"/>
                  </a:lnTo>
                  <a:cubicBezTo>
                    <a:pt x="8420604" y="6253299"/>
                    <a:pt x="9000936" y="6103850"/>
                    <a:pt x="9232006" y="6029312"/>
                  </a:cubicBezTo>
                  <a:lnTo>
                    <a:pt x="9501313" y="5942438"/>
                  </a:lnTo>
                  <a:cubicBezTo>
                    <a:pt x="9624996" y="5902541"/>
                    <a:pt x="9907482" y="5787135"/>
                    <a:pt x="10023721" y="5729014"/>
                  </a:cubicBezTo>
                  <a:lnTo>
                    <a:pt x="10393826" y="5543963"/>
                  </a:lnTo>
                  <a:cubicBezTo>
                    <a:pt x="10514622" y="5483564"/>
                    <a:pt x="10784176" y="5321271"/>
                    <a:pt x="10894073" y="5242773"/>
                  </a:cubicBezTo>
                  <a:lnTo>
                    <a:pt x="11013227" y="5157663"/>
                  </a:lnTo>
                  <a:cubicBezTo>
                    <a:pt x="11070787" y="5116549"/>
                    <a:pt x="11183165" y="5016424"/>
                    <a:pt x="11230623" y="4963970"/>
                  </a:cubicBezTo>
                  <a:lnTo>
                    <a:pt x="11625998" y="4526977"/>
                  </a:lnTo>
                  <a:cubicBezTo>
                    <a:pt x="11703173" y="4441678"/>
                    <a:pt x="11829905" y="4256253"/>
                    <a:pt x="11881349" y="4153365"/>
                  </a:cubicBezTo>
                  <a:lnTo>
                    <a:pt x="11932414" y="4051234"/>
                  </a:lnTo>
                  <a:cubicBezTo>
                    <a:pt x="11956265" y="4003533"/>
                    <a:pt x="12000968" y="3890813"/>
                    <a:pt x="12016291" y="3839731"/>
                  </a:cubicBezTo>
                  <a:lnTo>
                    <a:pt x="12050953" y="3724196"/>
                  </a:lnTo>
                  <a:cubicBezTo>
                    <a:pt x="12068654" y="3665193"/>
                    <a:pt x="12085612" y="3549641"/>
                    <a:pt x="12085612" y="3488041"/>
                  </a:cubicBezTo>
                  <a:lnTo>
                    <a:pt x="12085612" y="3207911"/>
                  </a:lnTo>
                  <a:cubicBezTo>
                    <a:pt x="12085612" y="3060175"/>
                    <a:pt x="12041549" y="2802937"/>
                    <a:pt x="11992380" y="2663623"/>
                  </a:cubicBezTo>
                  <a:lnTo>
                    <a:pt x="11936864" y="2506328"/>
                  </a:lnTo>
                  <a:cubicBezTo>
                    <a:pt x="11909701" y="2429365"/>
                    <a:pt x="11835284" y="2277377"/>
                    <a:pt x="11791148" y="2208723"/>
                  </a:cubicBezTo>
                  <a:lnTo>
                    <a:pt x="11683050" y="2040571"/>
                  </a:lnTo>
                  <a:cubicBezTo>
                    <a:pt x="11630873" y="1959407"/>
                    <a:pt x="11501830" y="1799295"/>
                    <a:pt x="11433602" y="1731068"/>
                  </a:cubicBezTo>
                  <a:lnTo>
                    <a:pt x="11317036" y="1614501"/>
                  </a:lnTo>
                  <a:cubicBezTo>
                    <a:pt x="11263133" y="1560599"/>
                    <a:pt x="11128626" y="1446049"/>
                    <a:pt x="11066828" y="1401417"/>
                  </a:cubicBezTo>
                  <a:lnTo>
                    <a:pt x="10827253" y="1228390"/>
                  </a:lnTo>
                  <a:cubicBezTo>
                    <a:pt x="10714945" y="1147280"/>
                    <a:pt x="10446229" y="987259"/>
                    <a:pt x="10321410" y="927160"/>
                  </a:cubicBezTo>
                  <a:lnTo>
                    <a:pt x="9994950" y="769976"/>
                  </a:lnTo>
                  <a:cubicBezTo>
                    <a:pt x="9846380" y="698443"/>
                    <a:pt x="9480348" y="552929"/>
                    <a:pt x="9323217" y="502931"/>
                  </a:cubicBezTo>
                  <a:lnTo>
                    <a:pt x="9121370" y="438708"/>
                  </a:lnTo>
                  <a:cubicBezTo>
                    <a:pt x="9032747" y="410510"/>
                    <a:pt x="8803291" y="349829"/>
                    <a:pt x="8712314" y="330530"/>
                  </a:cubicBezTo>
                  <a:lnTo>
                    <a:pt x="8254192" y="233354"/>
                  </a:lnTo>
                  <a:cubicBezTo>
                    <a:pt x="8052143" y="190494"/>
                    <a:pt x="7535741" y="108773"/>
                    <a:pt x="7330329" y="87150"/>
                  </a:cubicBezTo>
                  <a:lnTo>
                    <a:pt x="6646483" y="15167"/>
                  </a:lnTo>
                  <a:cubicBezTo>
                    <a:pt x="6550494" y="5062"/>
                    <a:pt x="6454041" y="0"/>
                    <a:pt x="6357520" y="0"/>
                  </a:cubicBezTo>
                  <a:lnTo>
                    <a:pt x="6025784" y="0"/>
                  </a:lnTo>
                  <a:cubicBezTo>
                    <a:pt x="5812763" y="0"/>
                    <a:pt x="5287452" y="31406"/>
                    <a:pt x="5075948" y="56787"/>
                  </a:cubicBezTo>
                  <a:lnTo>
                    <a:pt x="4388057" y="139333"/>
                  </a:lnTo>
                  <a:cubicBezTo>
                    <a:pt x="4143374" y="168695"/>
                    <a:pt x="3557909" y="278860"/>
                    <a:pt x="3319288" y="340440"/>
                  </a:cubicBezTo>
                  <a:lnTo>
                    <a:pt x="2939026" y="438572"/>
                  </a:lnTo>
                  <a:cubicBezTo>
                    <a:pt x="2868031" y="456893"/>
                    <a:pt x="2721011" y="511913"/>
                    <a:pt x="2655430" y="544704"/>
                  </a:cubicBezTo>
                  <a:lnTo>
                    <a:pt x="2587342" y="578748"/>
                  </a:lnTo>
                  <a:cubicBezTo>
                    <a:pt x="2552400" y="596218"/>
                    <a:pt x="2482700" y="618884"/>
                    <a:pt x="2444166" y="625306"/>
                  </a:cubicBezTo>
                  <a:lnTo>
                    <a:pt x="2379579" y="636071"/>
                  </a:lnTo>
                  <a:cubicBezTo>
                    <a:pt x="2346073" y="641655"/>
                    <a:pt x="2287034" y="661373"/>
                    <a:pt x="2256897" y="677045"/>
                  </a:cubicBezTo>
                  <a:lnTo>
                    <a:pt x="1497660" y="1071847"/>
                  </a:lnTo>
                  <a:cubicBezTo>
                    <a:pt x="1476447" y="1082878"/>
                    <a:pt x="1451233" y="1083078"/>
                    <a:pt x="1429847" y="1072386"/>
                  </a:cubicBezTo>
                  <a:lnTo>
                    <a:pt x="1419876" y="1067400"/>
                  </a:lnTo>
                  <a:cubicBezTo>
                    <a:pt x="1413824" y="1064374"/>
                    <a:pt x="1406756" y="1064123"/>
                    <a:pt x="1400504" y="1066712"/>
                  </a:cubicBezTo>
                  <a:cubicBezTo>
                    <a:pt x="1394253" y="1069302"/>
                    <a:pt x="1389432" y="1074477"/>
                    <a:pt x="1387292" y="1080896"/>
                  </a:cubicBezTo>
                  <a:lnTo>
                    <a:pt x="1378781" y="1106429"/>
                  </a:lnTo>
                  <a:cubicBezTo>
                    <a:pt x="1368071" y="1138559"/>
                    <a:pt x="1344920" y="1168212"/>
                    <a:pt x="1316346" y="1186395"/>
                  </a:cubicBezTo>
                  <a:lnTo>
                    <a:pt x="1151811" y="1291099"/>
                  </a:lnTo>
                  <a:cubicBezTo>
                    <a:pt x="1072112" y="1341816"/>
                    <a:pt x="916170" y="1466908"/>
                    <a:pt x="849372" y="1533707"/>
                  </a:cubicBezTo>
                  <a:lnTo>
                    <a:pt x="662993" y="1720086"/>
                  </a:lnTo>
                  <a:cubicBezTo>
                    <a:pt x="569866" y="1813213"/>
                    <a:pt x="410541" y="2020590"/>
                    <a:pt x="344554" y="2134570"/>
                  </a:cubicBezTo>
                  <a:lnTo>
                    <a:pt x="199373" y="2385336"/>
                  </a:lnTo>
                  <a:cubicBezTo>
                    <a:pt x="150857" y="2469138"/>
                    <a:pt x="76544" y="2647119"/>
                    <a:pt x="51065" y="2740541"/>
                  </a:cubicBezTo>
                  <a:lnTo>
                    <a:pt x="25533" y="2834161"/>
                  </a:lnTo>
                  <a:cubicBezTo>
                    <a:pt x="12723" y="2881132"/>
                    <a:pt x="0" y="2976137"/>
                    <a:pt x="0" y="3024823"/>
                  </a:cubicBezTo>
                  <a:lnTo>
                    <a:pt x="0" y="0"/>
                  </a:lnTo>
                  <a:cubicBezTo>
                    <a:pt x="0" y="0"/>
                    <a:pt x="0" y="3024823"/>
                    <a:pt x="0" y="3024823"/>
                  </a:cubicBezTo>
                  <a:close/>
                </a:path>
              </a:pathLst>
            </a:custGeom>
            <a:solidFill>
              <a:srgbClr val="33CC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12077700" cy="6492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56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732426" y="5560000"/>
            <a:ext cx="2773184" cy="2734069"/>
            <a:chOff x="0" y="0"/>
            <a:chExt cx="730386" cy="7200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0386" cy="720084"/>
            </a:xfrm>
            <a:custGeom>
              <a:avLst/>
              <a:gdLst/>
              <a:ahLst/>
              <a:cxnLst/>
              <a:rect r="r" b="b" t="t" l="l"/>
              <a:pathLst>
                <a:path h="720084" w="730386">
                  <a:moveTo>
                    <a:pt x="0" y="0"/>
                  </a:moveTo>
                  <a:lnTo>
                    <a:pt x="730386" y="0"/>
                  </a:lnTo>
                  <a:lnTo>
                    <a:pt x="730386" y="720084"/>
                  </a:lnTo>
                  <a:lnTo>
                    <a:pt x="0" y="720084"/>
                  </a:lnTo>
                  <a:close/>
                </a:path>
              </a:pathLst>
            </a:custGeom>
            <a:solidFill>
              <a:srgbClr val="33CC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730386" cy="7296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0647952" y="5426969"/>
            <a:ext cx="1885108" cy="2951245"/>
          </a:xfrm>
          <a:custGeom>
            <a:avLst/>
            <a:gdLst/>
            <a:ahLst/>
            <a:cxnLst/>
            <a:rect r="r" b="b" t="t" l="l"/>
            <a:pathLst>
              <a:path h="2951245" w="1885108">
                <a:moveTo>
                  <a:pt x="0" y="0"/>
                </a:moveTo>
                <a:lnTo>
                  <a:pt x="1885108" y="0"/>
                </a:lnTo>
                <a:lnTo>
                  <a:pt x="1885108" y="2951245"/>
                </a:lnTo>
                <a:lnTo>
                  <a:pt x="0" y="29512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4518938" y="5745304"/>
            <a:ext cx="3086100" cy="2314575"/>
            <a:chOff x="0" y="0"/>
            <a:chExt cx="812800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609600"/>
            </a:xfrm>
            <a:custGeom>
              <a:avLst/>
              <a:gdLst/>
              <a:ahLst/>
              <a:cxnLst/>
              <a:rect r="r" b="b" t="t" l="l"/>
              <a:pathLst>
                <a:path h="609600" w="8128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3CC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01600" y="-9525"/>
              <a:ext cx="609600" cy="6191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02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ISO STANDARD SYMBOLS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9146" y="997067"/>
            <a:ext cx="1628918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Universal Flowchart Language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1871" y="3065602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Oval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7773" y="4016950"/>
            <a:ext cx="373953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Terminator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Start / End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of the process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043354" y="3065602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Rectangle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49256" y="4016950"/>
            <a:ext cx="373953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Process / Task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An action that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must be performed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514837" y="3065602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Diamond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20739" y="4016950"/>
            <a:ext cx="373953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Decision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Yes / No branch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logic gate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986320" y="3065602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Parallelogram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192221" y="4016950"/>
            <a:ext cx="373953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Input / Output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Data entering or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leaving the system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9146" y="8958567"/>
            <a:ext cx="168382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i="true">
                <a:solidFill>
                  <a:srgbClr val="667788"/>
                </a:solidFill>
                <a:latin typeface="Inter Italics"/>
                <a:ea typeface="Inter Italics"/>
                <a:cs typeface="Inter Italics"/>
                <a:sym typeface="Inter Italics"/>
              </a:rPr>
              <a:t>Using these correctly means any professional in the world can read your logic without a translator.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07 / 30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LOGIC SYMBOLS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Decision Diamond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This is where the business rules live, the heart of analytics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Is the order over $50?  -&gt;  Yes: Free shipping  /  No: Add $5 shipping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Every diamond in your flowchart becomes an IF statement in Excel or Python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business process with no diamonds is just a checklist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business process with too many diamonds is a bureaucracy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08 / 30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ITERATION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Loop. Repeating Until Done.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loop repeats a process until a condition is satisfied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Support: Is the ticket resolved?  -&gt;  No: back to agent  -&gt;  Yes: close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Without a loop, a process either ends too early or never escalates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 loop must have an exit condition, or you create an infinite loop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In data: refreshing a dashboard until the data loads is a loop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09 / 30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LOGIC GATES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Logic Gates: AND vs. OR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6449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AND Gate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11547" y="4109599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OR Gate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03637" y="5212728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38243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Both conditions must be TRUE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03637" y="6036326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38243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High Credit Score AND Steady Job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3637" y="6859934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38243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= Loan Approved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3637" y="7683541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38243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Stricter -- narrows the outcome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88744" y="5212728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23351" y="507999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Either condition can be TRUE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88744" y="6036326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23351" y="5903605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Pay by Credit Card OR Pay by Cash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88744" y="6859934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23351" y="6727203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= Transaction Accepted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88744" y="7683541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3351" y="755081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More flexible -- widens the outcome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CASE STUDY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Pizza Shop Challenge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7773" y="2722436"/>
            <a:ext cx="1670099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i="true">
                <a:solidFill>
                  <a:srgbClr val="D1A2D6"/>
                </a:solidFill>
                <a:latin typeface="Inter Italics"/>
                <a:ea typeface="Inter Italics"/>
                <a:cs typeface="Inter Italics"/>
                <a:sym typeface="Inter Italics"/>
              </a:rPr>
              <a:t>Customer orders pepperoni pizza. Map the decision logic.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9069" y="3912118"/>
            <a:ext cx="5490686" cy="5078892"/>
            <a:chOff x="0" y="0"/>
            <a:chExt cx="7320915" cy="67718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2785062" y="4085577"/>
            <a:ext cx="1018699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[?]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509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Check Stock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6411" y="6154112"/>
            <a:ext cx="489601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Is pepperoni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available?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Yes -&gt; Make pizza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-&gt; Next step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245657" y="3912118"/>
            <a:ext cx="5490686" cy="5078892"/>
            <a:chOff x="0" y="0"/>
            <a:chExt cx="7320915" cy="6771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8481651" y="4085577"/>
            <a:ext cx="1018699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[?]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37097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Suggest Alt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42999" y="6154112"/>
            <a:ext cx="489601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Offer mushrooms.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Customer accepts?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Yes -&gt; Make pizza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-&gt; Next step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942254" y="3912118"/>
            <a:ext cx="5490686" cy="5078892"/>
            <a:chOff x="0" y="0"/>
            <a:chExt cx="7320915" cy="677185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20915" cy="6771894"/>
            </a:xfrm>
            <a:custGeom>
              <a:avLst/>
              <a:gdLst/>
              <a:ahLst/>
              <a:cxnLst/>
              <a:rect r="r" b="b" t="t" l="l"/>
              <a:pathLst>
                <a:path h="6771894" w="7320915">
                  <a:moveTo>
                    <a:pt x="0" y="0"/>
                  </a:moveTo>
                  <a:lnTo>
                    <a:pt x="7320915" y="0"/>
                  </a:lnTo>
                  <a:lnTo>
                    <a:pt x="7320915" y="6771894"/>
                  </a:lnTo>
                  <a:lnTo>
                    <a:pt x="0" y="6771894"/>
                  </a:lnTo>
                  <a:close/>
                </a:path>
              </a:pathLst>
            </a:custGeom>
            <a:solidFill>
              <a:srgbClr val="10122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4111276" y="4085577"/>
            <a:ext cx="1152644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>
                <a:solidFill>
                  <a:srgbClr val="33CCFF"/>
                </a:solidFill>
                <a:latin typeface="Inter"/>
                <a:ea typeface="Inter"/>
                <a:cs typeface="Inter"/>
                <a:sym typeface="Inter"/>
              </a:rPr>
              <a:t>[X]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33695" y="5330504"/>
            <a:ext cx="530780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Cancel Order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39587" y="6154112"/>
            <a:ext cx="4896012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substitute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accepted.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Cancel order.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Notify customer.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11 / 30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3504" y="9430864"/>
            <a:ext cx="1670099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i="true">
                <a:solidFill>
                  <a:srgbClr val="D1A2D6"/>
                </a:solidFill>
                <a:latin typeface="Inter Italics"/>
                <a:ea typeface="Inter Italics"/>
                <a:cs typeface="Inter Italics"/>
                <a:sym typeface="Inter Italics"/>
              </a:rPr>
              <a:t>Br</a:t>
            </a:r>
            <a:r>
              <a:rPr lang="en-US" sz="3002" i="true">
                <a:solidFill>
                  <a:srgbClr val="D1A2D6"/>
                </a:solidFill>
                <a:latin typeface="Inter Italics"/>
                <a:ea typeface="Inter Italics"/>
                <a:cs typeface="Inter Italics"/>
                <a:sym typeface="Inter Italics"/>
              </a:rPr>
              <a:t>eaking Bad: Season 3, Episode 2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2470814"/>
            <a:ext cx="76257" cy="5216157"/>
            <a:chOff x="0" y="0"/>
            <a:chExt cx="101676" cy="69548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727" cy="6954901"/>
            </a:xfrm>
            <a:custGeom>
              <a:avLst/>
              <a:gdLst/>
              <a:ahLst/>
              <a:cxnLst/>
              <a:rect r="r" b="b" t="t" l="l"/>
              <a:pathLst>
                <a:path h="6954901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1418396"/>
            <a:ext cx="114395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6"/>
              </a:lnSpc>
            </a:pPr>
            <a:r>
              <a:rPr lang="en-US" sz="18014" b="true">
                <a:solidFill>
                  <a:srgbClr val="222233"/>
                </a:solidFill>
                <a:latin typeface="Inter Bold"/>
                <a:ea typeface="Inter Bold"/>
                <a:cs typeface="Inter Bold"/>
                <a:sym typeface="Inter Bold"/>
              </a:rPr>
              <a:t>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28328"/>
            <a:ext cx="15191051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customer stuck on a phone menu with no 'Talk to a Human' option is not a system failure.</a:t>
            </a:r>
          </a:p>
          <a:p>
            <a:pPr algn="l">
              <a:lnSpc>
                <a:spcPts val="5764"/>
              </a:lnSpc>
            </a:pPr>
          </a:p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It is a logic failure.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9069" y="619125"/>
            <a:ext cx="1519105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Dead Ends and Infinite Loops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904188" y="-449861"/>
            <a:ext cx="6390408" cy="6390408"/>
          </a:xfrm>
          <a:custGeom>
            <a:avLst/>
            <a:gdLst/>
            <a:ahLst/>
            <a:cxnLst/>
            <a:rect r="r" b="b" t="t" l="l"/>
            <a:pathLst>
              <a:path h="6390408" w="6390408">
                <a:moveTo>
                  <a:pt x="0" y="0"/>
                </a:moveTo>
                <a:lnTo>
                  <a:pt x="6390408" y="0"/>
                </a:lnTo>
                <a:lnTo>
                  <a:pt x="6390408" y="6390408"/>
                </a:lnTo>
                <a:lnTo>
                  <a:pt x="0" y="63904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3879675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491651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Business Process</a:t>
            </a:r>
          </a:p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Mapping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7860430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Translating real operations into readable logic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06926" y="2669477"/>
            <a:ext cx="8098765" cy="6588824"/>
            <a:chOff x="0" y="0"/>
            <a:chExt cx="10798353" cy="87850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92034" y="2669477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8858" y="2669477"/>
            <a:ext cx="38129" cy="6588824"/>
            <a:chOff x="0" y="0"/>
            <a:chExt cx="50838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50093" y="3946065"/>
            <a:ext cx="164725" cy="164725"/>
            <a:chOff x="0" y="0"/>
            <a:chExt cx="219634" cy="2196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50093" y="4769663"/>
            <a:ext cx="164725" cy="164725"/>
            <a:chOff x="0" y="0"/>
            <a:chExt cx="219634" cy="2196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50093" y="5593270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50093" y="6416878"/>
            <a:ext cx="164725" cy="164725"/>
            <a:chOff x="0" y="0"/>
            <a:chExt cx="219634" cy="21963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35201" y="3946065"/>
            <a:ext cx="164725" cy="164725"/>
            <a:chOff x="0" y="0"/>
            <a:chExt cx="219634" cy="21963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35201" y="4769663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835201" y="5593270"/>
            <a:ext cx="164725" cy="164725"/>
            <a:chOff x="0" y="0"/>
            <a:chExt cx="219634" cy="21963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35201" y="6416878"/>
            <a:ext cx="164725" cy="164725"/>
            <a:chOff x="0" y="0"/>
            <a:chExt cx="219634" cy="21963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2707745" y="6998356"/>
            <a:ext cx="2079136" cy="2079136"/>
          </a:xfrm>
          <a:custGeom>
            <a:avLst/>
            <a:gdLst/>
            <a:ahLst/>
            <a:cxnLst/>
            <a:rect r="r" b="b" t="t" l="l"/>
            <a:pathLst>
              <a:path h="2079136" w="2079136">
                <a:moveTo>
                  <a:pt x="0" y="0"/>
                </a:moveTo>
                <a:lnTo>
                  <a:pt x="2079136" y="0"/>
                </a:lnTo>
                <a:lnTo>
                  <a:pt x="2079136" y="2079136"/>
                </a:lnTo>
                <a:lnTo>
                  <a:pt x="0" y="2079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748845" y="6960422"/>
            <a:ext cx="2014928" cy="2155003"/>
          </a:xfrm>
          <a:custGeom>
            <a:avLst/>
            <a:gdLst/>
            <a:ahLst/>
            <a:cxnLst/>
            <a:rect r="r" b="b" t="t" l="l"/>
            <a:pathLst>
              <a:path h="2155003" w="2014928">
                <a:moveTo>
                  <a:pt x="0" y="0"/>
                </a:moveTo>
                <a:lnTo>
                  <a:pt x="2014928" y="0"/>
                </a:lnTo>
                <a:lnTo>
                  <a:pt x="2014928" y="2155003"/>
                </a:lnTo>
                <a:lnTo>
                  <a:pt x="0" y="21550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PROCESS MAPPING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'As-Is' vs. The 'To-Be'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72906" y="2842936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As-Is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58004" y="2842936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To-Be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84700" y="381333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we do it right now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84700" y="4636941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Often messy, undocumented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84700" y="546054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Full of workarounds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84700" y="6284147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honest starting point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69807" y="381333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How analytics will optimize it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69807" y="4636941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Streamlined, measurable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69807" y="546054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Bottlenecks removed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69807" y="6284147"/>
            <a:ext cx="6955012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 cannot get here without mapping As-Is first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CASE STUDY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Loan Approval: The Logic Map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6333" y="3157147"/>
            <a:ext cx="5284784" cy="5216157"/>
            <a:chOff x="0" y="0"/>
            <a:chExt cx="7046379" cy="69548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07113" y="3431677"/>
            <a:ext cx="1043235" cy="1043235"/>
            <a:chOff x="0" y="0"/>
            <a:chExt cx="1390980" cy="1390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898553" y="3658019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7773" y="4771911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Submit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5048" y="5810945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Applicant submits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completed form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 the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60030" y="5261877"/>
            <a:ext cx="3594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true">
                <a:solidFill>
                  <a:srgbClr val="667788"/>
                </a:solidFill>
                <a:latin typeface="Inter Bold"/>
                <a:ea typeface="Inter Bold"/>
                <a:cs typeface="Inter Bold"/>
                <a:sym typeface="Inter Bold"/>
              </a:rPr>
              <a:t>&gt;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177029" y="3157147"/>
            <a:ext cx="5284784" cy="5216157"/>
            <a:chOff x="0" y="0"/>
            <a:chExt cx="7046379" cy="695487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297809" y="3431677"/>
            <a:ext cx="1043235" cy="1043235"/>
            <a:chOff x="0" y="0"/>
            <a:chExt cx="1390980" cy="13909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389239" y="3658019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68469" y="4771911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Score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05734" y="5810945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System checks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Credit Score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against threshold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50726" y="5261877"/>
            <a:ext cx="35945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 b="true">
                <a:solidFill>
                  <a:srgbClr val="667788"/>
                </a:solidFill>
                <a:latin typeface="Inter Bold"/>
                <a:ea typeface="Inter Bold"/>
                <a:cs typeface="Inter Bold"/>
                <a:sym typeface="Inter Bold"/>
              </a:rPr>
              <a:t>&gt;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1667715" y="3157147"/>
            <a:ext cx="5284784" cy="5216157"/>
            <a:chOff x="0" y="0"/>
            <a:chExt cx="7046379" cy="69548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046341" cy="6954901"/>
            </a:xfrm>
            <a:custGeom>
              <a:avLst/>
              <a:gdLst/>
              <a:ahLst/>
              <a:cxnLst/>
              <a:rect r="r" b="b" t="t" l="l"/>
              <a:pathLst>
                <a:path h="6954901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788495" y="3431677"/>
            <a:ext cx="1043235" cy="1043235"/>
            <a:chOff x="0" y="0"/>
            <a:chExt cx="1390980" cy="13909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0904" cy="1390904"/>
            </a:xfrm>
            <a:custGeom>
              <a:avLst/>
              <a:gdLst/>
              <a:ahLst/>
              <a:cxnLst/>
              <a:rect r="r" b="b" t="t" l="l"/>
              <a:pathLst>
                <a:path h="1390904" w="1390904">
                  <a:moveTo>
                    <a:pt x="0" y="695452"/>
                  </a:moveTo>
                  <a:cubicBezTo>
                    <a:pt x="0" y="311404"/>
                    <a:pt x="311404" y="0"/>
                    <a:pt x="695452" y="0"/>
                  </a:cubicBezTo>
                  <a:cubicBezTo>
                    <a:pt x="1079500" y="0"/>
                    <a:pt x="1390904" y="311404"/>
                    <a:pt x="1390904" y="695452"/>
                  </a:cubicBezTo>
                  <a:cubicBezTo>
                    <a:pt x="1390904" y="1079500"/>
                    <a:pt x="1079500" y="1390904"/>
                    <a:pt x="695452" y="1390904"/>
                  </a:cubicBezTo>
                  <a:cubicBezTo>
                    <a:pt x="311404" y="1390904"/>
                    <a:pt x="0" y="1079627"/>
                    <a:pt x="0" y="695452"/>
                  </a:cubicBezTo>
                  <a:close/>
                </a:path>
              </a:pathLst>
            </a:custGeom>
            <a:solidFill>
              <a:srgbClr val="88DDFF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3879935" y="3658019"/>
            <a:ext cx="860355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3"/>
              </a:lnSpc>
            </a:pPr>
            <a:r>
              <a:rPr lang="en-US" sz="3903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759155" y="4771911"/>
            <a:ext cx="510190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88DDFF"/>
                </a:solidFill>
                <a:latin typeface="Inter Bold"/>
                <a:ea typeface="Inter Bold"/>
                <a:cs typeface="Inter Bold"/>
                <a:sym typeface="Inter Bold"/>
              </a:rPr>
              <a:t>Route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96420" y="5810945"/>
            <a:ext cx="4896012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&lt; 600: Auto Reject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&gt; 600: Manual Review</a:t>
            </a:r>
          </a:p>
          <a:p>
            <a:pPr algn="ctr">
              <a:lnSpc>
                <a:spcPts val="2882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15 / 30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12954" y="9053512"/>
            <a:ext cx="11012924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583385" indent="-291693" lvl="1">
              <a:lnSpc>
                <a:spcPts val="3242"/>
              </a:lnSpc>
              <a:spcBef>
                <a:spcPct val="0"/>
              </a:spcBef>
              <a:buFont typeface="Arial"/>
              <a:buChar char="•"/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Mapping this reveals where the "</a:t>
            </a: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Human-in-the-Loop" is required.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DIAGNOSTIC POWER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Bottlenecks, Where the Flow Slows Down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100 applicants enter the top of the funnel per day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Interview box can only handle 5 per day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bottleneck is Interview, not hiring, not sourcing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 system has at least one bottleneck, your job is to find it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Mapping the flow makes bottlenecks visible before they become crises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TWO FLOWS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06592"/>
            <a:ext cx="16289188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5"/>
              </a:lnSpc>
            </a:pPr>
            <a:r>
              <a:rPr lang="en-US" sz="60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Data Flow vs. Process Flow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745343"/>
            <a:ext cx="8098765" cy="6588824"/>
            <a:chOff x="0" y="0"/>
            <a:chExt cx="10798353" cy="87850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34176" y="2745343"/>
            <a:ext cx="8098765" cy="6588824"/>
            <a:chOff x="0" y="0"/>
            <a:chExt cx="10798353" cy="8785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98302" cy="8785098"/>
            </a:xfrm>
            <a:custGeom>
              <a:avLst/>
              <a:gdLst/>
              <a:ahLst/>
              <a:cxnLst/>
              <a:rect r="r" b="b" t="t" l="l"/>
              <a:pathLst>
                <a:path h="8785098" w="10798302">
                  <a:moveTo>
                    <a:pt x="0" y="0"/>
                  </a:moveTo>
                  <a:lnTo>
                    <a:pt x="10798302" y="0"/>
                  </a:lnTo>
                  <a:lnTo>
                    <a:pt x="10798302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12122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91000" y="2745343"/>
            <a:ext cx="38129" cy="6588824"/>
            <a:chOff x="0" y="0"/>
            <a:chExt cx="50838" cy="878509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" cy="8785098"/>
            </a:xfrm>
            <a:custGeom>
              <a:avLst/>
              <a:gdLst/>
              <a:ahLst/>
              <a:cxnLst/>
              <a:rect r="r" b="b" t="t" l="l"/>
              <a:pathLst>
                <a:path h="8785098" w="50800">
                  <a:moveTo>
                    <a:pt x="0" y="0"/>
                  </a:moveTo>
                  <a:lnTo>
                    <a:pt x="50800" y="0"/>
                  </a:lnTo>
                  <a:lnTo>
                    <a:pt x="50800" y="8785098"/>
                  </a:lnTo>
                  <a:lnTo>
                    <a:pt x="0" y="8785098"/>
                  </a:lnTo>
                  <a:close/>
                </a:path>
              </a:pathLst>
            </a:custGeom>
            <a:solidFill>
              <a:srgbClr val="33334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15048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Process Flow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0146" y="2918803"/>
            <a:ext cx="7366816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Data Flow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92235" y="4021931"/>
            <a:ext cx="164725" cy="164725"/>
            <a:chOff x="0" y="0"/>
            <a:chExt cx="219634" cy="21963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26842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a person does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92235" y="4845529"/>
            <a:ext cx="164725" cy="164725"/>
            <a:chOff x="0" y="0"/>
            <a:chExt cx="219634" cy="2196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26842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e.g. Handing a receipt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92235" y="5669137"/>
            <a:ext cx="164725" cy="164725"/>
            <a:chOff x="0" y="0"/>
            <a:chExt cx="219634" cy="21963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6842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Physical actions and decisions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2235" y="6492745"/>
            <a:ext cx="164725" cy="164725"/>
            <a:chOff x="0" y="0"/>
            <a:chExt cx="219634" cy="21963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26842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Visible to the customer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677343" y="4021931"/>
            <a:ext cx="164725" cy="164725"/>
            <a:chOff x="0" y="0"/>
            <a:chExt cx="219634" cy="21963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0111950" y="3889200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the system does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677343" y="4845529"/>
            <a:ext cx="164725" cy="164725"/>
            <a:chOff x="0" y="0"/>
            <a:chExt cx="219634" cy="21963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0111950" y="4712808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e.g. Storing Transaction ID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677343" y="5669137"/>
            <a:ext cx="164725" cy="164725"/>
            <a:chOff x="0" y="0"/>
            <a:chExt cx="219634" cy="21963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0111950" y="5536406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Silent, automatic, invisible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677343" y="6492745"/>
            <a:ext cx="164725" cy="164725"/>
            <a:chOff x="0" y="0"/>
            <a:chExt cx="219634" cy="2196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9583" cy="219583"/>
            </a:xfrm>
            <a:custGeom>
              <a:avLst/>
              <a:gdLst/>
              <a:ahLst/>
              <a:cxnLst/>
              <a:rect r="r" b="b" t="t" l="l"/>
              <a:pathLst>
                <a:path h="219583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11950" y="6360014"/>
            <a:ext cx="6955012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analyst bridges both worlds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264732" y="6710048"/>
            <a:ext cx="3178016" cy="3178016"/>
          </a:xfrm>
          <a:custGeom>
            <a:avLst/>
            <a:gdLst/>
            <a:ahLst/>
            <a:cxnLst/>
            <a:rect r="r" b="b" t="t" l="l"/>
            <a:pathLst>
              <a:path h="3178016" w="3178016">
                <a:moveTo>
                  <a:pt x="0" y="0"/>
                </a:moveTo>
                <a:lnTo>
                  <a:pt x="3178016" y="0"/>
                </a:lnTo>
                <a:lnTo>
                  <a:pt x="3178016" y="3178016"/>
                </a:lnTo>
                <a:lnTo>
                  <a:pt x="0" y="3178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SWIMLANES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Swimlane Diagrams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Divide the flowchart by WHO owns each task: Sales, Finance, Customer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Swimlanes make Handoffs visible -- and handoffs are where most errors occur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When responsibility crosses a lane boundary, risk increases sharply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Each lane is accountable for its own steps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Rule: if more than 15 boxes, break into sub-processes -- clarity is king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QUALITY CHECK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Validation — Walking the Flow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Take one real transaction and walk it through your flowchart step by step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Can it complete successfully without getting stuck or looping forever?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If it gets stuck, your logic has a gap before you ever write one line of code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 the exception paths, not just the happy path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 airline with a logic error that allows double-booking costs millions per incident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338708" y="6838655"/>
            <a:ext cx="3620310" cy="3448345"/>
          </a:xfrm>
          <a:custGeom>
            <a:avLst/>
            <a:gdLst/>
            <a:ahLst/>
            <a:cxnLst/>
            <a:rect r="r" b="b" t="t" l="l"/>
            <a:pathLst>
              <a:path h="3448345" w="3620310">
                <a:moveTo>
                  <a:pt x="0" y="0"/>
                </a:moveTo>
                <a:lnTo>
                  <a:pt x="3620310" y="0"/>
                </a:lnTo>
                <a:lnTo>
                  <a:pt x="3620310" y="3448345"/>
                </a:lnTo>
                <a:lnTo>
                  <a:pt x="0" y="3448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77773" y="320259"/>
            <a:ext cx="1628918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STAKES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" y="2114255"/>
            <a:ext cx="18114845" cy="296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8"/>
              </a:lnSpc>
            </a:pPr>
            <a:r>
              <a:rPr lang="en-US" sz="19515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$0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64112" y="5314655"/>
            <a:ext cx="15369502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3"/>
              </a:lnSpc>
            </a:pPr>
            <a:r>
              <a:rPr lang="en-US" sz="42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is the cost of fixing a logic error on paper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4395" y="6190955"/>
            <a:ext cx="1653921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same error in production, after data has flowed through it, costs thousands. Map first, build second.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64725" cy="10295039"/>
            <a:chOff x="0" y="0"/>
            <a:chExt cx="219634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583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19583">
                  <a:moveTo>
                    <a:pt x="0" y="0"/>
                  </a:moveTo>
                  <a:lnTo>
                    <a:pt x="219583" y="0"/>
                  </a:lnTo>
                  <a:lnTo>
                    <a:pt x="219583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95039" y="-2059010"/>
            <a:ext cx="9608706" cy="9608706"/>
            <a:chOff x="0" y="0"/>
            <a:chExt cx="12811608" cy="12811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811506" cy="12811506"/>
            </a:xfrm>
            <a:custGeom>
              <a:avLst/>
              <a:gdLst/>
              <a:ahLst/>
              <a:cxnLst/>
              <a:rect r="r" b="b" t="t" l="l"/>
              <a:pathLst>
                <a:path h="12811506" w="12811506">
                  <a:moveTo>
                    <a:pt x="0" y="6405753"/>
                  </a:moveTo>
                  <a:cubicBezTo>
                    <a:pt x="0" y="2867914"/>
                    <a:pt x="2867914" y="0"/>
                    <a:pt x="6405753" y="0"/>
                  </a:cubicBezTo>
                  <a:cubicBezTo>
                    <a:pt x="9943592" y="0"/>
                    <a:pt x="12811506" y="2867914"/>
                    <a:pt x="12811506" y="6405753"/>
                  </a:cubicBezTo>
                  <a:cubicBezTo>
                    <a:pt x="12811506" y="9943592"/>
                    <a:pt x="9943592" y="12811506"/>
                    <a:pt x="6405753" y="12811506"/>
                  </a:cubicBezTo>
                  <a:cubicBezTo>
                    <a:pt x="2867914" y="12811506"/>
                    <a:pt x="0" y="9943592"/>
                    <a:pt x="0" y="6405753"/>
                  </a:cubicBezTo>
                  <a:close/>
                </a:path>
              </a:pathLst>
            </a:custGeom>
            <a:solidFill>
              <a:srgbClr val="182838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1955985" y="518853"/>
            <a:ext cx="6286814" cy="4628666"/>
          </a:xfrm>
          <a:custGeom>
            <a:avLst/>
            <a:gdLst/>
            <a:ahLst/>
            <a:cxnLst/>
            <a:rect r="r" b="b" t="t" l="l"/>
            <a:pathLst>
              <a:path h="4628666" w="6286814">
                <a:moveTo>
                  <a:pt x="0" y="0"/>
                </a:moveTo>
                <a:lnTo>
                  <a:pt x="6286814" y="0"/>
                </a:lnTo>
                <a:lnTo>
                  <a:pt x="6286814" y="4628667"/>
                </a:lnTo>
                <a:lnTo>
                  <a:pt x="0" y="4628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77773" y="3879675"/>
            <a:ext cx="1628918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SECTION 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7773" y="4575543"/>
            <a:ext cx="1491651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Tooling &amp;</a:t>
            </a:r>
          </a:p>
          <a:p>
            <a:pPr algn="l">
              <a:lnSpc>
                <a:spcPts val="10808"/>
              </a:lnSpc>
            </a:pPr>
            <a:r>
              <a:rPr lang="en-US" sz="9007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Human Touch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7773" y="7860430"/>
            <a:ext cx="1354384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Where logic becomes visual and ethics become real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80431" y="2882608"/>
            <a:ext cx="4334208" cy="5902490"/>
            <a:chOff x="0" y="0"/>
            <a:chExt cx="5778944" cy="78699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blipFill>
              <a:blip r:embed="rId2">
                <a:alphaModFix amt="30000"/>
              </a:blip>
              <a:stretch>
                <a:fillRect l="0" t="0" r="-219470" b="-1729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51914" y="2882608"/>
            <a:ext cx="4334208" cy="5902490"/>
            <a:chOff x="0" y="0"/>
            <a:chExt cx="5778944" cy="7869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blipFill>
              <a:blip r:embed="rId3">
                <a:alphaModFix amt="15000"/>
              </a:blip>
              <a:stretch>
                <a:fillRect l="-18090" t="0" r="-1809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423397" y="2882608"/>
            <a:ext cx="4334208" cy="5902490"/>
            <a:chOff x="0" y="0"/>
            <a:chExt cx="5778944" cy="78699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blipFill>
              <a:blip r:embed="rId4">
                <a:alphaModFix amt="15000"/>
              </a:blip>
              <a:stretch>
                <a:fillRect l="-21486" t="0" r="-21486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894880" y="2882608"/>
            <a:ext cx="4334208" cy="5902490"/>
            <a:chOff x="0" y="0"/>
            <a:chExt cx="5778944" cy="78699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79008" cy="7869936"/>
            </a:xfrm>
            <a:custGeom>
              <a:avLst/>
              <a:gdLst/>
              <a:ahLst/>
              <a:cxnLst/>
              <a:rect r="r" b="b" t="t" l="l"/>
              <a:pathLst>
                <a:path h="7869936" w="5779008">
                  <a:moveTo>
                    <a:pt x="0" y="0"/>
                  </a:moveTo>
                  <a:lnTo>
                    <a:pt x="5779008" y="0"/>
                  </a:lnTo>
                  <a:lnTo>
                    <a:pt x="5779008" y="7869936"/>
                  </a:lnTo>
                  <a:lnTo>
                    <a:pt x="0" y="7869936"/>
                  </a:lnTo>
                  <a:close/>
                </a:path>
              </a:pathLst>
            </a:custGeom>
            <a:blipFill>
              <a:blip r:embed="rId5">
                <a:alphaModFix amt="20999"/>
              </a:blip>
              <a:stretch>
                <a:fillRect l="-30824" t="0" r="-11619" b="-12645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TOOLS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9146" y="997067"/>
            <a:ext cx="1628918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Tools for Building Flow Maps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1871" y="3065602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Lucidchart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7773" y="4016950"/>
            <a:ext cx="373953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Cloud-based,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collaborative,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shares easily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043354" y="3065602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Miro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249256" y="4016950"/>
            <a:ext cx="373953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Infinite canvas,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great for workshops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and brainstorming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14837" y="3065602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Visio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20739" y="4016950"/>
            <a:ext cx="373953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Microsoft standard,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enterprise-grade,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full ISO symbol set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986320" y="3065602"/>
            <a:ext cx="4151328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2"/>
              </a:lnSpc>
            </a:pPr>
            <a:r>
              <a:rPr lang="en-US" sz="3002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Excel SmartArt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92221" y="4016950"/>
            <a:ext cx="373953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Keeps your logic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next to your data.</a:t>
            </a:r>
          </a:p>
          <a:p>
            <a:pPr algn="ctr">
              <a:lnSpc>
                <a:spcPts val="2702"/>
              </a:lnSpc>
            </a:pPr>
            <a:r>
              <a:rPr lang="en-US" sz="225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No extra software.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9146" y="8958567"/>
            <a:ext cx="16838257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i="true">
                <a:solidFill>
                  <a:srgbClr val="667788"/>
                </a:solidFill>
                <a:latin typeface="Inter Italics"/>
                <a:ea typeface="Inter Italics"/>
                <a:cs typeface="Inter Italics"/>
                <a:sym typeface="Inter Italics"/>
              </a:rPr>
              <a:t>A napkin and a pen are still the best starting point. Tools only formalize what your mind already mapped.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SECTION 4  •  VISUAL DESIGN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Alignment &amp; Aesthetics in Flowcharts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795082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consistent color coding: Processes = Blue, Decisions = Yellow, Terminators = Red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Align all shapes to a grid, misaligned boxes signal sloppy thinking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Visual consistency reduces the cognitive load on the viewer by up to 40%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One font. Two sizes. No gradients. Clarity over decoration.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someone can't read your chart in 30 seconds, redraw it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 DIAGNOSTIC CONNECTION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'Systemic' Why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numbers dropped, but why? Go back to the flowchart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Look for the Decision node that is rejecting too many records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A misconfigured rule in one diamond can silently corrupt every downstream number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Descriptive tells you what fell. The flowchart tells you where it fell from.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Analytics without process knowledge is pattern-matching in the dark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HUMAN TOUCH.....AGAIN!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997067"/>
            <a:ext cx="16289188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6"/>
              </a:lnSpc>
            </a:pPr>
            <a:r>
              <a:rPr lang="en-US" sz="6605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Gray Area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D1A2D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9069" y="2813980"/>
            <a:ext cx="7961500" cy="5902490"/>
            <a:chOff x="0" y="0"/>
            <a:chExt cx="10615333" cy="78699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5295" cy="7869936"/>
            </a:xfrm>
            <a:custGeom>
              <a:avLst/>
              <a:gdLst/>
              <a:ahLst/>
              <a:cxnLst/>
              <a:rect r="r" b="b" t="t" l="l"/>
              <a:pathLst>
                <a:path h="7869936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0122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40509" y="4634646"/>
            <a:ext cx="77786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Machines Handle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0509" y="5467779"/>
            <a:ext cx="77786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The Yes / No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6411" y="6222749"/>
            <a:ext cx="7366816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Binary decisions.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Clear thresholds.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Fast, scalable,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consistent.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745970" y="2813980"/>
            <a:ext cx="7961500" cy="5902490"/>
            <a:chOff x="0" y="0"/>
            <a:chExt cx="10615333" cy="786998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15295" cy="7869936"/>
            </a:xfrm>
            <a:custGeom>
              <a:avLst/>
              <a:gdLst/>
              <a:ahLst/>
              <a:cxnLst/>
              <a:rect r="r" b="b" t="t" l="l"/>
              <a:pathLst>
                <a:path h="7869936" w="10615295">
                  <a:moveTo>
                    <a:pt x="0" y="0"/>
                  </a:moveTo>
                  <a:lnTo>
                    <a:pt x="10615295" y="0"/>
                  </a:lnTo>
                  <a:lnTo>
                    <a:pt x="10615295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140E2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837410" y="4634646"/>
            <a:ext cx="77786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3"/>
              </a:lnSpc>
            </a:pPr>
            <a:r>
              <a:rPr lang="en-US" sz="3602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Humans Handle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37410" y="5467779"/>
            <a:ext cx="777862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The Maybe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43312" y="6222749"/>
            <a:ext cx="7366816" cy="144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Edge cases.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Context &amp; nuance.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 flow must have</a:t>
            </a:r>
          </a:p>
          <a:p>
            <a:pPr algn="ctr">
              <a:lnSpc>
                <a:spcPts val="2882"/>
              </a:lnSpc>
            </a:pPr>
            <a:r>
              <a:rPr lang="en-US" sz="240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 Escalate to Human path.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25845" y="4850073"/>
            <a:ext cx="667583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67"/>
              </a:lnSpc>
            </a:pPr>
            <a:r>
              <a:rPr lang="en-US" sz="7806" b="true">
                <a:solidFill>
                  <a:srgbClr val="667788"/>
                </a:solidFill>
                <a:latin typeface="Inter Bold"/>
                <a:ea typeface="Inter Bold"/>
                <a:cs typeface="Inter Bold"/>
                <a:sym typeface="Inter Bold"/>
              </a:rPr>
              <a:t>+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ETHICS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The Ethics of Automated Logic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An AI automatically rejects resumes based on a single keyword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your logic is biased, your automation runs that bias at industrial scale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One flawed decision diamond rejects thousands before a human notices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Automation amplifies, both accuracy and error, both fairness and discrimination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 automated flow must have an audit trail and a human override path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9" y="2470814"/>
            <a:ext cx="76257" cy="5216157"/>
            <a:chOff x="0" y="0"/>
            <a:chExt cx="101676" cy="69548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1727" cy="6954901"/>
            </a:xfrm>
            <a:custGeom>
              <a:avLst/>
              <a:gdLst/>
              <a:ahLst/>
              <a:cxnLst/>
              <a:rect r="r" b="b" t="t" l="l"/>
              <a:pathLst>
                <a:path h="6954901" w="101727">
                  <a:moveTo>
                    <a:pt x="0" y="0"/>
                  </a:moveTo>
                  <a:lnTo>
                    <a:pt x="101727" y="0"/>
                  </a:lnTo>
                  <a:lnTo>
                    <a:pt x="101727" y="6954901"/>
                  </a:lnTo>
                  <a:lnTo>
                    <a:pt x="0" y="6954901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52312" y="1418396"/>
            <a:ext cx="1143952" cy="274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6"/>
              </a:lnSpc>
            </a:pPr>
            <a:r>
              <a:rPr lang="en-US" sz="18014" b="true">
                <a:solidFill>
                  <a:srgbClr val="222233"/>
                </a:solidFill>
                <a:latin typeface="Inter Bold"/>
                <a:ea typeface="Inter Bold"/>
                <a:cs typeface="Inter Bold"/>
                <a:sym typeface="Inter Bold"/>
              </a:rPr>
              <a:t>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8646" y="2928328"/>
            <a:ext cx="15191051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 every change you suggest to a process, ask:</a:t>
            </a:r>
          </a:p>
          <a:p>
            <a:pPr algn="l">
              <a:lnSpc>
                <a:spcPts val="5764"/>
              </a:lnSpc>
            </a:pPr>
          </a:p>
          <a:p>
            <a:pPr algn="l">
              <a:lnSpc>
                <a:spcPts val="5764"/>
              </a:lnSpc>
            </a:pPr>
            <a:r>
              <a:rPr lang="en-US" sz="480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What happens to the next person in the chain?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9069" y="619125"/>
            <a:ext cx="1519105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 b="true">
                <a:solidFill>
                  <a:srgbClr val="33CCFF"/>
                </a:solidFill>
                <a:latin typeface="Inter Bold"/>
                <a:ea typeface="Inter Bold"/>
                <a:cs typeface="Inter Bold"/>
                <a:sym typeface="Inter Bold"/>
              </a:rPr>
              <a:t>Soft Skill: CRITICAL THINKING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CRITICAL THINKING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Spotting AI-Built Flows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If a flowchart looks perfect with zero exceptions, a machine built it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Real business processes have noise -- edge cases, workarounds, legacy rules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214" y="4383367"/>
            <a:ext cx="1560285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401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The AI optimizes for the clean path; reality is full of dirty paths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17706" y="5243608"/>
            <a:ext cx="192176" cy="192176"/>
            <a:chOff x="0" y="0"/>
            <a:chExt cx="256235" cy="25623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79764" y="5060175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Your value as an analyst: knowing which exceptions matter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17706" y="6094666"/>
            <a:ext cx="192176" cy="192176"/>
            <a:chOff x="0" y="0"/>
            <a:chExt cx="256235" cy="2562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79764" y="5911234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 it: walk a difficult real case through the 'perfect' flow and see where it breaks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97725" cy="82363"/>
            <a:chOff x="0" y="0"/>
            <a:chExt cx="24396967" cy="1098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96954" cy="109855"/>
            </a:xfrm>
            <a:custGeom>
              <a:avLst/>
              <a:gdLst/>
              <a:ahLst/>
              <a:cxnLst/>
              <a:rect r="r" b="b" t="t" l="l"/>
              <a:pathLst>
                <a:path h="109855" w="24396954">
                  <a:moveTo>
                    <a:pt x="0" y="0"/>
                  </a:moveTo>
                  <a:lnTo>
                    <a:pt x="24396954" y="0"/>
                  </a:lnTo>
                  <a:lnTo>
                    <a:pt x="2439695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709146" y="338185"/>
            <a:ext cx="10798502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true">
                <a:solidFill>
                  <a:srgbClr val="D1A2D6"/>
                </a:solidFill>
                <a:latin typeface="Inter Bold"/>
                <a:ea typeface="Inter Bold"/>
                <a:cs typeface="Inter Bold"/>
                <a:sym typeface="Inter Bold"/>
              </a:rPr>
              <a:t>SUMMARY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9146" y="1016117"/>
            <a:ext cx="16289188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5"/>
              </a:lnSpc>
            </a:pPr>
            <a:r>
              <a:rPr lang="en-US" sz="6304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What We Covered This Week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17706" y="2361000"/>
            <a:ext cx="3294412" cy="38129"/>
            <a:chOff x="0" y="0"/>
            <a:chExt cx="4392549" cy="508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2549" cy="50800"/>
            </a:xfrm>
            <a:custGeom>
              <a:avLst/>
              <a:gdLst/>
              <a:ahLst/>
              <a:cxnLst/>
              <a:rect r="r" b="b" t="t" l="l"/>
              <a:pathLst>
                <a:path h="50800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617706" y="3102235"/>
            <a:ext cx="192176" cy="192176"/>
            <a:chOff x="0" y="0"/>
            <a:chExt cx="256235" cy="25623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9764" y="2918803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Systems Thinking: every business is a network of interacting parts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17706" y="3953294"/>
            <a:ext cx="192176" cy="192176"/>
            <a:chOff x="0" y="0"/>
            <a:chExt cx="256235" cy="256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9764" y="3769862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Flowchart Symbols: the universal ISO language of logic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17706" y="4804353"/>
            <a:ext cx="192176" cy="192176"/>
            <a:chOff x="0" y="0"/>
            <a:chExt cx="256235" cy="2562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79764" y="4620920"/>
            <a:ext cx="16014659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Process Mapping: As-Is to To-Be, bottlenecks, swimlanes, validation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17706" y="5655412"/>
            <a:ext cx="192176" cy="192176"/>
            <a:chOff x="0" y="0"/>
            <a:chExt cx="256235" cy="256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56286" cy="256286"/>
            </a:xfrm>
            <a:custGeom>
              <a:avLst/>
              <a:gdLst/>
              <a:ahLst/>
              <a:cxnLst/>
              <a:rect r="r" b="b" t="t" l="l"/>
              <a:pathLst>
                <a:path h="256286" w="256286">
                  <a:moveTo>
                    <a:pt x="0" y="0"/>
                  </a:moveTo>
                  <a:lnTo>
                    <a:pt x="256286" y="0"/>
                  </a:lnTo>
                  <a:lnTo>
                    <a:pt x="256286" y="256286"/>
                  </a:lnTo>
                  <a:lnTo>
                    <a:pt x="0" y="256286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79764" y="5471979"/>
            <a:ext cx="16855621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Human Touch: machines handle Yes/No, humans handle Maybe, ethics handles everything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90686" y="-1372676"/>
            <a:ext cx="12354049" cy="12354049"/>
            <a:chOff x="0" y="0"/>
            <a:chExt cx="16472065" cy="164720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472154" cy="16472154"/>
            </a:xfrm>
            <a:custGeom>
              <a:avLst/>
              <a:gdLst/>
              <a:ahLst/>
              <a:cxnLst/>
              <a:rect r="r" b="b" t="t" l="l"/>
              <a:pathLst>
                <a:path h="16472154" w="16472154">
                  <a:moveTo>
                    <a:pt x="0" y="8236077"/>
                  </a:moveTo>
                  <a:cubicBezTo>
                    <a:pt x="0" y="3687445"/>
                    <a:pt x="3687445" y="0"/>
                    <a:pt x="8236077" y="0"/>
                  </a:cubicBezTo>
                  <a:cubicBezTo>
                    <a:pt x="12784710" y="0"/>
                    <a:pt x="16472154" y="3687445"/>
                    <a:pt x="16472154" y="8236077"/>
                  </a:cubicBezTo>
                  <a:cubicBezTo>
                    <a:pt x="16472154" y="12784710"/>
                    <a:pt x="12784710" y="16472154"/>
                    <a:pt x="8236077" y="16472154"/>
                  </a:cubicBezTo>
                  <a:cubicBezTo>
                    <a:pt x="3687445" y="16472154"/>
                    <a:pt x="0" y="12784709"/>
                    <a:pt x="0" y="8236077"/>
                  </a:cubicBezTo>
                  <a:close/>
                </a:path>
              </a:pathLst>
            </a:custGeom>
            <a:solidFill>
              <a:srgbClr val="0A1622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277556" y="1439307"/>
            <a:ext cx="8780310" cy="7408386"/>
          </a:xfrm>
          <a:custGeom>
            <a:avLst/>
            <a:gdLst/>
            <a:ahLst/>
            <a:cxnLst/>
            <a:rect r="r" b="b" t="t" l="l"/>
            <a:pathLst>
              <a:path h="7408386" w="8780310">
                <a:moveTo>
                  <a:pt x="0" y="0"/>
                </a:moveTo>
                <a:lnTo>
                  <a:pt x="8780310" y="0"/>
                </a:lnTo>
                <a:lnTo>
                  <a:pt x="8780310" y="7408386"/>
                </a:lnTo>
                <a:lnTo>
                  <a:pt x="0" y="7408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0" y="0"/>
            <a:ext cx="123539" cy="10295039"/>
            <a:chOff x="0" y="0"/>
            <a:chExt cx="164719" cy="1372671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719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64719">
                  <a:moveTo>
                    <a:pt x="0" y="0"/>
                  </a:moveTo>
                  <a:lnTo>
                    <a:pt x="164719" y="0"/>
                  </a:lnTo>
                  <a:lnTo>
                    <a:pt x="164719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571871" y="2781538"/>
            <a:ext cx="12171169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1"/>
              </a:lnSpc>
            </a:pPr>
            <a:r>
              <a:rPr lang="en-US" sz="12009" b="true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Let's Talk.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1871" y="5193240"/>
            <a:ext cx="10798502" cy="127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Logic is the beginning of wisdom,</a:t>
            </a:r>
          </a:p>
          <a:p>
            <a:pPr algn="l">
              <a:lnSpc>
                <a:spcPts val="5043"/>
              </a:lnSpc>
            </a:pPr>
            <a:r>
              <a:rPr lang="en-US" sz="4203">
                <a:solidFill>
                  <a:srgbClr val="D1A2D6"/>
                </a:solidFill>
                <a:latin typeface="Inter"/>
                <a:ea typeface="Inter"/>
                <a:cs typeface="Inter"/>
                <a:sym typeface="Inter"/>
              </a:rPr>
              <a:t>not the end.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80431" y="7000627"/>
            <a:ext cx="6177029" cy="38129"/>
            <a:chOff x="0" y="0"/>
            <a:chExt cx="8236039" cy="50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236077" cy="50800"/>
            </a:xfrm>
            <a:custGeom>
              <a:avLst/>
              <a:gdLst/>
              <a:ahLst/>
              <a:cxnLst/>
              <a:rect r="r" b="b" t="t" l="l"/>
              <a:pathLst>
                <a:path h="50800" w="8236077">
                  <a:moveTo>
                    <a:pt x="0" y="0"/>
                  </a:moveTo>
                  <a:lnTo>
                    <a:pt x="8236077" y="0"/>
                  </a:lnTo>
                  <a:lnTo>
                    <a:pt x="823607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33CC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71871" y="7320886"/>
            <a:ext cx="12171169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Lab: 'Customer Refund Loop' assignment, map the full refund process.</a:t>
            </a:r>
          </a:p>
          <a:p>
            <a:pPr algn="l">
              <a:lnSpc>
                <a:spcPts val="3242"/>
              </a:lnSpc>
            </a:pPr>
            <a:r>
              <a:rPr lang="en-US" sz="2702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Next week: Data Visualization.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67420" y="9754714"/>
            <a:ext cx="132706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81"/>
              </a:lnSpc>
            </a:pPr>
            <a:r>
              <a:rPr lang="en-US" sz="1651">
                <a:solidFill>
                  <a:srgbClr val="667788"/>
                </a:solidFill>
                <a:latin typeface="Inter"/>
                <a:ea typeface="Inter"/>
                <a:cs typeface="Inter"/>
                <a:sym typeface="Inter"/>
              </a:rPr>
              <a:t>30 / 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DAHGfP1tXP4</dc:identifier>
  <dcterms:modified xsi:type="dcterms:W3CDTF">2011-08-01T06:04:30Z</dcterms:modified>
  <cp:revision>1</cp:revision>
  <dc:title>BA1 - Week3</dc:title>
</cp:coreProperties>
</file>