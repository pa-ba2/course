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Inter Bold" charset="1" panose="02000503000000020004"/>
      <p:regular r:id="rId36"/>
    </p:embeddedFont>
    <p:embeddedFont>
      <p:font typeface="Inter" charset="1" panose="02000503000000020004"/>
      <p:regular r:id="rId37"/>
    </p:embeddedFont>
    <p:embeddedFont>
      <p:font typeface="Inter Italics" charset="1" panose="020005030000000200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67715" y="-2059010"/>
            <a:ext cx="10295039" cy="10295039"/>
            <a:chOff x="0" y="0"/>
            <a:chExt cx="13726719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2666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3726668">
                  <a:moveTo>
                    <a:pt x="0" y="6863334"/>
                  </a:moveTo>
                  <a:cubicBezTo>
                    <a:pt x="0" y="3072892"/>
                    <a:pt x="3072892" y="0"/>
                    <a:pt x="6863334" y="0"/>
                  </a:cubicBezTo>
                  <a:cubicBezTo>
                    <a:pt x="10653775" y="0"/>
                    <a:pt x="13726668" y="3072892"/>
                    <a:pt x="13726668" y="6863334"/>
                  </a:cubicBezTo>
                  <a:cubicBezTo>
                    <a:pt x="13726668" y="10653775"/>
                    <a:pt x="10653775" y="13726668"/>
                    <a:pt x="6863334" y="13726668"/>
                  </a:cubicBezTo>
                  <a:cubicBezTo>
                    <a:pt x="3072892" y="13726668"/>
                    <a:pt x="0" y="10653903"/>
                    <a:pt x="0" y="6863334"/>
                  </a:cubicBezTo>
                  <a:close/>
                </a:path>
              </a:pathLst>
            </a:custGeom>
            <a:solidFill>
              <a:srgbClr val="0A1A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40392" y="-686333"/>
            <a:ext cx="7549696" cy="7549696"/>
            <a:chOff x="0" y="0"/>
            <a:chExt cx="10066261" cy="100662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66274" cy="10066274"/>
            </a:xfrm>
            <a:custGeom>
              <a:avLst/>
              <a:gdLst/>
              <a:ahLst/>
              <a:cxnLst/>
              <a:rect r="r" b="b" t="t" l="l"/>
              <a:pathLst>
                <a:path h="10066274" w="10066274">
                  <a:moveTo>
                    <a:pt x="0" y="5033137"/>
                  </a:moveTo>
                  <a:cubicBezTo>
                    <a:pt x="0" y="2253361"/>
                    <a:pt x="2253361" y="0"/>
                    <a:pt x="5033137" y="0"/>
                  </a:cubicBezTo>
                  <a:cubicBezTo>
                    <a:pt x="7812913" y="0"/>
                    <a:pt x="10066274" y="2253361"/>
                    <a:pt x="10066274" y="5033137"/>
                  </a:cubicBezTo>
                  <a:cubicBezTo>
                    <a:pt x="10066274" y="7812913"/>
                    <a:pt x="7812913" y="10066274"/>
                    <a:pt x="5033137" y="10066274"/>
                  </a:cubicBezTo>
                  <a:cubicBezTo>
                    <a:pt x="2253361" y="10066274"/>
                    <a:pt x="0" y="7812913"/>
                    <a:pt x="0" y="5033137"/>
                  </a:cubicBezTo>
                  <a:close/>
                </a:path>
              </a:pathLst>
            </a:custGeom>
            <a:solidFill>
              <a:srgbClr val="122232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237228" y="647114"/>
            <a:ext cx="5156015" cy="5329214"/>
          </a:xfrm>
          <a:custGeom>
            <a:avLst/>
            <a:gdLst/>
            <a:ahLst/>
            <a:cxnLst/>
            <a:rect r="r" b="b" t="t" l="l"/>
            <a:pathLst>
              <a:path h="5329214" w="5156015">
                <a:moveTo>
                  <a:pt x="0" y="0"/>
                </a:moveTo>
                <a:lnTo>
                  <a:pt x="5156014" y="0"/>
                </a:lnTo>
                <a:lnTo>
                  <a:pt x="5156014" y="5329214"/>
                </a:lnTo>
                <a:lnTo>
                  <a:pt x="0" y="5329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0"/>
            <a:ext cx="123539" cy="10295039"/>
            <a:chOff x="0" y="0"/>
            <a:chExt cx="164719" cy="137267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71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571871" y="2928328"/>
            <a:ext cx="18495248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10"/>
              </a:lnSpc>
            </a:pPr>
            <a:r>
              <a:rPr lang="en-US" sz="1000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Cleaning the Noise</a:t>
            </a:r>
          </a:p>
          <a:p>
            <a:pPr algn="l">
              <a:lnSpc>
                <a:spcPts val="12010"/>
              </a:lnSpc>
            </a:pPr>
            <a:r>
              <a:rPr lang="en-US" sz="10008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Data Preparation &amp; Integrity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71871" y="7320433"/>
            <a:ext cx="3843480" cy="295275"/>
            <a:chOff x="0" y="0"/>
            <a:chExt cx="5124640" cy="393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24704" cy="393677"/>
            </a:xfrm>
            <a:custGeom>
              <a:avLst/>
              <a:gdLst/>
              <a:ahLst/>
              <a:cxnLst/>
              <a:rect r="r" b="b" t="t" l="l"/>
              <a:pathLst>
                <a:path h="393677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393677"/>
                  </a:lnTo>
                  <a:lnTo>
                    <a:pt x="0" y="393677"/>
                  </a:lnTo>
                  <a:close/>
                </a:path>
              </a:pathLst>
            </a:custGeom>
            <a:solidFill>
              <a:srgbClr val="102030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71871" y="473296"/>
            <a:ext cx="2615214" cy="2615214"/>
          </a:xfrm>
          <a:custGeom>
            <a:avLst/>
            <a:gdLst/>
            <a:ahLst/>
            <a:cxnLst/>
            <a:rect r="r" b="b" t="t" l="l"/>
            <a:pathLst>
              <a:path h="2615214" w="2615214">
                <a:moveTo>
                  <a:pt x="0" y="0"/>
                </a:moveTo>
                <a:lnTo>
                  <a:pt x="2615214" y="0"/>
                </a:lnTo>
                <a:lnTo>
                  <a:pt x="2615214" y="2615214"/>
                </a:lnTo>
                <a:lnTo>
                  <a:pt x="0" y="26152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71871" y="5976328"/>
            <a:ext cx="12857512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Refining the Raw Material Turning Dirty Data into Business Intelligence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1944" y="7310908"/>
            <a:ext cx="352333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WEEK 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01 / 30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77773" y="320259"/>
            <a:ext cx="162891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CLEANING MANDATE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" y="2114255"/>
            <a:ext cx="18114845" cy="296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8"/>
              </a:lnSpc>
            </a:pPr>
            <a:r>
              <a:rPr lang="en-US" sz="19515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80 / 20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9249" y="5314655"/>
            <a:ext cx="1536950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80% of your time cleaning data. 20% finding insights.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50450" y="6190955"/>
            <a:ext cx="1399682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You cannot question data you haven't scrubbed. The chart comes last, not first.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02 / 30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 THE CLEANING MANDATE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High Cost of Dirty Data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marketing firm sends 10,000 physical mailers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Duplicate entries mean 1,500 people receive the same mailer twice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Result: wasted budget, annoyed customers, and a 15% error in ROI calculation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mistake wasn't in the campaign it was in the database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Clean data is not a detail. It is the product.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80431" y="2882608"/>
            <a:ext cx="4334208" cy="5902490"/>
            <a:chOff x="0" y="0"/>
            <a:chExt cx="5778944" cy="78699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79008" cy="7869936"/>
            </a:xfrm>
            <a:custGeom>
              <a:avLst/>
              <a:gdLst/>
              <a:ahLst/>
              <a:cxnLst/>
              <a:rect r="r" b="b" t="t" l="l"/>
              <a:pathLst>
                <a:path h="7869936" w="5779008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51914" y="2882608"/>
            <a:ext cx="4334208" cy="5902490"/>
            <a:chOff x="0" y="0"/>
            <a:chExt cx="5778944" cy="78699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79008" cy="7869936"/>
            </a:xfrm>
            <a:custGeom>
              <a:avLst/>
              <a:gdLst/>
              <a:ahLst/>
              <a:cxnLst/>
              <a:rect r="r" b="b" t="t" l="l"/>
              <a:pathLst>
                <a:path h="7869936" w="5779008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23397" y="2882608"/>
            <a:ext cx="4334208" cy="5902490"/>
            <a:chOff x="0" y="0"/>
            <a:chExt cx="5778944" cy="78699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79008" cy="7869936"/>
            </a:xfrm>
            <a:custGeom>
              <a:avLst/>
              <a:gdLst/>
              <a:ahLst/>
              <a:cxnLst/>
              <a:rect r="r" b="b" t="t" l="l"/>
              <a:pathLst>
                <a:path h="7869936" w="5779008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894880" y="2882608"/>
            <a:ext cx="4334208" cy="5902490"/>
            <a:chOff x="0" y="0"/>
            <a:chExt cx="5778944" cy="78699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79008" cy="7869936"/>
            </a:xfrm>
            <a:custGeom>
              <a:avLst/>
              <a:gdLst/>
              <a:ahLst/>
              <a:cxnLst/>
              <a:rect r="r" b="b" t="t" l="l"/>
              <a:pathLst>
                <a:path h="7869936" w="5779008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230981" y="5750500"/>
            <a:ext cx="2681136" cy="2681136"/>
          </a:xfrm>
          <a:custGeom>
            <a:avLst/>
            <a:gdLst/>
            <a:ahLst/>
            <a:cxnLst/>
            <a:rect r="r" b="b" t="t" l="l"/>
            <a:pathLst>
              <a:path h="2681136" w="2681136">
                <a:moveTo>
                  <a:pt x="0" y="0"/>
                </a:moveTo>
                <a:lnTo>
                  <a:pt x="2681137" y="0"/>
                </a:lnTo>
                <a:lnTo>
                  <a:pt x="2681137" y="2681136"/>
                </a:lnTo>
                <a:lnTo>
                  <a:pt x="0" y="2681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771718" y="5750500"/>
            <a:ext cx="2694609" cy="2681136"/>
          </a:xfrm>
          <a:custGeom>
            <a:avLst/>
            <a:gdLst/>
            <a:ahLst/>
            <a:cxnLst/>
            <a:rect r="r" b="b" t="t" l="l"/>
            <a:pathLst>
              <a:path h="2681136" w="2694609">
                <a:moveTo>
                  <a:pt x="0" y="0"/>
                </a:moveTo>
                <a:lnTo>
                  <a:pt x="2694610" y="0"/>
                </a:lnTo>
                <a:lnTo>
                  <a:pt x="2694610" y="2681136"/>
                </a:lnTo>
                <a:lnTo>
                  <a:pt x="0" y="268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49933" y="5833853"/>
            <a:ext cx="2681136" cy="2681136"/>
          </a:xfrm>
          <a:custGeom>
            <a:avLst/>
            <a:gdLst/>
            <a:ahLst/>
            <a:cxnLst/>
            <a:rect r="r" b="b" t="t" l="l"/>
            <a:pathLst>
              <a:path h="2681136" w="2681136">
                <a:moveTo>
                  <a:pt x="0" y="0"/>
                </a:moveTo>
                <a:lnTo>
                  <a:pt x="2681136" y="0"/>
                </a:lnTo>
                <a:lnTo>
                  <a:pt x="2681136" y="2681136"/>
                </a:lnTo>
                <a:lnTo>
                  <a:pt x="0" y="26811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707874" y="5833853"/>
            <a:ext cx="2708218" cy="2681136"/>
          </a:xfrm>
          <a:custGeom>
            <a:avLst/>
            <a:gdLst/>
            <a:ahLst/>
            <a:cxnLst/>
            <a:rect r="r" b="b" t="t" l="l"/>
            <a:pathLst>
              <a:path h="2681136" w="2708218">
                <a:moveTo>
                  <a:pt x="0" y="0"/>
                </a:moveTo>
                <a:lnTo>
                  <a:pt x="2708219" y="0"/>
                </a:lnTo>
                <a:lnTo>
                  <a:pt x="2708219" y="2681136"/>
                </a:lnTo>
                <a:lnTo>
                  <a:pt x="0" y="2681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SECTION 1  •  DIRTY DATA DEFINED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9146" y="997067"/>
            <a:ext cx="1628918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Four Faces of Dirty Data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1871" y="3065602"/>
            <a:ext cx="41513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Duplicates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7773" y="4016950"/>
            <a:ext cx="373953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same record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appears more than once.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Inflates counts,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skews totals.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43354" y="3065602"/>
            <a:ext cx="41513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Inconsistencies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49256" y="4016950"/>
            <a:ext cx="373953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Same value,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different formats.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'UAE' vs 'U.A.E.'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vs 'Dubai'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14837" y="3065602"/>
            <a:ext cx="41513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Missing Values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20739" y="4016950"/>
            <a:ext cx="373953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Empty cells,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Nulls, N/A.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Silently corrupt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averages and sums.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986320" y="3065602"/>
            <a:ext cx="41513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Outliers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92221" y="4016950"/>
            <a:ext cx="373953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Values far outside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normal range.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Real event or typo?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Investigate first.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04 / 30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STANDARD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Golden Record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One single, perfect, agreed-upon version of every data point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'J. Doe', 'John Doe', and 'Johnathan Doe' which one is the truth?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65" y="454138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You must decide on a standard and enforce it across every system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Golden Record is the outcome of your cleaning process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Without it, every department has a different answer to the same question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05 / 30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769911" y="-584137"/>
            <a:ext cx="6658961" cy="6658961"/>
          </a:xfrm>
          <a:custGeom>
            <a:avLst/>
            <a:gdLst/>
            <a:ahLst/>
            <a:cxnLst/>
            <a:rect r="r" b="b" t="t" l="l"/>
            <a:pathLst>
              <a:path h="6658961" w="6658961">
                <a:moveTo>
                  <a:pt x="0" y="0"/>
                </a:moveTo>
                <a:lnTo>
                  <a:pt x="6658961" y="0"/>
                </a:lnTo>
                <a:lnTo>
                  <a:pt x="6658961" y="6658961"/>
                </a:lnTo>
                <a:lnTo>
                  <a:pt x="0" y="6658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773" y="5133975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5438775"/>
            <a:ext cx="17016708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Common Data Pathologies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773" y="6800850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Know the enemy before you can fight 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06 / 30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 PATHOLOGIES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Ghost Character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Trailing spaces and non-printable characters hiding inside cells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'Apple' and 'Apple ' look identical to a human to Excel they are different values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This silently breaks VLOOKUPs, Pivot Tables, and every formula that depends on a match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Source: copy-pasting from web browsers, PDFs, or legacy systems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Fix: TRIM() removes spaces. CLEAN() removes non-printable characters.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PATHOLOGIES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Inconsistent Categorization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'Region' column containing: UAE, United Arab Emirates, U.A.E., Dubai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Pivot Table will create four separate rows instead of one summed total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Your 'Sales by Country' report is now fiction four partial truths, no whole truth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is the most common error in real business data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Fix: Find &amp; Replace or Power Query 'Replace Values' to standardize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08 / 30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OUTLIERS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Outlier: Friend or Foe?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26449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Real 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1547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Dirty Data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03637" y="5212728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38243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$2,000 restaurant check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3637" y="6036326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38243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wedding party of 40 people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3637" y="6859934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38243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Represents a real segment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3637" y="7683541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38243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Delete it = lose the insight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88744" y="5212728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23351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$2,000 check = typo for $20.00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88744" y="6036326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23351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data entry error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88744" y="6859934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23351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Skews the mean catastrophically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88744" y="7683541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23351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Keep it = corrupt the analysis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09 / 30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NULLS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Missing Values: Delete or Impute?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26449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Delete the Row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1547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Impute the Value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03637" y="5212728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38243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Missing value is non-recoverable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3637" y="6036326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38243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Row is not critical to the analysis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3637" y="6859934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38243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is large enough to absorb the loss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3637" y="7683541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38243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Document every deletion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88744" y="5212728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23351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Fill with Mean or Median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88744" y="6036326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23351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when deletion would bias the sample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88744" y="6859934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23351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Must disclose method in your report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88744" y="7683541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23351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Imputation is an estimate -- label it as such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DATES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Date Format Nightmares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01/02/2024 Is that January 2nd (US) or February 1st (UK)?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from different countries silently corrupts time-series 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 merged report from US and UK teams can invert 12 months of trends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Fix: standardize to ISO 8601 format YYYY-MM-DD always, everywhere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Excel tip: format the entire date column immediately on import before any other step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CASE STUDY &amp; CONCEPTS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Duplicates in the Wild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26449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The Duplicate Dividend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1547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Normalization vs. Standardization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03637" y="5212728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38243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Subscription charges customer twice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3637" y="6036326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38243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Two email IDs, same credit card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3637" y="6859934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38243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Clean solution: merge on Payment ID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3637" y="7683541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38243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Email is not always the unique key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88744" y="5212728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23351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Normalization: scale values to 0-1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88744" y="6036326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23351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Standardization: same units throughout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88744" y="6859934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23351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 weights in KG, all prices in USD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88744" y="7683541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23351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Mix units = meaningless averages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922338" y="-431710"/>
            <a:ext cx="6354107" cy="6354107"/>
          </a:xfrm>
          <a:custGeom>
            <a:avLst/>
            <a:gdLst/>
            <a:ahLst/>
            <a:cxnLst/>
            <a:rect r="r" b="b" t="t" l="l"/>
            <a:pathLst>
              <a:path h="6354107" w="6354107">
                <a:moveTo>
                  <a:pt x="0" y="0"/>
                </a:moveTo>
                <a:lnTo>
                  <a:pt x="6354107" y="0"/>
                </a:lnTo>
                <a:lnTo>
                  <a:pt x="6354107" y="6354107"/>
                </a:lnTo>
                <a:lnTo>
                  <a:pt x="0" y="6354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773" y="4270743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4575543"/>
            <a:ext cx="1491651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Excel</a:t>
            </a:r>
          </a:p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Cleaning Toolbox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773" y="7309218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Eight tools every data janitor must master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TOOLBOX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Flash Fill The AI Inside Excel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Type one example of the cleaned version in the adjacent column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Press Ctrl + E, Excel recognizes the pattern and fills every row instantly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No formula needed. No VBA. One keystroke.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Perfect for: extracting first names from emails, splitting addresses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Limitation: pattern must be consistent; inconsistent input breaks the recognition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TOOLBOX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Text-to-Columns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Split one cell into multiple columns using a delimiter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Delimiters: comma, space, semicolon, pipe, tab, any character you choose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65" y="4491218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Essential for handling CSV exports from legacy systems that pack data into one cell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&gt; Text to Columns &gt; Delimited &gt; choose your separator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Also useful for converting text-formatted dates into real Excel date values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TOOLBOX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997067"/>
            <a:ext cx="1628918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Power Washers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882608"/>
            <a:ext cx="5490686" cy="5902490"/>
            <a:chOff x="0" y="0"/>
            <a:chExt cx="7320915" cy="78699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20915" cy="7869936"/>
            </a:xfrm>
            <a:custGeom>
              <a:avLst/>
              <a:gdLst/>
              <a:ahLst/>
              <a:cxnLst/>
              <a:rect r="r" b="b" t="t" l="l"/>
              <a:pathLst>
                <a:path h="7869936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65193" y="3962100"/>
            <a:ext cx="4636889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68"/>
              </a:lnSpc>
            </a:pPr>
            <a:r>
              <a:rPr lang="en-US" sz="9307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=TRIM()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9734" y="5668408"/>
            <a:ext cx="530780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TRIM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5636" y="6629281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Removes all leading,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trailing, and extra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internal spaces.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314294" y="2882608"/>
            <a:ext cx="5490686" cy="5902490"/>
            <a:chOff x="0" y="0"/>
            <a:chExt cx="7320915" cy="78699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20915" cy="7869936"/>
            </a:xfrm>
            <a:custGeom>
              <a:avLst/>
              <a:gdLst/>
              <a:ahLst/>
              <a:cxnLst/>
              <a:rect r="r" b="b" t="t" l="l"/>
              <a:pathLst>
                <a:path h="7869936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306900" y="3962100"/>
            <a:ext cx="5683925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68"/>
              </a:lnSpc>
            </a:pPr>
            <a:r>
              <a:rPr lang="en-US" sz="9307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=CLEAN()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94959" y="5668408"/>
            <a:ext cx="530780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CLEAN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00861" y="6629281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Removes non-printable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characters from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web-scraped data.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148156" y="3065602"/>
            <a:ext cx="5490686" cy="5902490"/>
            <a:chOff x="0" y="0"/>
            <a:chExt cx="7320915" cy="786998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20915" cy="7869936"/>
            </a:xfrm>
            <a:custGeom>
              <a:avLst/>
              <a:gdLst/>
              <a:ahLst/>
              <a:cxnLst/>
              <a:rect r="r" b="b" t="t" l="l"/>
              <a:pathLst>
                <a:path h="7869936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033079" y="3962100"/>
            <a:ext cx="3762018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68"/>
              </a:lnSpc>
            </a:pPr>
            <a:r>
              <a:rPr lang="en-US" sz="9307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Ctrl+H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60185" y="5668408"/>
            <a:ext cx="530780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Find &amp; Replace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66087" y="6629281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Change 'U.S.A' to 'USA'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across 50,000 rows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in under 2 seconds.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9146" y="8958567"/>
            <a:ext cx="168382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i="true">
                <a:solidFill>
                  <a:srgbClr val="FFCC44"/>
                </a:solidFill>
                <a:latin typeface="Inter Italics"/>
                <a:ea typeface="Inter Italics"/>
                <a:cs typeface="Inter Italics"/>
                <a:sym typeface="Inter Italics"/>
              </a:rPr>
              <a:t>Use TRIM and CLEAN together on any column that came from a browser, PDF, or external system.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POWER QUERY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Power Query: Replace Values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Right-click any column &gt; Replace Values, same effect as Find &amp; Replace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critical difference: Power Query records it as an Applied Step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Next month when 'U.S.A.' appears in new data, the system fixes it automatically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Find &amp; Replace is a one-time fix. Power Query is a permanent rule.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Build the rule once. Benefit every single time you refresh.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SECTION 3  •  POWER QUERY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Power Query: Fill Down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Fills empty cells with the value from the cell directly above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Essential for 'Accounting style' reports where the category is listed only once at the top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65" y="494143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 merged region cell with 10 blank rows below becomes 10 rows with the region name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648744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46531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Transform &gt; Fill &gt; Down -- applied as a recorded step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499803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6316370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Without Fill Down, Pivot Tables will create a blank category that absorbs all those rows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STRUCTURE &amp; PREVENTION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Unpivot &amp; Validate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26449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Unpivoting 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1547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Data Validation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03637" y="5212728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38243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Turn Wide tables into Tall tables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3637" y="6036326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38243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'Jan, Feb, Mar' as columns = unusable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3637" y="6859934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38243" y="6727203"/>
            <a:ext cx="695501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Unpivot -&gt; 'Month' column + 'Value' column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3637" y="7683541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38243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Now Pivot Tables and charts work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88744" y="5212728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23351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Best cleaning = never getting dirty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88744" y="6036326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23351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Create dropdown lists for input cells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88744" y="6859934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23351" y="6727203"/>
            <a:ext cx="695501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User can only click 'USA' -- can't type 'U.S.A.'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88744" y="7683541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23351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&gt; Validation &gt; List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145880" y="-200785"/>
            <a:ext cx="5907024" cy="5892257"/>
          </a:xfrm>
          <a:custGeom>
            <a:avLst/>
            <a:gdLst/>
            <a:ahLst/>
            <a:cxnLst/>
            <a:rect r="r" b="b" t="t" l="l"/>
            <a:pathLst>
              <a:path h="5892257" w="5907024">
                <a:moveTo>
                  <a:pt x="0" y="0"/>
                </a:moveTo>
                <a:lnTo>
                  <a:pt x="5907024" y="0"/>
                </a:lnTo>
                <a:lnTo>
                  <a:pt x="5907024" y="5892256"/>
                </a:lnTo>
                <a:lnTo>
                  <a:pt x="0" y="5892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773" y="4270743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4575543"/>
            <a:ext cx="1491651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Ethics &amp;</a:t>
            </a:r>
          </a:p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Human Judgment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773" y="7540171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Where the algorithm ends and the analyst begins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ETHICS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Ethics of Filling in the Blanks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you fill a missing salary with the Average, are you lying?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Not necessarily, but you must disclose the method clearly in your report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65" y="4491218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Transparency is the analyst's shield. 'Imputed values using column median' = honest.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Hidden imputation that affects totals without disclosure = data manipulation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reader has the right to know what is measured and what is estimated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ETHICS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Bias in Cleaning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'Delete all outliers' sounds clean, it may be catastrophic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outlier customers might represent your highest-growth segment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65" y="4491218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Deleting them does not clean your data. It deletes your future.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Always investigate an outlier before making any decision about it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Cleaning bias: the analyst's assumptions shape the data before analysis even begins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2470814"/>
            <a:ext cx="76257" cy="5216157"/>
            <a:chOff x="0" y="0"/>
            <a:chExt cx="101676" cy="69548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727" cy="6954901"/>
            </a:xfrm>
            <a:custGeom>
              <a:avLst/>
              <a:gdLst/>
              <a:ahLst/>
              <a:cxnLst/>
              <a:rect r="r" b="b" t="t" l="l"/>
              <a:pathLst>
                <a:path h="6954901" w="101727">
                  <a:moveTo>
                    <a:pt x="0" y="0"/>
                  </a:moveTo>
                  <a:lnTo>
                    <a:pt x="101727" y="0"/>
                  </a:lnTo>
                  <a:lnTo>
                    <a:pt x="101727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1418396"/>
            <a:ext cx="114395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6"/>
              </a:lnSpc>
            </a:pPr>
            <a:r>
              <a:rPr lang="en-US" sz="18014" b="true">
                <a:solidFill>
                  <a:srgbClr val="222233"/>
                </a:solidFill>
                <a:latin typeface="Inter Bold"/>
                <a:ea typeface="Inter Bold"/>
                <a:cs typeface="Inter Bold"/>
                <a:sym typeface="Inter Bold"/>
              </a:rPr>
              <a:t>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646" y="2928328"/>
            <a:ext cx="15191051" cy="434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 IoT thermometer shows 0 degrees every night at midnight.</a:t>
            </a:r>
          </a:p>
          <a:p>
            <a:pPr algn="l">
              <a:lnSpc>
                <a:spcPts val="5764"/>
              </a:lnSpc>
            </a:pPr>
          </a:p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robot sees 0. A human knows the sensor resets.</a:t>
            </a:r>
          </a:p>
          <a:p>
            <a:pPr algn="l">
              <a:lnSpc>
                <a:spcPts val="5764"/>
              </a:lnSpc>
            </a:pPr>
          </a:p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Logic overrules data.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28700"/>
            <a:ext cx="1519105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The Sensor Error, Human Touch in Action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DOCUMENTATION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Cleaning Log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Document every change: what was removed, why, and when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When a boss asks 'Why is this total different from last year?' show the log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65" y="4491218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 cleaning log is your audit trail and your professional defense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Columns: Date, Action, Rows Affected, Reason, Analyst Name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it isn't documented, it didn't happen, and someone will ask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SOFT SKILL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Sum Test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Sum your dataset before cleaning. Write it down.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Sum your dataset after cleaning. Compare the two.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65" y="4491218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If the total changed in a way you cannot fully explain, you broke the data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legitimate cleaning run removes duplicates: total should decrease predictably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Attention to detail is not a personality trait. It is a professional standard.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 AI IN CLEANING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AI as a Cleaning Tool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45513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AI Is Great At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30611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AI Is Dangerous At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2701" y="5212728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57308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Writing Regex patterns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2701" y="6036326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57308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Cleaning messy text strings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2701" y="6859934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57308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Suggesting column type fixes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2701" y="7683541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57308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Generating TRIM/CLEAN formulas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707809" y="5212728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42415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Deciding which outliers to remove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707809" y="6036326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42415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Choosing an imputation strategy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707809" y="6859934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42415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Interpreting domain-specific nulls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707809" y="7683541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42415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Anything that requires business context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77773" y="320259"/>
            <a:ext cx="162891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PROFESSIONAL STANDARD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" y="2114255"/>
            <a:ext cx="18114845" cy="296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8"/>
              </a:lnSpc>
            </a:pPr>
            <a:r>
              <a:rPr lang="en-US" sz="19515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99%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4112" y="5143500"/>
            <a:ext cx="1536950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clean data is 100% untrusted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50450" y="6019800"/>
            <a:ext cx="1399682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People look for small errors to discredit large insights. Be perfect in the small things.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FULL PIPELINE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Extract -&gt; Clean -&gt; Validate -&gt; Analyze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6333" y="3157147"/>
            <a:ext cx="5284784" cy="5216157"/>
            <a:chOff x="0" y="0"/>
            <a:chExt cx="7046379" cy="69548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6341" cy="6954901"/>
            </a:xfrm>
            <a:custGeom>
              <a:avLst/>
              <a:gdLst/>
              <a:ahLst/>
              <a:cxnLst/>
              <a:rect r="r" b="b" t="t" l="l"/>
              <a:pathLst>
                <a:path h="6954901" w="704634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807118" y="4032666"/>
            <a:ext cx="1043235" cy="1043235"/>
            <a:chOff x="0" y="0"/>
            <a:chExt cx="1390980" cy="13909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90904" cy="1390904"/>
            </a:xfrm>
            <a:custGeom>
              <a:avLst/>
              <a:gdLst/>
              <a:ahLst/>
              <a:cxnLst/>
              <a:rect r="r" b="b" t="t" l="l"/>
              <a:pathLst>
                <a:path h="1390904" w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897329" y="4259009"/>
            <a:ext cx="8603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7778" y="5372900"/>
            <a:ext cx="510190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Extract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5052" y="6411935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Pull from the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source. Never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touch the original.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60035" y="5862866"/>
            <a:ext cx="3594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 b="true">
                <a:solidFill>
                  <a:srgbClr val="667788"/>
                </a:solidFill>
                <a:latin typeface="Inter Bold"/>
                <a:ea typeface="Inter Bold"/>
                <a:cs typeface="Inter Bold"/>
                <a:sym typeface="Inter Bold"/>
              </a:rPr>
              <a:t>&gt;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177029" y="3157147"/>
            <a:ext cx="5284784" cy="5216157"/>
            <a:chOff x="0" y="0"/>
            <a:chExt cx="7046379" cy="69548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6341" cy="6954901"/>
            </a:xfrm>
            <a:custGeom>
              <a:avLst/>
              <a:gdLst/>
              <a:ahLst/>
              <a:cxnLst/>
              <a:rect r="r" b="b" t="t" l="l"/>
              <a:pathLst>
                <a:path h="6954901" w="704634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97813" y="4032666"/>
            <a:ext cx="1043235" cy="1043235"/>
            <a:chOff x="0" y="0"/>
            <a:chExt cx="1390980" cy="13909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0904" cy="1390904"/>
            </a:xfrm>
            <a:custGeom>
              <a:avLst/>
              <a:gdLst/>
              <a:ahLst/>
              <a:cxnLst/>
              <a:rect r="r" b="b" t="t" l="l"/>
              <a:pathLst>
                <a:path h="1390904" w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389244" y="4259009"/>
            <a:ext cx="8603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68474" y="5372900"/>
            <a:ext cx="510190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Clean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05739" y="6411935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TRIM, CLEAN,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Replace, Unpivot,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Fill Down.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50731" y="5862866"/>
            <a:ext cx="3594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 b="true">
                <a:solidFill>
                  <a:srgbClr val="667788"/>
                </a:solidFill>
                <a:latin typeface="Inter Bold"/>
                <a:ea typeface="Inter Bold"/>
                <a:cs typeface="Inter Bold"/>
                <a:sym typeface="Inter Bold"/>
              </a:rPr>
              <a:t>&gt;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667715" y="3157147"/>
            <a:ext cx="5284784" cy="5216157"/>
            <a:chOff x="0" y="0"/>
            <a:chExt cx="7046379" cy="69548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46341" cy="6954901"/>
            </a:xfrm>
            <a:custGeom>
              <a:avLst/>
              <a:gdLst/>
              <a:ahLst/>
              <a:cxnLst/>
              <a:rect r="r" b="b" t="t" l="l"/>
              <a:pathLst>
                <a:path h="6954901" w="704634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88500" y="4032666"/>
            <a:ext cx="1043235" cy="1043235"/>
            <a:chOff x="0" y="0"/>
            <a:chExt cx="1390980" cy="13909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90904" cy="1390904"/>
            </a:xfrm>
            <a:custGeom>
              <a:avLst/>
              <a:gdLst/>
              <a:ahLst/>
              <a:cxnLst/>
              <a:rect r="r" b="b" t="t" l="l"/>
              <a:pathLst>
                <a:path h="1390904" w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88DDFF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879935" y="4259009"/>
            <a:ext cx="8603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59160" y="5372900"/>
            <a:ext cx="510190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88DDFF"/>
                </a:solidFill>
                <a:latin typeface="Inter Bold"/>
                <a:ea typeface="Inter Bold"/>
                <a:cs typeface="Inter Bold"/>
                <a:sym typeface="Inter Bold"/>
              </a:rPr>
              <a:t>Validate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96425" y="6411935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Run the Sum Test.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Check the log.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Verify row counts.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 LAB ASSIGNMENT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Homework: The Messy Global Sales File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file is deliberately frustrating it mirrors the real world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 will find: duplicate regions, ghost characters, inconsistent dates, outliers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65" y="4491218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Your job: clean it, log every change, and run the Sum Test before and after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Deliverable: a clean file + a cleaning log documenting every action taken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the data was easy to clean, the insight would have been obvious already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86" y="-1372676"/>
            <a:ext cx="12354049" cy="12354049"/>
            <a:chOff x="0" y="0"/>
            <a:chExt cx="16472065" cy="164720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154" cy="16472154"/>
            </a:xfrm>
            <a:custGeom>
              <a:avLst/>
              <a:gdLst/>
              <a:ahLst/>
              <a:cxnLst/>
              <a:rect r="r" b="b" t="t" l="l"/>
              <a:pathLst>
                <a:path h="16472154" w="16472154">
                  <a:moveTo>
                    <a:pt x="0" y="8236077"/>
                  </a:moveTo>
                  <a:cubicBezTo>
                    <a:pt x="0" y="3687445"/>
                    <a:pt x="3687445" y="0"/>
                    <a:pt x="8236077" y="0"/>
                  </a:cubicBezTo>
                  <a:cubicBezTo>
                    <a:pt x="12784710" y="0"/>
                    <a:pt x="16472154" y="3687445"/>
                    <a:pt x="16472154" y="8236077"/>
                  </a:cubicBezTo>
                  <a:cubicBezTo>
                    <a:pt x="16472154" y="12784710"/>
                    <a:pt x="12784710" y="16472154"/>
                    <a:pt x="8236077" y="16472154"/>
                  </a:cubicBezTo>
                  <a:cubicBezTo>
                    <a:pt x="3687445" y="16472154"/>
                    <a:pt x="0" y="12784709"/>
                    <a:pt x="0" y="8236077"/>
                  </a:cubicBezTo>
                  <a:close/>
                </a:path>
              </a:pathLst>
            </a:custGeom>
            <a:solidFill>
              <a:srgbClr val="0A1622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277556" y="915670"/>
            <a:ext cx="8780310" cy="7408386"/>
          </a:xfrm>
          <a:custGeom>
            <a:avLst/>
            <a:gdLst/>
            <a:ahLst/>
            <a:cxnLst/>
            <a:rect r="r" b="b" t="t" l="l"/>
            <a:pathLst>
              <a:path h="7408386" w="8780310">
                <a:moveTo>
                  <a:pt x="0" y="0"/>
                </a:moveTo>
                <a:lnTo>
                  <a:pt x="8780310" y="0"/>
                </a:lnTo>
                <a:lnTo>
                  <a:pt x="8780310" y="7408386"/>
                </a:lnTo>
                <a:lnTo>
                  <a:pt x="0" y="7408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23539" cy="10295039"/>
            <a:chOff x="0" y="0"/>
            <a:chExt cx="164719" cy="137267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1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571871" y="2781538"/>
            <a:ext cx="12171169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1"/>
              </a:lnSpc>
            </a:pPr>
            <a:r>
              <a:rPr lang="en-US" sz="1200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Let's Talk.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871" y="5193240"/>
            <a:ext cx="10798502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In God we trust.</a:t>
            </a:r>
          </a:p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All others must bring clean data.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80431" y="7000627"/>
            <a:ext cx="6177029" cy="38129"/>
            <a:chOff x="0" y="0"/>
            <a:chExt cx="8236039" cy="508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36077" cy="50800"/>
            </a:xfrm>
            <a:custGeom>
              <a:avLst/>
              <a:gdLst/>
              <a:ahLst/>
              <a:cxnLst/>
              <a:rect r="r" b="b" t="t" l="l"/>
              <a:pathLst>
                <a:path h="50800" w="8236077">
                  <a:moveTo>
                    <a:pt x="0" y="0"/>
                  </a:moveTo>
                  <a:lnTo>
                    <a:pt x="8236077" y="0"/>
                  </a:lnTo>
                  <a:lnTo>
                    <a:pt x="823607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71871" y="7320886"/>
            <a:ext cx="12171169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Lab: 'Messy Global Sales File' -- clean, log, and validate.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Next week: Pivot Tables &amp; Advanced Aggregation.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DAHGvK68f5c</dc:identifier>
  <dcterms:modified xsi:type="dcterms:W3CDTF">2011-08-01T06:04:30Z</dcterms:modified>
  <cp:revision>1</cp:revision>
  <dc:title>BA1_Week5.pptx</dc:title>
</cp:coreProperties>
</file>