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072578" y="542467"/>
            <a:ext cx="4789684" cy="4771722"/>
          </a:xfrm>
          <a:custGeom>
            <a:avLst/>
            <a:gdLst/>
            <a:ahLst/>
            <a:cxnLst/>
            <a:rect r="r" b="b" t="t" l="l"/>
            <a:pathLst>
              <a:path h="4771722" w="4789684">
                <a:moveTo>
                  <a:pt x="0" y="0"/>
                </a:moveTo>
                <a:lnTo>
                  <a:pt x="4789684" y="0"/>
                </a:lnTo>
                <a:lnTo>
                  <a:pt x="4789684" y="4771722"/>
                </a:lnTo>
                <a:lnTo>
                  <a:pt x="0" y="4771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1871" y="2928328"/>
            <a:ext cx="16766977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Crystal Ball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Simple Linear Regression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871" y="7422899"/>
            <a:ext cx="3843480" cy="371704"/>
            <a:chOff x="0" y="0"/>
            <a:chExt cx="5124640" cy="4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704" cy="495576"/>
            </a:xfrm>
            <a:custGeom>
              <a:avLst/>
              <a:gdLst/>
              <a:ahLst/>
              <a:cxnLst/>
              <a:rect r="r" b="b" t="t" l="l"/>
              <a:pathLst>
                <a:path h="495576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495576"/>
                  </a:lnTo>
                  <a:lnTo>
                    <a:pt x="0" y="495576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871" y="6222749"/>
            <a:ext cx="1285751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Moving from 'What Happened' to 'What Will Happen'</a:t>
            </a:r>
          </a:p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FFC344"/>
                </a:solidFill>
                <a:latin typeface="Inter"/>
                <a:ea typeface="Inter"/>
                <a:cs typeface="Inter"/>
                <a:sym typeface="Inter"/>
              </a:rPr>
              <a:t>The Power of Linear Forecasting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44" y="7451588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PREDICTIVE LEAP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Shift: From Past to Future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Descriptive (Past)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Predictive (Future)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happened?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Reports on history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Rearview Mirror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Certainty, it already occurred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will happen?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Models the trajectory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Crystal Ball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Probability, a calculated bet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PREDICTIVE LEAP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Is Linear Regression?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statistical method that models the relationship between two variables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(Dependent) = the outcome we want to predict. e.g. Total Sales.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X (Independent) = the predictor we can control. e.g. Marketing Spend.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Tells us exactly how much Y changes for every 1-unit increase in X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every $1 added to the marketing budget, sales increase by how much?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VARIABLES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Dependent vs. Independent Variables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Dependent Variable (Y)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Independent Variable (X)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Outcome the 'Effect'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we want to predict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Revenue, Churn, Profit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Sits on the vertical axis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Predictor the 'Cause'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we can control or observe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Ad spend, price, temperature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Sits on the horizontal axis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VISUALIZE FIRST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Scatter Plot: Always Look First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any calculation: plot X against Y in a scatter plot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Look for a cloud of dots that naturally forms a diagonal 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the dots are a random mess, a linear model is the wrong tool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Upward slope = positive relationship. Downward slope = negative.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Tight cluster around a line = strong signal. Wide spread = weak signal.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142749" y="526543"/>
            <a:ext cx="7913285" cy="5420600"/>
          </a:xfrm>
          <a:custGeom>
            <a:avLst/>
            <a:gdLst/>
            <a:ahLst/>
            <a:cxnLst/>
            <a:rect r="r" b="b" t="t" l="l"/>
            <a:pathLst>
              <a:path h="5420600" w="7913285">
                <a:moveTo>
                  <a:pt x="0" y="0"/>
                </a:moveTo>
                <a:lnTo>
                  <a:pt x="7913285" y="0"/>
                </a:lnTo>
                <a:lnTo>
                  <a:pt x="7913285" y="5420600"/>
                </a:lnTo>
                <a:lnTo>
                  <a:pt x="0" y="5420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Geometry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of a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the math draws the line through the dots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EQUATION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Regression Equation: Y = a + bX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(Intercept): the value of Y when X equals zero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8214" y="3532308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e.g. Sales if we spend $0 on advertising base demand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17706" y="4392549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9764" y="4209117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 (Slope): how much Y changes for every 1-unit increase in 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214" y="4822622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e.g. For every $1,000 extra in ad spend, sales increase by $4,200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6" y="5682863"/>
            <a:ext cx="192176" cy="192176"/>
            <a:chOff x="0" y="0"/>
            <a:chExt cx="256235" cy="256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9764" y="549943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equation is a recipe: plug in any X to get the predicted 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706" y="6533921"/>
            <a:ext cx="192176" cy="192176"/>
            <a:chOff x="0" y="0"/>
            <a:chExt cx="256235" cy="256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9764" y="6350489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50 + 2X means: start at 50, add 2 for every unit of 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Line of Best Fit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computer tests thousands of possible lines through the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selects the line that minimizes the Sum of Squared Errors (SSE)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SSE = the total area of all the gaps between the line and the actual dots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chosen line is the most honest, it is as wrong as it can possibly be least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line is perfect. The best line is the one that is wrong the least.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MODEL QUALITY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Correlation (r) vs. Determination (R²)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 — Correlation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R² — Coefficient of Determination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Direction and strength of relationship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Scale: -1 to +1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+1 = perfect positive link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-1 = perfect negative link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much of Y your model explains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Scale: 0 to 1 (or 0% to 100%)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R² = 0.90 = powerhouse model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R² = 0.10 = nearly useless predictor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R² EXPLAINED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R² = 0.75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9249" y="5143500"/>
            <a:ext cx="153695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75% of sales variation is explained by TV ad spend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0450" y="6019800"/>
            <a:ext cx="1399682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other 25% is driven by things not in the model: weather, competitors, luck, seasonality.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8354" y="8848725"/>
            <a:ext cx="14688026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  <a:spcBef>
                <a:spcPct val="0"/>
              </a:spcBef>
            </a:pPr>
            <a:r>
              <a:rPr lang="en-US" sz="2702">
                <a:solidFill>
                  <a:srgbClr val="FFC344"/>
                </a:solidFill>
                <a:latin typeface="Inter"/>
                <a:ea typeface="Inter"/>
                <a:cs typeface="Inter"/>
                <a:sym typeface="Inter"/>
              </a:rPr>
              <a:t>An R² of 0.75 means 75% of the variation in our sales is explained by our TV ads. The other 25% is caused by things we aren't measuring (weather, competitors, luck).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SLOPE DIRECTION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Positive vs. Negative Relationships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Positive Slope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Negative Slope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goes up, Y goes up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 spend vs. Sales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Temperature vs. Ice cream sold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Accelerate X to grow 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goes up, Y goes down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vs. Quantity sold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Distance vs. Delivery satisfaction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 X to protect 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2  •  THE INTERCEPT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Intercept in Reality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Coffee Sales = 50 + 2 * Temperature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'50' = base demand. You sell 50 coffees even on a 0-degree day.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intercept is what you have before any predictor kicks in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business: the intercept often represents fixed behavior, loyal customers, habit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ignore the intercept. It tells you where the business starts.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Guess the R²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773" y="2722436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Rank these three scatter plots from highest R² to lowest.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3912118"/>
            <a:ext cx="5490686" cy="5078892"/>
            <a:chOff x="0" y="0"/>
            <a:chExt cx="7320915" cy="677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061758" y="4085577"/>
            <a:ext cx="246530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[R²=?]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509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Plot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411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Dots form a tight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diagonal line.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Almost no spread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around the line.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45657" y="3912118"/>
            <a:ext cx="5490686" cy="5078892"/>
            <a:chOff x="0" y="0"/>
            <a:chExt cx="7320915" cy="6771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758346" y="4085577"/>
            <a:ext cx="246530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[R²=?]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7097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Plot 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999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Dots form a loose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 with a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visible diagonal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tendency.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42254" y="3912118"/>
            <a:ext cx="5490686" cy="5078892"/>
            <a:chOff x="0" y="0"/>
            <a:chExt cx="7320915" cy="6771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54944" y="4085577"/>
            <a:ext cx="246530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[R²=?]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33695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Plot 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39587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Dots scattered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completely at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random. No visible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pattern at all.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897592" y="-733494"/>
            <a:ext cx="6680637" cy="6680637"/>
          </a:xfrm>
          <a:custGeom>
            <a:avLst/>
            <a:gdLst/>
            <a:ahLst/>
            <a:cxnLst/>
            <a:rect r="r" b="b" t="t" l="l"/>
            <a:pathLst>
              <a:path h="6680637" w="6680637">
                <a:moveTo>
                  <a:pt x="0" y="0"/>
                </a:moveTo>
                <a:lnTo>
                  <a:pt x="6680637" y="0"/>
                </a:lnTo>
                <a:lnTo>
                  <a:pt x="6680637" y="6680637"/>
                </a:lnTo>
                <a:lnTo>
                  <a:pt x="0" y="668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013602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Danger Zones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6328143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Where the model breaks down and human judgment takes over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PREDICTION RANGE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Interpolation vs. Extrapolation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Interpolation (Safe)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Extrapolation (Dangerous)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Predicting inside your data range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values you have seen before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model has evidence here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Relatively reliable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Predicting outside your data range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values never observed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is guessing beyond its knowledge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 errors in slope = large errors in prediction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ERRORS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Residuals: The Errors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Residual = Actual Value - Predicted Value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prediction has a residual, the model is never perfectly right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Professional analysts always examine the residuals, not just the line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errors follow a pattern (get larger over time, cluster in one area), the model is missing something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33898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15555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 residuals = good model. Patterned residuals = incomplete model.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LEVERAGE POINTS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Outliers &amp; Leverage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extreme data point can tilt the entire regression line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leverage point: an outlier far from the average X value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Imagine a single dot at the far right of a scatter plot dragging the line toward it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check: does removing this one point dramatically change the line?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yes, investigate that point before trusting the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PRECISION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Standard Error of the Estimate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average size of the prediction errors, the model's margin of mistake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Never say: 'We will sell exactly 500 units next quarter'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Always say: 'We will sell 500 units, plus or minus 20'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smaller standard error = a more precise model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a prediction without an error range is false confidence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Regression in Excel: The Trendline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a scatter plot. Right-click any data point &gt; Add Trendline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 'Display Equation on chart' and 'Display R-squared value'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equation appears directly on the chart, your model is now visible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Select 'Linear' for simple regression. Other options for curved data.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the fastest way to turn a chart into a mathematical prediction machine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EXCEL PRO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Full Regression Report: Analysis ToolPak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&gt; Data Analysis &gt; Regression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 Y Range: your outcome column. Input X Range: your predictor column.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Output: slope, intercept, R², standard error, and p-values in one table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the professional-grade output you present to stakeholders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 'Residuals' to get the individual errors for every data point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SIGNIFICANCE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P-Values: The BS Detector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p-value asks: is this relationship real, or just a coincidence?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&lt; 0.05: the relationship is statistically significant, it is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 &gt; 0.05: the relationship might be random luck, don't bet the budget on it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high R² with a high p-value is a warning, the model fits your sample but may not generalize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359709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615555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check the p-value before reporting any regression result to leadership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 &amp; TOOL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Putting It Together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Real Estate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FORECAST.LINEAR in Excel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House Price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 = Square Footage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Strong R² and low p-value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But what about Location?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=FORECAST.LINEAR(new_X, Y_range, X_range)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 any future X value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Cell returns the predicted Y instantly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Change X and prediction updates live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602384" y="-318910"/>
            <a:ext cx="6994016" cy="6128507"/>
          </a:xfrm>
          <a:custGeom>
            <a:avLst/>
            <a:gdLst/>
            <a:ahLst/>
            <a:cxnLst/>
            <a:rect r="r" b="b" t="t" l="l"/>
            <a:pathLst>
              <a:path h="6128507" w="6994016">
                <a:moveTo>
                  <a:pt x="0" y="0"/>
                </a:moveTo>
                <a:lnTo>
                  <a:pt x="6994016" y="0"/>
                </a:lnTo>
                <a:lnTo>
                  <a:pt x="6994016" y="6128507"/>
                </a:lnTo>
                <a:lnTo>
                  <a:pt x="0" y="6128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Human Element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&amp; Ethics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All models are wrong, but some are useful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CRITICAL THINKING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Causality vs. Correlation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Ice cream sales and drowning incidents both rise in summer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eating ice cream cause drowning? No -- the sun causes both.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Statistics find the link. Humans find the logic behind the link.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regression line proves nothing about cause -- it only describes the pattern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acting on a model: always ask what mechanism connects X to 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MODEL QUALITY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Overfitting: The Perfect Model Trap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your line passes through every single dot, something is wrong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overfit model memorizes the noise in the training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It performs perfectly on past data and catastrophically on new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model should capture the trend, not the individual data points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Test: does the model still work on data it has never seen before?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Forecasting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Using regression to set 'unreachable' sales targets for employees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model that ignores human burnout will eventually fail its own predictions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people executing the forecast are not variables, they are the system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Forecasts become self-fulfilling or self-defeating depending on how they are communicated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5382" y="6338983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7439" y="615555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Ethical forecasting: present ranges, not targets. Build in uncertainty.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COMMUNICATION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Talking to Non-Technical Audiences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Don't Say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Do Say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R² = 0.82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P-value &lt; 0.001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Slope coefficient = 4.37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Residual standard error = 12.4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Strong evidence, model explains 82% of variation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relationship is almost certainly real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extra $1k in ads adds ~$4k in sales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Predictions are accurate within +/- 12 units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ask: 'What else could be causing this?'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analyst who never asks 'What else?' is just a calculator.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8646" y="7595416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Soft Skill: Skepticism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Covered This Week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Variables: choosing the right X is the most important decision in regression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= a + bX: the intercept sets the baseline, the slope tells you the rate of change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R² measures model quality. P-values confirm the relationship is real.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0146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Danger zones: extrapolation, outliers, overfitting, and confusing correlation with causation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915670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5368052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All models are wrong.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But some are useful.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George Box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27" y="7195261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253025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'Marketing ROI Predictor' prove whether the budget is being spent wisely.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Multiple Regression.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DAHGvDBxDzg</dc:identifier>
  <dcterms:modified xsi:type="dcterms:W3CDTF">2011-08-01T06:04:30Z</dcterms:modified>
  <cp:revision>1</cp:revision>
  <dc:title>BA1_Week7.pptx</dc:title>
</cp:coreProperties>
</file>