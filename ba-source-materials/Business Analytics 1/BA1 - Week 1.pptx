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Inter" panose="020B0604020202020204" charset="0"/>
      <p:regular r:id="rId32"/>
    </p:embeddedFont>
    <p:embeddedFont>
      <p:font typeface="Inter Bold" panose="020B0604020202020204" charset="0"/>
      <p:regular r:id="rId33"/>
    </p:embeddedFont>
    <p:embeddedFont>
      <p:font typeface="Inter Italics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6668" cy="13726668"/>
            </a:xfrm>
            <a:custGeom>
              <a:avLst/>
              <a:gdLst/>
              <a:ahLst/>
              <a:cxnLst/>
              <a:rect l="l" t="t" r="r" b="b"/>
              <a:pathLst>
                <a:path w="13726668" h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040392" y="-686333"/>
            <a:ext cx="7549696" cy="7549696"/>
            <a:chOff x="0" y="0"/>
            <a:chExt cx="10066261" cy="100662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66274" cy="10066274"/>
            </a:xfrm>
            <a:custGeom>
              <a:avLst/>
              <a:gdLst/>
              <a:ahLst/>
              <a:cxnLst/>
              <a:rect l="l" t="t" r="r" b="b"/>
              <a:pathLst>
                <a:path w="10066274" h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1871" y="7480049"/>
            <a:ext cx="3843480" cy="382172"/>
            <a:chOff x="0" y="0"/>
            <a:chExt cx="5124640" cy="5095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24704" cy="509533"/>
            </a:xfrm>
            <a:custGeom>
              <a:avLst/>
              <a:gdLst/>
              <a:ahLst/>
              <a:cxnLst/>
              <a:rect l="l" t="t" r="r" b="b"/>
              <a:pathLst>
                <a:path w="5124704" h="509533">
                  <a:moveTo>
                    <a:pt x="0" y="0"/>
                  </a:moveTo>
                  <a:lnTo>
                    <a:pt x="5124704" y="0"/>
                  </a:lnTo>
                  <a:lnTo>
                    <a:pt x="5124704" y="509533"/>
                  </a:lnTo>
                  <a:lnTo>
                    <a:pt x="0" y="509533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4580464" y="473296"/>
            <a:ext cx="5357672" cy="5230428"/>
          </a:xfrm>
          <a:custGeom>
            <a:avLst/>
            <a:gdLst/>
            <a:ahLst/>
            <a:cxnLst/>
            <a:rect l="l" t="t" r="r" b="b"/>
            <a:pathLst>
              <a:path w="5357672" h="5230428">
                <a:moveTo>
                  <a:pt x="0" y="0"/>
                </a:moveTo>
                <a:lnTo>
                  <a:pt x="5357672" y="0"/>
                </a:lnTo>
                <a:lnTo>
                  <a:pt x="5357672" y="5230428"/>
                </a:lnTo>
                <a:lnTo>
                  <a:pt x="0" y="523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71871" y="473296"/>
            <a:ext cx="2615214" cy="2615214"/>
          </a:xfrm>
          <a:custGeom>
            <a:avLst/>
            <a:gdLst/>
            <a:ahLst/>
            <a:cxnLst/>
            <a:rect l="l" t="t" r="r" b="b"/>
            <a:pathLst>
              <a:path w="2615214" h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1871" y="2713198"/>
            <a:ext cx="17480002" cy="327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Descriptive Analytics</a:t>
            </a:r>
          </a:p>
          <a:p>
            <a:pPr algn="l">
              <a:lnSpc>
                <a:spcPts val="12970"/>
              </a:lnSpc>
            </a:pPr>
            <a:r>
              <a:rPr lang="en-US" sz="10808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&amp; The Excel Foundation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71" y="5989798"/>
            <a:ext cx="11095844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Mastering the 'What Happened?</a:t>
            </a:r>
          </a:p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Building the Bedrock of Business Intelligence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9400" y="7557421"/>
            <a:ext cx="352333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PED FRAMEWORK RECAP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Where Are We in the PED?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86333" y="3157147"/>
            <a:ext cx="5284784" cy="5216157"/>
            <a:chOff x="0" y="0"/>
            <a:chExt cx="7046379" cy="69548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46341" cy="6954901"/>
            </a:xfrm>
            <a:custGeom>
              <a:avLst/>
              <a:gdLst/>
              <a:ahLst/>
              <a:cxnLst/>
              <a:rect l="l" t="t" r="r" b="b"/>
              <a:pathLst>
                <a:path w="7046341" h="695490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809189" y="3848405"/>
            <a:ext cx="1043235" cy="1043235"/>
            <a:chOff x="0" y="0"/>
            <a:chExt cx="1390980" cy="13909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900629" y="4074747"/>
            <a:ext cx="8603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9850" y="5188639"/>
            <a:ext cx="510190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Process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7124" y="6227674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are HERE.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Gather &amp; clean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raw numbers.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60030" y="5261877"/>
            <a:ext cx="3594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1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77029" y="3157147"/>
            <a:ext cx="5284784" cy="5216157"/>
            <a:chOff x="0" y="0"/>
            <a:chExt cx="7046379" cy="69548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46341" cy="6954901"/>
            </a:xfrm>
            <a:custGeom>
              <a:avLst/>
              <a:gdLst/>
              <a:ahLst/>
              <a:cxnLst/>
              <a:rect l="l" t="t" r="r" b="b"/>
              <a:pathLst>
                <a:path w="7046341" h="695490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297809" y="3848405"/>
            <a:ext cx="1043235" cy="1043235"/>
            <a:chOff x="0" y="0"/>
            <a:chExt cx="1390980" cy="13909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389249" y="4074747"/>
            <a:ext cx="8603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68469" y="5188639"/>
            <a:ext cx="510190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Explain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5734" y="6227674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are HERE.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Turn numbers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into summaries.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0726" y="5261877"/>
            <a:ext cx="35945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1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667715" y="3157147"/>
            <a:ext cx="5284784" cy="5216157"/>
            <a:chOff x="0" y="0"/>
            <a:chExt cx="7046379" cy="69548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46341" cy="6954901"/>
            </a:xfrm>
            <a:custGeom>
              <a:avLst/>
              <a:gdLst/>
              <a:ahLst/>
              <a:cxnLst/>
              <a:rect l="l" t="t" r="r" b="b"/>
              <a:pathLst>
                <a:path w="7046341" h="695490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788495" y="3848405"/>
            <a:ext cx="1043235" cy="1043235"/>
            <a:chOff x="0" y="0"/>
            <a:chExt cx="1390980" cy="13909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3914249" y="4074747"/>
            <a:ext cx="8603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59155" y="5188639"/>
            <a:ext cx="510190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Decide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96420" y="6227674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Coming soon.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Requires a solid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+ Explain.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REARVIEW MIRROR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Is Descriptive Analytics?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condensation of large datasets into small, digestible summaries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64" y="3769862"/>
            <a:ext cx="16014659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e-commerce site has 10,000 transactions. Descriptive analytics tells the manager</a:t>
            </a:r>
          </a:p>
          <a:p>
            <a:pPr marL="713027" lvl="1" indent="-356514" algn="l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revenue $50,000</a:t>
            </a:r>
          </a:p>
          <a:p>
            <a:pPr marL="713027" lvl="1" indent="-356514" algn="l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Top item: Blue Widget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573" y="5976584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Reduction is the art. We shrink complexity so the human brain can decide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13794" y="6728439"/>
            <a:ext cx="192176" cy="192176"/>
            <a:chOff x="0" y="0"/>
            <a:chExt cx="256235" cy="2562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75852" y="6545006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answers one question: What happened?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3794" y="7579497"/>
            <a:ext cx="192176" cy="192176"/>
            <a:chOff x="0" y="0"/>
            <a:chExt cx="256235" cy="2562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175852" y="7396065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is the foundation, without it, Predictive analytics are just guesses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7277703" y="5324281"/>
            <a:ext cx="3289329" cy="3343664"/>
          </a:xfrm>
          <a:custGeom>
            <a:avLst/>
            <a:gdLst/>
            <a:ahLst/>
            <a:cxnLst/>
            <a:rect l="l" t="t" r="r" b="b"/>
            <a:pathLst>
              <a:path w="3289329" h="3343664">
                <a:moveTo>
                  <a:pt x="0" y="0"/>
                </a:moveTo>
                <a:lnTo>
                  <a:pt x="3289329" y="0"/>
                </a:lnTo>
                <a:lnTo>
                  <a:pt x="3289329" y="3343663"/>
                </a:lnTo>
                <a:lnTo>
                  <a:pt x="0" y="33436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7773" y="320259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WHY IT MATTERS?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577" y="1543050"/>
            <a:ext cx="18114845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90%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4387" y="4505325"/>
            <a:ext cx="15369502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 business decisions are made using descriptive reports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45587" y="8848725"/>
            <a:ext cx="1399682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Monthly sales, quarterly budgets, and inventory counts, this keeps the lights 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SCOPE OF TODAY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'What' vs. The 'Why'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26449" y="4109599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Descriptive — TODAY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11547" y="4109599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Diagnostic — NEXT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3637" y="5212728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38243" y="5079997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happened?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3637" y="6036326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38243" y="5903605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much did we sell?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03637" y="6859934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38243" y="6727203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Which product led?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03637" y="7683541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38243" y="755081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your 'What' is wrong, every 'Why' is a lie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88744" y="5212728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23351" y="5079997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 did it happen?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88744" y="6036326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23351" y="5903605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Root cause analysis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88744" y="6859934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23351" y="6727203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Requires clean descriptive data first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88744" y="7683541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23351" y="755081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on top of today's foundation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2259745" y="-798678"/>
            <a:ext cx="5679294" cy="7088043"/>
          </a:xfrm>
          <a:custGeom>
            <a:avLst/>
            <a:gdLst/>
            <a:ahLst/>
            <a:cxnLst/>
            <a:rect l="l" t="t" r="r" b="b"/>
            <a:pathLst>
              <a:path w="5679294" h="7088043">
                <a:moveTo>
                  <a:pt x="0" y="0"/>
                </a:moveTo>
                <a:lnTo>
                  <a:pt x="5679294" y="0"/>
                </a:lnTo>
                <a:lnTo>
                  <a:pt x="5679294" y="7088043"/>
                </a:lnTo>
                <a:lnTo>
                  <a:pt x="0" y="7088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4575543"/>
            <a:ext cx="1491651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KPIs</a:t>
            </a:r>
          </a:p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Vital Signs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1354384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Not all data is 'Key'. Learn to choose what matters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4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 dirty="0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KPIS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Is a KPI?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Performance Indicator, a metric tied directly to a specific business goal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all data is 'Key.' If you track everything, you track nothing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214" y="4383367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KPI must be Actionable, it should tell you what to do next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17706" y="5243608"/>
            <a:ext cx="192176" cy="192176"/>
            <a:chOff x="0" y="0"/>
            <a:chExt cx="256235" cy="2562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79764" y="5060175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Three qualities: Simple, Relevant, and Timely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17706" y="6094666"/>
            <a:ext cx="192176" cy="192176"/>
            <a:chOff x="0" y="0"/>
            <a:chExt cx="256235" cy="2562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079764" y="5911234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great KPI is one number that makes the right person nervous when it moves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KPIS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Metrics vs. KPIs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26449" y="3904812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Metric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11547" y="3904812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KPI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3637" y="5007940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38243" y="4875209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Any measurable data point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3637" y="5831538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38243" y="5698817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 Website Visitors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03637" y="6655146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38243" y="6522415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Descriptive by nature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03637" y="7478754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38243" y="7346023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Nice to know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88744" y="5007940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23351" y="4875209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Tied to a specific business goal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88744" y="5831538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23351" y="5698817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 Cost Per Lead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88744" y="6655146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23351" y="6522415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Actionable by design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88744" y="7478754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23351" y="7346023"/>
            <a:ext cx="707695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Visitors up, Leads flat = something is broken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17706" y="3831507"/>
            <a:ext cx="192176" cy="192176"/>
            <a:chOff x="0" y="0"/>
            <a:chExt cx="256235" cy="2562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5655412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5574710" y="6904460"/>
            <a:ext cx="3807257" cy="2389054"/>
          </a:xfrm>
          <a:custGeom>
            <a:avLst/>
            <a:gdLst/>
            <a:ahLst/>
            <a:cxnLst/>
            <a:rect l="l" t="t" r="r" b="b"/>
            <a:pathLst>
              <a:path w="3807257" h="2389054">
                <a:moveTo>
                  <a:pt x="0" y="0"/>
                </a:moveTo>
                <a:lnTo>
                  <a:pt x="3807257" y="0"/>
                </a:lnTo>
                <a:lnTo>
                  <a:pt x="3807257" y="2389054"/>
                </a:lnTo>
                <a:lnTo>
                  <a:pt x="0" y="2389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986472" y="6331490"/>
            <a:ext cx="2031102" cy="2962024"/>
          </a:xfrm>
          <a:custGeom>
            <a:avLst/>
            <a:gdLst/>
            <a:ahLst/>
            <a:cxnLst/>
            <a:rect l="l" t="t" r="r" b="b"/>
            <a:pathLst>
              <a:path w="2031102" h="2962024">
                <a:moveTo>
                  <a:pt x="0" y="0"/>
                </a:moveTo>
                <a:lnTo>
                  <a:pt x="2031103" y="0"/>
                </a:lnTo>
                <a:lnTo>
                  <a:pt x="2031103" y="2962024"/>
                </a:lnTo>
                <a:lnTo>
                  <a:pt x="0" y="2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589151" y="8381847"/>
            <a:ext cx="1518163" cy="1083589"/>
          </a:xfrm>
          <a:custGeom>
            <a:avLst/>
            <a:gdLst/>
            <a:ahLst/>
            <a:cxnLst/>
            <a:rect l="l" t="t" r="r" b="b"/>
            <a:pathLst>
              <a:path w="1518163" h="1083589">
                <a:moveTo>
                  <a:pt x="0" y="0"/>
                </a:moveTo>
                <a:lnTo>
                  <a:pt x="1518164" y="0"/>
                </a:lnTo>
                <a:lnTo>
                  <a:pt x="1518164" y="1083589"/>
                </a:lnTo>
                <a:lnTo>
                  <a:pt x="0" y="1083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316865" y="8421822"/>
            <a:ext cx="1406150" cy="1003640"/>
          </a:xfrm>
          <a:custGeom>
            <a:avLst/>
            <a:gdLst/>
            <a:ahLst/>
            <a:cxnLst/>
            <a:rect l="l" t="t" r="r" b="b"/>
            <a:pathLst>
              <a:path w="1406150" h="1003640">
                <a:moveTo>
                  <a:pt x="0" y="0"/>
                </a:moveTo>
                <a:lnTo>
                  <a:pt x="1406150" y="0"/>
                </a:lnTo>
                <a:lnTo>
                  <a:pt x="1406150" y="1003639"/>
                </a:lnTo>
                <a:lnTo>
                  <a:pt x="0" y="1003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NORTH STAR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Choosing Your North Star Metric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764" y="3648075"/>
            <a:ext cx="16014659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number that defines success for the entire company</a:t>
            </a:r>
          </a:p>
          <a:p>
            <a:pPr marL="713027" lvl="1" indent="-356514" algn="l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Amazon: Items per cart, not traffic, not page views</a:t>
            </a:r>
          </a:p>
          <a:p>
            <a:pPr marL="713027" lvl="1" indent="-356514" algn="l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Netflix: Retention Rate, not sign-ups, not content count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9764" y="5471979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North Star pulls every department in the same direction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242942" y="9203411"/>
            <a:ext cx="1518163" cy="1083589"/>
          </a:xfrm>
          <a:custGeom>
            <a:avLst/>
            <a:gdLst/>
            <a:ahLst/>
            <a:cxnLst/>
            <a:rect l="l" t="t" r="r" b="b"/>
            <a:pathLst>
              <a:path w="1518163" h="1083589">
                <a:moveTo>
                  <a:pt x="0" y="0"/>
                </a:moveTo>
                <a:lnTo>
                  <a:pt x="1518163" y="0"/>
                </a:lnTo>
                <a:lnTo>
                  <a:pt x="1518163" y="1083589"/>
                </a:lnTo>
                <a:lnTo>
                  <a:pt x="0" y="1083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49069" y="3912118"/>
            <a:ext cx="5490686" cy="5078892"/>
            <a:chOff x="0" y="0"/>
            <a:chExt cx="7320915" cy="67718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20915" cy="6771894"/>
            </a:xfrm>
            <a:custGeom>
              <a:avLst/>
              <a:gdLst/>
              <a:ahLst/>
              <a:cxnLst/>
              <a:rect l="l" t="t" r="r" b="b"/>
              <a:pathLst>
                <a:path w="7320915" h="6771894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245657" y="3912118"/>
            <a:ext cx="5490686" cy="5078892"/>
            <a:chOff x="0" y="0"/>
            <a:chExt cx="7320915" cy="67718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20915" cy="6771894"/>
            </a:xfrm>
            <a:custGeom>
              <a:avLst/>
              <a:gdLst/>
              <a:ahLst/>
              <a:cxnLst/>
              <a:rect l="l" t="t" r="r" b="b"/>
              <a:pathLst>
                <a:path w="7320915" h="6771894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942254" y="3912118"/>
            <a:ext cx="5490686" cy="5078892"/>
            <a:chOff x="0" y="0"/>
            <a:chExt cx="7320915" cy="67718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20915" cy="6771894"/>
            </a:xfrm>
            <a:custGeom>
              <a:avLst/>
              <a:gdLst/>
              <a:ahLst/>
              <a:cxnLst/>
              <a:rect l="l" t="t" r="r" b="b"/>
              <a:pathLst>
                <a:path w="7320915" h="6771894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8610722" y="586062"/>
            <a:ext cx="3628860" cy="1755461"/>
          </a:xfrm>
          <a:custGeom>
            <a:avLst/>
            <a:gdLst/>
            <a:ahLst/>
            <a:cxnLst/>
            <a:rect l="l" t="t" r="r" b="b"/>
            <a:pathLst>
              <a:path w="3628860" h="1755461">
                <a:moveTo>
                  <a:pt x="0" y="0"/>
                </a:moveTo>
                <a:lnTo>
                  <a:pt x="3628860" y="0"/>
                </a:lnTo>
                <a:lnTo>
                  <a:pt x="3628860" y="1755461"/>
                </a:lnTo>
                <a:lnTo>
                  <a:pt x="0" y="1755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Gym Case Study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7773" y="2722436"/>
            <a:ext cx="1670099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1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You own a local gym. Which of these is the most vital KPI?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4230" y="4869609"/>
            <a:ext cx="920353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[1]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504" y="6114536"/>
            <a:ext cx="530780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Option 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6406" y="6938143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 of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mirrors in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gym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46046" y="4869609"/>
            <a:ext cx="108989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[2]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37092" y="6114536"/>
            <a:ext cx="530780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Option 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42994" y="6938143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active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memberships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month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36691" y="4869609"/>
            <a:ext cx="1101804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[3]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33690" y="6114536"/>
            <a:ext cx="530780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Option 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39582" y="6938143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Churn Rate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(members leaving)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 month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95994" y="9495834"/>
            <a:ext cx="489601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“Yeaaaaah Buddyyyyyyyyyy”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TYPES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Quantitative vs. Qualitative Data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15048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Quantitative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0146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Qualitative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2235" y="4021931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26842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Numbers you can calculate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92235" y="4845529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26842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 revenue, height, counts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2235" y="5669137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26842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Mean, Median, Variance apply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2235" y="6492745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26842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Excel's native language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77343" y="4021931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11950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Categories and descriptions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77343" y="4845529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11950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Colors, sentiment, brand names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77343" y="5669137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11950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 and frequency apply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77343" y="6492745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11950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Requires encoding to use in Excel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109251" y="-67706"/>
            <a:ext cx="7980282" cy="5626099"/>
          </a:xfrm>
          <a:custGeom>
            <a:avLst/>
            <a:gdLst/>
            <a:ahLst/>
            <a:cxnLst/>
            <a:rect l="l" t="t" r="r" b="b"/>
            <a:pathLst>
              <a:path w="7980282" h="5626099">
                <a:moveTo>
                  <a:pt x="0" y="0"/>
                </a:moveTo>
                <a:lnTo>
                  <a:pt x="7980282" y="0"/>
                </a:lnTo>
                <a:lnTo>
                  <a:pt x="7980282" y="5626098"/>
                </a:lnTo>
                <a:lnTo>
                  <a:pt x="0" y="5626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4575543"/>
            <a:ext cx="1491651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Statistics 101</a:t>
            </a:r>
          </a:p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Central Tendency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1354384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tools that compress reality into one honest number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4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 dirty="0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FOUNDATIONS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Statistic vs. Parameter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15048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Statistic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0146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Parameter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2235" y="4021931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26842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characteristic of a Sample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92235" y="4845529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26842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calculate this from our data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2235" y="5669137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26842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avg order value this week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2235" y="6492745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26842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estimate of reality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77343" y="4021931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11950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characteristic of the Population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77343" y="4845529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11950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rarely have all the data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77343" y="5669137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11950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avg order value ever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77343" y="6492745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11950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truth we are trying to find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000500"/>
            <a:ext cx="18288000" cy="18288000"/>
          </a:xfrm>
          <a:custGeom>
            <a:avLst/>
            <a:gdLst/>
            <a:ahLst/>
            <a:cxnLst/>
            <a:rect l="l" t="t" r="r" b="b"/>
            <a:pathLst>
              <a:path w="18288000" h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17706" y="4804353"/>
            <a:ext cx="192176" cy="192176"/>
            <a:chOff x="0" y="0"/>
            <a:chExt cx="256235" cy="25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17706" y="6094666"/>
            <a:ext cx="192176" cy="192176"/>
            <a:chOff x="0" y="0"/>
            <a:chExt cx="256235" cy="2562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CENTRAL TENDENCY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Mean: The Average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 of all values divided by the number of values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use: average meal price, average ticket size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764" y="4620920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Warning: extremely sensitive to outliers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8214" y="5234426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One billionaire in a room of 10 people destroys the mean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9764" y="5911234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used when data is evenly distributed with no extreme values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34822" y="6682759"/>
            <a:ext cx="1818356" cy="349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8"/>
              </a:lnSpc>
            </a:pPr>
            <a:r>
              <a:rPr lang="en-US" sz="23049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000500"/>
            <a:ext cx="18288000" cy="18288000"/>
          </a:xfrm>
          <a:custGeom>
            <a:avLst/>
            <a:gdLst/>
            <a:ahLst/>
            <a:cxnLst/>
            <a:rect l="l" t="t" r="r" b="b"/>
            <a:pathLst>
              <a:path w="18288000" h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CENTRAL TENDENCY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Median: The Middle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exact midpoint when all values are sorted in order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079764" y="3769862"/>
            <a:ext cx="1703163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billionaire walks into a room: the Mean wealth skyrockets, the Median stays the same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8214" y="4383367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This is why salaries and house prices should always use the Median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7706" y="5243608"/>
            <a:ext cx="192176" cy="192176"/>
            <a:chOff x="0" y="0"/>
            <a:chExt cx="256235" cy="2562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079764" y="5060175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Robust to outliers, not fooled by extreme values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17706" y="6094666"/>
            <a:ext cx="192176" cy="192176"/>
            <a:chOff x="0" y="0"/>
            <a:chExt cx="256235" cy="2562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079764" y="5911234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used for skewed distributions like income, real estate, wait times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2543" y="6682759"/>
            <a:ext cx="2702914" cy="349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8"/>
              </a:lnSpc>
            </a:pPr>
            <a:r>
              <a:rPr lang="en-US" sz="23049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000500"/>
            <a:ext cx="18288000" cy="18288000"/>
          </a:xfrm>
          <a:custGeom>
            <a:avLst/>
            <a:gdLst/>
            <a:ahLst/>
            <a:cxnLst/>
            <a:rect l="l" t="t" r="r" b="b"/>
            <a:pathLst>
              <a:path w="18288000" h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CENTRAL TENDENCY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Mode: The Most Popular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value that appears most frequently in your dataset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use: Which shoe size should we stock most? The Mode.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17706" y="4804353"/>
            <a:ext cx="192176" cy="192176"/>
            <a:chOff x="0" y="0"/>
            <a:chExt cx="256235" cy="2562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79764" y="4620920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Most useful for categorical or discrete data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17706" y="5655412"/>
            <a:ext cx="192176" cy="192176"/>
            <a:chOff x="0" y="0"/>
            <a:chExt cx="256235" cy="2562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079764" y="5471979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dataset can have no mode, one mode, or multiple modes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27294" y="6329229"/>
            <a:ext cx="2702914" cy="349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8"/>
              </a:lnSpc>
            </a:pPr>
            <a:r>
              <a:rPr lang="en-US" sz="23049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32822" y="8241535"/>
            <a:ext cx="927883" cy="169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9"/>
              </a:lnSpc>
            </a:pPr>
            <a:r>
              <a:rPr lang="en-US" sz="11107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DISPERSION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708533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Standard Deviation. How Far From Average?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15048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Low SD = Consistency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0146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High SD = Variability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2235" y="4021931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26842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Values cluster tightly around the mean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92235" y="4845529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26842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Good for manufacturing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2235" y="5669137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26842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Predictable output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2235" y="6492745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26842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bolt sizes in a factory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77343" y="4021931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11950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Values spread wide from the mean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77343" y="4845529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11950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Good for fashion, trends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77343" y="5669137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11950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risk, high variety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77343" y="6492745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11950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daily social media reach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9069" y="2470814"/>
            <a:ext cx="76257" cy="5216157"/>
            <a:chOff x="0" y="0"/>
            <a:chExt cx="101676" cy="6954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727" cy="6954901"/>
            </a:xfrm>
            <a:custGeom>
              <a:avLst/>
              <a:gdLst/>
              <a:ahLst/>
              <a:cxnLst/>
              <a:rect l="l" t="t" r="r" b="b"/>
              <a:pathLst>
                <a:path w="101727" h="6954901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FFCC44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52312" y="1418396"/>
            <a:ext cx="114395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1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646" y="2928328"/>
            <a:ext cx="15191051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robot sees a high average and says: Great!</a:t>
            </a:r>
          </a:p>
          <a:p>
            <a:pPr algn="l">
              <a:lnSpc>
                <a:spcPts val="5764"/>
              </a:lnSpc>
            </a:pPr>
            <a:endParaRPr lang="en-US" sz="4803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human sees the outlier and says: Wait... that's just one person.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6265" y="6519766"/>
            <a:ext cx="1519105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FFCC44"/>
                </a:solidFill>
                <a:latin typeface="Inter Bold"/>
                <a:ea typeface="Inter Bold"/>
                <a:cs typeface="Inter Bold"/>
                <a:sym typeface="Inter Bold"/>
              </a:rPr>
              <a:t>-- The Bill Gates Effect  •  Why Human Touch Is Non-Negotiable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460408" y="-893641"/>
            <a:ext cx="7277968" cy="7277968"/>
          </a:xfrm>
          <a:custGeom>
            <a:avLst/>
            <a:gdLst/>
            <a:ahLst/>
            <a:cxnLst/>
            <a:rect l="l" t="t" r="r" b="b"/>
            <a:pathLst>
              <a:path w="7277968" h="7277968">
                <a:moveTo>
                  <a:pt x="0" y="0"/>
                </a:moveTo>
                <a:lnTo>
                  <a:pt x="7277968" y="0"/>
                </a:lnTo>
                <a:lnTo>
                  <a:pt x="7277968" y="7277968"/>
                </a:lnTo>
                <a:lnTo>
                  <a:pt x="0" y="7277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4575543"/>
            <a:ext cx="1491651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Excel</a:t>
            </a:r>
          </a:p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Foundations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1354384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analyst's hotel, where logic becomes visible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Excel: The Analyst's Hotel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Transparent: every formula is visible, auditable, explainable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Flexible: handles data from 10 rows to 1 million rows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7706" y="4804353"/>
            <a:ext cx="192176" cy="192176"/>
            <a:chOff x="0" y="0"/>
            <a:chExt cx="256235" cy="256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079764" y="4620920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Universal: every business on earth speaks Excel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17706" y="5655412"/>
            <a:ext cx="192176" cy="192176"/>
            <a:chOff x="0" y="0"/>
            <a:chExt cx="256235" cy="2562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079764" y="5471979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you code in Python, you must be able to see the logic in cells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8214" y="6085475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If you can't model it in a spreadsheet, you don't understand it well enough to automate it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2573" y="8266700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Let’s open excel and follow the next slides, shall we?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 UI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Ribbon &amp; the Formula Bar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15048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Ribbon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0146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Formula Bar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2235" y="4021931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26842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Tabs: Home, Insert, Data, Review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92235" y="4845529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26842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Organizes commands by purpose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2235" y="5669137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26842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you format and manage data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2235" y="6492745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26842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Right-click is your shortcut to it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77343" y="4021931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11950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Shows the actual content of a cell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77343" y="4845529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11950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the LOGIC lives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77343" y="5669137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11950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cell shows the display value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77343" y="6492745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11950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check the bar, not the cell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 FUNDAMENTALS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997067"/>
            <a:ext cx="1628918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Mental Model of a Cell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38304" y="3130439"/>
            <a:ext cx="5778951" cy="5902490"/>
            <a:chOff x="0" y="0"/>
            <a:chExt cx="7705268" cy="78699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05217" cy="7869936"/>
            </a:xfrm>
            <a:custGeom>
              <a:avLst/>
              <a:gdLst/>
              <a:ahLst/>
              <a:cxnLst/>
              <a:rect l="l" t="t" r="r" b="b"/>
              <a:pathLst>
                <a:path w="7705217" h="7869936">
                  <a:moveTo>
                    <a:pt x="0" y="0"/>
                  </a:moveTo>
                  <a:lnTo>
                    <a:pt x="7705217" y="0"/>
                  </a:lnTo>
                  <a:lnTo>
                    <a:pt x="7705217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429749" y="4743998"/>
            <a:ext cx="559607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Address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5651" y="5695345"/>
            <a:ext cx="518426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A1, B5, C12</a:t>
            </a:r>
          </a:p>
          <a:p>
            <a:pPr algn="ctr">
              <a:lnSpc>
                <a:spcPts val="2702"/>
              </a:lnSpc>
            </a:pPr>
            <a:endParaRPr lang="en-US" sz="225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Where the cell lives in the grid.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Used in all formulas.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254529" y="3130439"/>
            <a:ext cx="5778951" cy="5902490"/>
            <a:chOff x="0" y="0"/>
            <a:chExt cx="7705268" cy="78699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05217" cy="7869936"/>
            </a:xfrm>
            <a:custGeom>
              <a:avLst/>
              <a:gdLst/>
              <a:ahLst/>
              <a:cxnLst/>
              <a:rect l="l" t="t" r="r" b="b"/>
              <a:pathLst>
                <a:path w="7705217" h="7869936">
                  <a:moveTo>
                    <a:pt x="0" y="0"/>
                  </a:moveTo>
                  <a:lnTo>
                    <a:pt x="7705217" y="0"/>
                  </a:lnTo>
                  <a:lnTo>
                    <a:pt x="7705217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345974" y="4743998"/>
            <a:ext cx="559607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51876" y="5695345"/>
            <a:ext cx="518426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500, 'Revenue', 2024-01-01</a:t>
            </a:r>
          </a:p>
          <a:p>
            <a:pPr algn="ctr">
              <a:lnSpc>
                <a:spcPts val="2702"/>
              </a:lnSpc>
            </a:pPr>
            <a:endParaRPr lang="en-US" sz="225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actual data stored.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This is what Excel calculates with.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170745" y="3130439"/>
            <a:ext cx="5778951" cy="5902490"/>
            <a:chOff x="0" y="0"/>
            <a:chExt cx="7705268" cy="7869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05217" cy="7869936"/>
            </a:xfrm>
            <a:custGeom>
              <a:avLst/>
              <a:gdLst/>
              <a:ahLst/>
              <a:cxnLst/>
              <a:rect l="l" t="t" r="r" b="b"/>
              <a:pathLst>
                <a:path w="7705217" h="7869936">
                  <a:moveTo>
                    <a:pt x="0" y="0"/>
                  </a:moveTo>
                  <a:lnTo>
                    <a:pt x="7705217" y="0"/>
                  </a:lnTo>
                  <a:lnTo>
                    <a:pt x="7705217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262190" y="4743998"/>
            <a:ext cx="559607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Format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68092" y="5695345"/>
            <a:ext cx="5184267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$500, 50%, Jan 1 2024</a:t>
            </a:r>
          </a:p>
          <a:p>
            <a:pPr algn="ctr">
              <a:lnSpc>
                <a:spcPts val="2702"/>
              </a:lnSpc>
            </a:pPr>
            <a:endParaRPr lang="en-US" sz="225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How the value is displayed.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Confusing Format with Value is the #1 Excel error.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997067"/>
            <a:ext cx="1628918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Absolute vs. Relative References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702410" y="2928328"/>
            <a:ext cx="66804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67167" y="2709253"/>
            <a:ext cx="1522214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9"/>
              </a:lnSpc>
            </a:pPr>
            <a:r>
              <a:rPr lang="en-US" sz="10508" b="1">
                <a:solidFill>
                  <a:srgbClr val="FF5555"/>
                </a:solidFill>
                <a:latin typeface="Inter Bold"/>
                <a:ea typeface="Inter Bold"/>
                <a:cs typeface="Inter Bold"/>
                <a:sym typeface="Inter Bold"/>
              </a:rPr>
              <a:t>vs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15861" y="2928328"/>
            <a:ext cx="777862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$A$1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7706" y="4872990"/>
            <a:ext cx="17021137" cy="3157147"/>
            <a:chOff x="0" y="0"/>
            <a:chExt cx="22694849" cy="42095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94900" cy="4209542"/>
            </a:xfrm>
            <a:custGeom>
              <a:avLst/>
              <a:gdLst/>
              <a:ahLst/>
              <a:cxnLst/>
              <a:rect l="l" t="t" r="r" b="b"/>
              <a:pathLst>
                <a:path w="22694900" h="4209542">
                  <a:moveTo>
                    <a:pt x="0" y="0"/>
                  </a:moveTo>
                  <a:lnTo>
                    <a:pt x="22694900" y="0"/>
                  </a:lnTo>
                  <a:lnTo>
                    <a:pt x="22694900" y="4209542"/>
                  </a:lnTo>
                  <a:lnTo>
                    <a:pt x="0" y="4209542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15048" y="5183715"/>
            <a:ext cx="1642645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Relative (A1): moves when you drag the formula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5048" y="6058024"/>
            <a:ext cx="1642645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Absolute ($A$1): the $ anchors it in place. Drag one tax-rate formula across 1,000 rows and it always points to the same rate cell.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9146" y="8958567"/>
            <a:ext cx="1683825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1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$ sign is the most powerful character in Excel. Master it before anything else.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4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 dirty="0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TYPES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997067"/>
            <a:ext cx="1628918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Types in Cells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69672" y="2934233"/>
            <a:ext cx="4334208" cy="5902490"/>
            <a:chOff x="0" y="0"/>
            <a:chExt cx="5778944" cy="78699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79008" cy="7869936"/>
            </a:xfrm>
            <a:custGeom>
              <a:avLst/>
              <a:gdLst/>
              <a:ahLst/>
              <a:cxnLst/>
              <a:rect l="l" t="t" r="r" b="b"/>
              <a:pathLst>
                <a:path w="5779008" h="7869936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61112" y="4547792"/>
            <a:ext cx="415132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7014" y="5499140"/>
            <a:ext cx="3739534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Text.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'January', 'North Region'</a:t>
            </a:r>
          </a:p>
          <a:p>
            <a:pPr algn="ctr">
              <a:lnSpc>
                <a:spcPts val="2702"/>
              </a:lnSpc>
            </a:pPr>
            <a:endParaRPr lang="en-US" sz="225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Cannot be calculated.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Used for labels.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741154" y="2934233"/>
            <a:ext cx="4334208" cy="5902490"/>
            <a:chOff x="0" y="0"/>
            <a:chExt cx="5778944" cy="78699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79008" cy="7869936"/>
            </a:xfrm>
            <a:custGeom>
              <a:avLst/>
              <a:gdLst/>
              <a:ahLst/>
              <a:cxnLst/>
              <a:rect l="l" t="t" r="r" b="b"/>
              <a:pathLst>
                <a:path w="5779008" h="7869936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832594" y="4547792"/>
            <a:ext cx="415132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38496" y="5499140"/>
            <a:ext cx="3739534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Whole numbers.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500, 1000, 42</a:t>
            </a:r>
          </a:p>
          <a:p>
            <a:pPr algn="ctr">
              <a:lnSpc>
                <a:spcPts val="2702"/>
              </a:lnSpc>
            </a:pPr>
            <a:endParaRPr lang="en-US" sz="225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Can be summed,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averaged, counted.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12637" y="2934233"/>
            <a:ext cx="4334208" cy="5902490"/>
            <a:chOff x="0" y="0"/>
            <a:chExt cx="5778944" cy="7869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79008" cy="7869936"/>
            </a:xfrm>
            <a:custGeom>
              <a:avLst/>
              <a:gdLst/>
              <a:ahLst/>
              <a:cxnLst/>
              <a:rect l="l" t="t" r="r" b="b"/>
              <a:pathLst>
                <a:path w="5779008" h="7869936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9304077" y="4547792"/>
            <a:ext cx="415132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Float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09979" y="5499140"/>
            <a:ext cx="3739534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Decimals.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3.14, 99.99</a:t>
            </a:r>
          </a:p>
          <a:p>
            <a:pPr algn="ctr">
              <a:lnSpc>
                <a:spcPts val="2702"/>
              </a:lnSpc>
            </a:pPr>
            <a:endParaRPr lang="en-US" sz="225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Used for prices,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ratios, percentages.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684120" y="2934233"/>
            <a:ext cx="4334208" cy="5902490"/>
            <a:chOff x="0" y="0"/>
            <a:chExt cx="5778944" cy="7869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779008" cy="7869936"/>
            </a:xfrm>
            <a:custGeom>
              <a:avLst/>
              <a:gdLst/>
              <a:ahLst/>
              <a:cxnLst/>
              <a:rect l="l" t="t" r="r" b="b"/>
              <a:pathLst>
                <a:path w="5779008" h="7869936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3775560" y="4547792"/>
            <a:ext cx="415132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81462" y="5499140"/>
            <a:ext cx="3739534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Jan 1 2024 = 45292</a:t>
            </a:r>
          </a:p>
          <a:p>
            <a:pPr algn="ctr">
              <a:lnSpc>
                <a:spcPts val="2702"/>
              </a:lnSpc>
            </a:pPr>
            <a:endParaRPr lang="en-US" sz="225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Excel stores dates as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numbers. Math with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time becomes possible.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CORE FUNCTIONS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997067"/>
            <a:ext cx="1628918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Essential Functions: The Big 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882608"/>
            <a:ext cx="5490686" cy="5902490"/>
            <a:chOff x="0" y="0"/>
            <a:chExt cx="7320915" cy="78699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20915" cy="7869936"/>
            </a:xfrm>
            <a:custGeom>
              <a:avLst/>
              <a:gdLst/>
              <a:ahLst/>
              <a:cxnLst/>
              <a:rect l="l" t="t" r="r" b="b"/>
              <a:pathLst>
                <a:path w="7320915" h="7869936">
                  <a:moveTo>
                    <a:pt x="0" y="0"/>
                  </a:moveTo>
                  <a:lnTo>
                    <a:pt x="7320915" y="0"/>
                  </a:lnTo>
                  <a:lnTo>
                    <a:pt x="732091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992357" y="3962100"/>
            <a:ext cx="772835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4872" y="5668408"/>
            <a:ext cx="530780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0773" y="6629281"/>
            <a:ext cx="489601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Total revenue,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total units sold.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foundation of every report.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=SUM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314294" y="2882608"/>
            <a:ext cx="5490686" cy="5902490"/>
            <a:chOff x="0" y="0"/>
            <a:chExt cx="7320915" cy="78699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20915" cy="7869936"/>
            </a:xfrm>
            <a:custGeom>
              <a:avLst/>
              <a:gdLst/>
              <a:ahLst/>
              <a:cxnLst/>
              <a:rect l="l" t="t" r="r" b="b"/>
              <a:pathLst>
                <a:path w="7320915" h="7869936">
                  <a:moveTo>
                    <a:pt x="0" y="0"/>
                  </a:moveTo>
                  <a:lnTo>
                    <a:pt x="7320915" y="0"/>
                  </a:lnTo>
                  <a:lnTo>
                    <a:pt x="732091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848487" y="3962100"/>
            <a:ext cx="591026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x̄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90097" y="5668408"/>
            <a:ext cx="530780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AVERAGE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95999" y="6629281"/>
            <a:ext cx="489601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Mean sales, avg ticket.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Be aware of outliers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before trusting it.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=AVERAGE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79519" y="2882608"/>
            <a:ext cx="5490686" cy="5902490"/>
            <a:chOff x="0" y="0"/>
            <a:chExt cx="7320915" cy="786998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20915" cy="7869936"/>
            </a:xfrm>
            <a:custGeom>
              <a:avLst/>
              <a:gdLst/>
              <a:ahLst/>
              <a:cxnLst/>
              <a:rect l="l" t="t" r="r" b="b"/>
              <a:pathLst>
                <a:path w="7320915" h="7869936">
                  <a:moveTo>
                    <a:pt x="0" y="0"/>
                  </a:moveTo>
                  <a:lnTo>
                    <a:pt x="7320915" y="0"/>
                  </a:lnTo>
                  <a:lnTo>
                    <a:pt x="732091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4528821" y="3962100"/>
            <a:ext cx="760809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#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55322" y="5668408"/>
            <a:ext cx="530780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COUNT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61224" y="6629281"/>
            <a:ext cx="489601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How many transactions?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How many customers?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Always know your N.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=COUNT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9146" y="8958567"/>
            <a:ext cx="1683825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1">
                <a:solidFill>
                  <a:srgbClr val="FFCC44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These three functions are the building blocks of every descriptive analytics report.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LOGICAL FUNCTIONS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IF Function, Teaching Excel to Judge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=IF(condition, value_if_true, value_if_false)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=IF(Sales &gt; 100, "Good", "Bad"),  your first decision rule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214" y="4383367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This is the beginning of Decision Analytics inside a spreadsheet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17706" y="5243608"/>
            <a:ext cx="192176" cy="192176"/>
            <a:chOff x="0" y="0"/>
            <a:chExt cx="256235" cy="2562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79764" y="5060175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Nest IFs to create multiple tiers: Low / Mid / High / Elite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17706" y="6094666"/>
            <a:ext cx="192176" cy="192176"/>
            <a:chOff x="0" y="0"/>
            <a:chExt cx="256235" cy="2562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079764" y="5911234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advanced formula in analytics traces back to this logic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EFFICIENCY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Navigation Shortcuts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Ctrl + Arrows: jump to the edge of a data block instantly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Ctrl + Shift + L: toggle filters on a table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7706" y="4804353"/>
            <a:ext cx="192176" cy="192176"/>
            <a:chOff x="0" y="0"/>
            <a:chExt cx="256235" cy="256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079764" y="4620920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Ctrl + Home / End: jump to the beginning or end of the data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17706" y="5655412"/>
            <a:ext cx="192176" cy="192176"/>
            <a:chOff x="0" y="0"/>
            <a:chExt cx="256235" cy="2562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079764" y="5471979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Speed = Confidence. A professional analyst never scrolls with a mouse.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8214" y="6085475"/>
            <a:ext cx="1560285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Keyboard fluency is the difference between looking like a junior vs. a senior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77773" y="320259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QUALITY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" y="2114255"/>
            <a:ext cx="18114845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80%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7498" y="5143500"/>
            <a:ext cx="1641300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 every analyst's job is cleaning data before a single formula runs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5587" y="6019800"/>
            <a:ext cx="1399682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Remove duplicates. Fix typos. Standardize names. No shortcuts on this step.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286727" y="-1067321"/>
            <a:ext cx="7625329" cy="7625329"/>
          </a:xfrm>
          <a:custGeom>
            <a:avLst/>
            <a:gdLst/>
            <a:ahLst/>
            <a:cxnLst/>
            <a:rect l="l" t="t" r="r" b="b"/>
            <a:pathLst>
              <a:path w="7625329" h="7625329">
                <a:moveTo>
                  <a:pt x="0" y="0"/>
                </a:moveTo>
                <a:lnTo>
                  <a:pt x="7625330" y="0"/>
                </a:lnTo>
                <a:lnTo>
                  <a:pt x="7625330" y="7625329"/>
                </a:lnTo>
                <a:lnTo>
                  <a:pt x="0" y="7625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You soft Skills For today - Responsibility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2" y="4575543"/>
            <a:ext cx="16443427" cy="1181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368"/>
              </a:lnSpc>
            </a:pPr>
            <a:r>
              <a:rPr lang="en-US" sz="780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Lies, Damned Lies, and Statistics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773" y="6147168"/>
            <a:ext cx="16102251" cy="59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  <a:spcBef>
                <a:spcPct val="0"/>
              </a:spcBef>
            </a:pPr>
            <a:r>
              <a:rPr lang="en-US" sz="19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Example: "Wells Fargo." Employees were given a KPI for opening new accounts. They opened fake ones to hit the KPI.</a:t>
            </a:r>
          </a:p>
          <a:p>
            <a:pPr algn="l">
              <a:lnSpc>
                <a:spcPts val="2369"/>
              </a:lnSpc>
              <a:spcBef>
                <a:spcPct val="0"/>
              </a:spcBef>
            </a:pPr>
            <a:r>
              <a:rPr lang="en-US" sz="19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Lesson: When a measure becomes a target, it ceases to be a good measure.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773" y="7598597"/>
            <a:ext cx="1610225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job is to be an "Honest Broker" of truth.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154" cy="16472154"/>
            </a:xfrm>
            <a:custGeom>
              <a:avLst/>
              <a:gdLst/>
              <a:ahLst/>
              <a:cxnLst/>
              <a:rect l="l" t="t" r="r" b="b"/>
              <a:pathLst>
                <a:path w="16472154" h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7277556" y="915670"/>
            <a:ext cx="8780310" cy="7408386"/>
          </a:xfrm>
          <a:custGeom>
            <a:avLst/>
            <a:gdLst/>
            <a:ahLst/>
            <a:cxnLst/>
            <a:rect l="l" t="t" r="r" b="b"/>
            <a:pathLst>
              <a:path w="8780310" h="7408386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571871" y="1820666"/>
            <a:ext cx="1217116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CLOSING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1871" y="2781538"/>
            <a:ext cx="12171169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1871" y="4619863"/>
            <a:ext cx="10798502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Don't just calculate.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Contemplate.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80427" y="5951310"/>
            <a:ext cx="6177029" cy="38129"/>
            <a:chOff x="0" y="0"/>
            <a:chExt cx="8236039" cy="508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36077" cy="50800"/>
            </a:xfrm>
            <a:custGeom>
              <a:avLst/>
              <a:gdLst/>
              <a:ahLst/>
              <a:cxnLst/>
              <a:rect l="l" t="t" r="r" b="b"/>
              <a:pathLst>
                <a:path w="8236077" h="50800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571871" y="6656189"/>
            <a:ext cx="1217116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Lab: 'Retail Cleanup' assignment, due next session.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week: turning numbers into visuals.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871" y="8990806"/>
            <a:ext cx="1217116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Need Youtube Videos?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1677</Words>
  <Application>Microsoft Office PowerPoint</Application>
  <PresentationFormat>Custom</PresentationFormat>
  <Paragraphs>322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Calibri</vt:lpstr>
      <vt:lpstr>Inter Bold</vt:lpstr>
      <vt:lpstr>Arial</vt:lpstr>
      <vt:lpstr>Inter</vt:lpstr>
      <vt:lpstr>Inter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BA1 - Week 1</dc:title>
  <cp:lastModifiedBy>Ameer Alhelwani</cp:lastModifiedBy>
  <cp:revision>2</cp:revision>
  <dcterms:created xsi:type="dcterms:W3CDTF">2006-08-16T00:00:00Z</dcterms:created>
  <dcterms:modified xsi:type="dcterms:W3CDTF">2026-04-10T23:38:17Z</dcterms:modified>
  <dc:identifier>DAHGfPD_hsc</dc:identifier>
</cp:coreProperties>
</file>