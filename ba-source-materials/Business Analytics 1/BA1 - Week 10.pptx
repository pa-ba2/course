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9"/>
    </p:embeddedFont>
    <p:embeddedFont>
      <p:font typeface="Inter" charset="1" panose="02000503000000020004"/>
      <p:regular r:id="rId40"/>
    </p:embeddedFont>
    <p:embeddedFont>
      <p:font typeface="Inter Italics" charset="1" panose="02000503000000020004"/>
      <p:regular r:id="rId43"/>
    </p:embeddedFont>
    <p:embeddedFont>
      <p:font typeface="Inter Bold Italics" charset="1" panose="02000503000000020004"/>
      <p:regular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notesMasters/notesMaster1.xml" Type="http://schemas.openxmlformats.org/officeDocument/2006/relationships/notesMaster"/><Relationship Id="rId37" Target="theme/theme2.xml" Type="http://schemas.openxmlformats.org/officeDocument/2006/relationships/theme"/><Relationship Id="rId38" Target="notesSlides/notesSlide1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2.xml" Type="http://schemas.openxmlformats.org/officeDocument/2006/relationships/notesSlide"/><Relationship Id="rId42" Target="notesSlides/notesSlide3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4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5.xml" Type="http://schemas.openxmlformats.org/officeDocument/2006/relationships/notesSlide"/><Relationship Id="rId47" Target="notesSlides/notesSlide6.xml" Type="http://schemas.openxmlformats.org/officeDocument/2006/relationships/notesSlide"/><Relationship Id="rId48" Target="notesSlides/notesSlide7.xml" Type="http://schemas.openxmlformats.org/officeDocument/2006/relationships/notesSlide"/><Relationship Id="rId49" Target="notesSlides/notesSlide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9.xml" Type="http://schemas.openxmlformats.org/officeDocument/2006/relationships/notesSlide"/><Relationship Id="rId51" Target="notesSlides/notesSlide10.xml" Type="http://schemas.openxmlformats.org/officeDocument/2006/relationships/notesSlide"/><Relationship Id="rId52" Target="notesSlides/notesSlide11.xml" Type="http://schemas.openxmlformats.org/officeDocument/2006/relationships/notesSlide"/><Relationship Id="rId53" Target="notesSlides/notesSlide12.xml" Type="http://schemas.openxmlformats.org/officeDocument/2006/relationships/notesSlide"/><Relationship Id="rId54" Target="notesSlides/notesSlide13.xml" Type="http://schemas.openxmlformats.org/officeDocument/2006/relationships/notesSlide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58" Target="notesSlides/notesSlide17.xml" Type="http://schemas.openxmlformats.org/officeDocument/2006/relationships/notesSlide"/><Relationship Id="rId59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9.xml" Type="http://schemas.openxmlformats.org/officeDocument/2006/relationships/notesSlide"/><Relationship Id="rId61" Target="notesSlides/notesSlide20.xml" Type="http://schemas.openxmlformats.org/officeDocument/2006/relationships/notesSlide"/><Relationship Id="rId62" Target="notesSlides/notesSlide21.xml" Type="http://schemas.openxmlformats.org/officeDocument/2006/relationships/notesSlide"/><Relationship Id="rId63" Target="notesSlides/notesSlide22.xml" Type="http://schemas.openxmlformats.org/officeDocument/2006/relationships/notesSlide"/><Relationship Id="rId64" Target="notesSlides/notesSlide23.xml" Type="http://schemas.openxmlformats.org/officeDocument/2006/relationships/notesSlide"/><Relationship Id="rId65" Target="notesSlides/notesSlide24.xml" Type="http://schemas.openxmlformats.org/officeDocument/2006/relationships/notesSlide"/><Relationship Id="rId66" Target="notesSlides/notesSlide25.xml" Type="http://schemas.openxmlformats.org/officeDocument/2006/relationships/notesSlide"/><Relationship Id="rId67" Target="notesSlides/notesSlide26.xml" Type="http://schemas.openxmlformats.org/officeDocument/2006/relationships/notesSlide"/><Relationship Id="rId68" Target="notesSlides/notesSlide27.xml" Type="http://schemas.openxmlformats.org/officeDocument/2006/relationships/notesSlide"/><Relationship Id="rId69" Target="notesSlides/notesSlide28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9.xml" Type="http://schemas.openxmlformats.org/officeDocument/2006/relationships/notesSlide"/><Relationship Id="rId71" Target="notesSlides/notesSlide30.xml" Type="http://schemas.openxmlformats.org/officeDocument/2006/relationships/notes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.jpe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.jpe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2" Target="../notesSlides/notesSlide29.xml" Type="http://schemas.openxmlformats.org/officeDocument/2006/relationships/notesSlide"/><Relationship Id="rId3" Target="../media/image1.jpe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49075" y="-2066925"/>
            <a:ext cx="10306050" cy="10306050"/>
            <a:chOff x="0" y="0"/>
            <a:chExt cx="13741400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4140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3741400">
                  <a:moveTo>
                    <a:pt x="0" y="6870700"/>
                  </a:moveTo>
                  <a:cubicBezTo>
                    <a:pt x="0" y="3076067"/>
                    <a:pt x="3076067" y="0"/>
                    <a:pt x="6870700" y="0"/>
                  </a:cubicBezTo>
                  <a:cubicBezTo>
                    <a:pt x="10665333" y="0"/>
                    <a:pt x="13741400" y="3076067"/>
                    <a:pt x="13741400" y="6870700"/>
                  </a:cubicBezTo>
                  <a:cubicBezTo>
                    <a:pt x="13741400" y="10665333"/>
                    <a:pt x="10665333" y="13741400"/>
                    <a:pt x="6870700" y="13741400"/>
                  </a:cubicBezTo>
                  <a:cubicBezTo>
                    <a:pt x="3076067" y="13741400"/>
                    <a:pt x="0" y="10665333"/>
                    <a:pt x="0" y="6870700"/>
                  </a:cubicBezTo>
                  <a:close/>
                </a:path>
              </a:pathLst>
            </a:custGeom>
            <a:solidFill>
              <a:srgbClr val="F1F5F9"/>
            </a:solidFill>
            <a:ln w="19050" cap="sq">
              <a:solidFill>
                <a:srgbClr val="F1F5F9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020675" y="-695325"/>
            <a:ext cx="7562850" cy="7562850"/>
            <a:chOff x="0" y="0"/>
            <a:chExt cx="10083800" cy="10083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8380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0083800">
                  <a:moveTo>
                    <a:pt x="0" y="5041900"/>
                  </a:moveTo>
                  <a:cubicBezTo>
                    <a:pt x="0" y="2257298"/>
                    <a:pt x="2257298" y="0"/>
                    <a:pt x="5041900" y="0"/>
                  </a:cubicBezTo>
                  <a:cubicBezTo>
                    <a:pt x="7826502" y="0"/>
                    <a:pt x="10083800" y="2257298"/>
                    <a:pt x="10083800" y="5041900"/>
                  </a:cubicBezTo>
                  <a:cubicBezTo>
                    <a:pt x="10083800" y="7826502"/>
                    <a:pt x="7826502" y="10083800"/>
                    <a:pt x="5041900" y="10083800"/>
                  </a:cubicBezTo>
                  <a:cubicBezTo>
                    <a:pt x="2257298" y="10083800"/>
                    <a:pt x="0" y="7826502"/>
                    <a:pt x="0" y="5041900"/>
                  </a:cubicBezTo>
                  <a:close/>
                </a:path>
              </a:pathLst>
            </a:custGeom>
            <a:solidFill>
              <a:srgbClr val="E2E8F0"/>
            </a:solidFill>
            <a:ln w="1905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25" y="-9525"/>
            <a:ext cx="142494" cy="10306050"/>
            <a:chOff x="0" y="0"/>
            <a:chExt cx="189992" cy="13741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992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89992">
                  <a:moveTo>
                    <a:pt x="0" y="0"/>
                  </a:moveTo>
                  <a:lnTo>
                    <a:pt x="189992" y="0"/>
                  </a:lnTo>
                  <a:lnTo>
                    <a:pt x="189992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689991" y="9010650"/>
            <a:ext cx="5276469" cy="695325"/>
            <a:chOff x="0" y="0"/>
            <a:chExt cx="7035292" cy="927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35292" cy="927100"/>
            </a:xfrm>
            <a:custGeom>
              <a:avLst/>
              <a:gdLst/>
              <a:ahLst/>
              <a:cxnLst/>
              <a:rect r="r" b="b" t="t" l="l"/>
              <a:pathLst>
                <a:path h="927100" w="7035292">
                  <a:moveTo>
                    <a:pt x="0" y="0"/>
                  </a:moveTo>
                  <a:lnTo>
                    <a:pt x="7035292" y="0"/>
                  </a:lnTo>
                  <a:lnTo>
                    <a:pt x="7035292" y="927100"/>
                  </a:lnTo>
                  <a:lnTo>
                    <a:pt x="0" y="927100"/>
                  </a:lnTo>
                  <a:close/>
                </a:path>
              </a:pathLst>
            </a:custGeom>
            <a:solidFill>
              <a:srgbClr val="F1F5F9"/>
            </a:solidFill>
            <a:ln w="9525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89991" y="9056560"/>
            <a:ext cx="5074920" cy="603504"/>
            <a:chOff x="0" y="0"/>
            <a:chExt cx="6766560" cy="80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66560" cy="804672"/>
            </a:xfrm>
            <a:custGeom>
              <a:avLst/>
              <a:gdLst/>
              <a:ahLst/>
              <a:cxnLst/>
              <a:rect r="r" b="b" t="t" l="l"/>
              <a:pathLst>
                <a:path h="804672" w="6766560">
                  <a:moveTo>
                    <a:pt x="0" y="0"/>
                  </a:moveTo>
                  <a:lnTo>
                    <a:pt x="6766560" y="0"/>
                  </a:lnTo>
                  <a:lnTo>
                    <a:pt x="676656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851" r="0" b="-1138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766560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WEEK 10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01 / 30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4032138" y="648383"/>
            <a:ext cx="4852600" cy="4951633"/>
          </a:xfrm>
          <a:custGeom>
            <a:avLst/>
            <a:gdLst/>
            <a:ahLst/>
            <a:cxnLst/>
            <a:rect r="r" b="b" t="t" l="l"/>
            <a:pathLst>
              <a:path h="4951633" w="4852600">
                <a:moveTo>
                  <a:pt x="0" y="0"/>
                </a:moveTo>
                <a:lnTo>
                  <a:pt x="4852600" y="0"/>
                </a:lnTo>
                <a:lnTo>
                  <a:pt x="4852600" y="4951634"/>
                </a:lnTo>
                <a:lnTo>
                  <a:pt x="0" y="49516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4855" y="3339839"/>
            <a:ext cx="14577820" cy="395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74"/>
              </a:lnSpc>
            </a:pPr>
            <a:r>
              <a:rPr lang="en-US" sz="8645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Efficient Frontier</a:t>
            </a:r>
          </a:p>
          <a:p>
            <a:pPr algn="l">
              <a:lnSpc>
                <a:spcPts val="10374"/>
              </a:lnSpc>
            </a:pPr>
            <a:r>
              <a:rPr lang="en-US" sz="8645" b="true">
                <a:solidFill>
                  <a:srgbClr val="0284C7"/>
                </a:solidFill>
                <a:latin typeface="Inter Bold"/>
                <a:ea typeface="Inter Bold"/>
                <a:cs typeface="Inter Bold"/>
                <a:sym typeface="Inter Bold"/>
              </a:rPr>
              <a:t>Linear Programming &amp; Optimization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4855" y="7543800"/>
            <a:ext cx="1234440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Moving from Prediction to Prescription </a:t>
            </a:r>
          </a:p>
          <a:p>
            <a:pPr algn="l">
              <a:lnSpc>
                <a:spcPts val="4680"/>
              </a:lnSpc>
            </a:pPr>
            <a:r>
              <a:rPr lang="en-US" sz="39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Solving the Puzzle of Resource Scarcity.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740283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From prediction to prescription, the final level up in analytics maturity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02 / 30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314050" y="-1030350"/>
            <a:ext cx="7547100" cy="7547100"/>
          </a:xfrm>
          <a:custGeom>
            <a:avLst/>
            <a:gdLst/>
            <a:ahLst/>
            <a:cxnLst/>
            <a:rect r="r" b="b" t="t" l="l"/>
            <a:pathLst>
              <a:path h="7547100" w="7547100">
                <a:moveTo>
                  <a:pt x="0" y="0"/>
                </a:moveTo>
                <a:lnTo>
                  <a:pt x="7547100" y="0"/>
                </a:lnTo>
                <a:lnTo>
                  <a:pt x="7547100" y="7547100"/>
                </a:lnTo>
                <a:lnTo>
                  <a:pt x="0" y="75471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909554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Prescriptive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Shift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Step by step.....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Analytics Maturity Ladder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Descriptive → Diagnostic → Predictive → Prescriptive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Most analysts stop at 'Predictive': 'We will sell 500 units'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strategist says what to produce for maximum profit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is the highest form of analytical value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5860" y="8298180"/>
            <a:ext cx="15773400" cy="617220"/>
            <a:chOff x="0" y="0"/>
            <a:chExt cx="21031200" cy="8229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1031200" cy="8229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i="true">
                  <a:solidFill>
                    <a:srgbClr val="7C3AED"/>
                  </a:solidFill>
                  <a:latin typeface="Inter Italics"/>
                  <a:ea typeface="Inter Italics"/>
                  <a:cs typeface="Inter Italics"/>
                  <a:sym typeface="Inter Italics"/>
                </a:rPr>
                <a:t>Moving beyond 'what will happen?' to 'what should we do?'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03 / 30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7C3AED"/>
                  </a:solidFill>
                  <a:latin typeface="Inter Bold Italics"/>
                  <a:ea typeface="Inter Bold Italics"/>
                  <a:cs typeface="Inter Bold Italics"/>
                  <a:sym typeface="Inter Bold Italics"/>
                </a:rPr>
                <a:t>Optimization assumes scarcity. Without limits, the answer is always infinity.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Scarcity Reality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Strategy is the art of sacrifice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10,000 leads but only 5 sales reps, math picks the winners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 live in a world of 'No', we can't have everything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Optimization is the math of choosing the best 'Yes'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04 / 30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From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describing the past to prescribing the future, the highest value add in analytics.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Defining Prescriptive Analytics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Using data and algorithms to recommend a specific path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Removes 'Gut Feeling' from high-stakes decisions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Transforms the analyst into a Decision Architect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05 / 30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Linear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because the relationships are straight lines, simple, powerful, and solvable.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Linear Programming Foundations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Solving for the 'Best' outcome in a mathematical model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Requirements are represented by linear relationships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Doubling production doubles the cost — a straight line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foundation of modern resource optimization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06 / 30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Logic over Intuition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Humans 'guess' wrong on product mix every time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We focus on 'Highest Price' instead of 'Highest Efficiency'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LP removes bias from resource allocation decisions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Math beats gut instinct in complex multi-variable problems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07 / 30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603123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The three pillars that structure every optimization model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08 / 30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652807" y="685800"/>
            <a:ext cx="4869586" cy="4114800"/>
          </a:xfrm>
          <a:custGeom>
            <a:avLst/>
            <a:gdLst/>
            <a:ahLst/>
            <a:cxnLst/>
            <a:rect r="r" b="b" t="t" l="l"/>
            <a:pathLst>
              <a:path h="4114800" w="4869586">
                <a:moveTo>
                  <a:pt x="0" y="0"/>
                </a:moveTo>
                <a:lnTo>
                  <a:pt x="4869586" y="0"/>
                </a:lnTo>
                <a:lnTo>
                  <a:pt x="48695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1084909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Building Blocks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09 / 30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07695" y="3273857"/>
            <a:ext cx="16468725" cy="2226493"/>
            <a:chOff x="0" y="0"/>
            <a:chExt cx="21958300" cy="29686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58300" cy="2968657"/>
            </a:xfrm>
            <a:custGeom>
              <a:avLst/>
              <a:gdLst/>
              <a:ahLst/>
              <a:cxnLst/>
              <a:rect r="r" b="b" t="t" l="l"/>
              <a:pathLst>
                <a:path h="2968657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2968657"/>
                  </a:lnTo>
                  <a:lnTo>
                    <a:pt x="0" y="2968657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18197" y="3552939"/>
            <a:ext cx="15773400" cy="691139"/>
            <a:chOff x="0" y="0"/>
            <a:chExt cx="21031200" cy="921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031200" cy="921519"/>
            </a:xfrm>
            <a:custGeom>
              <a:avLst/>
              <a:gdLst/>
              <a:ahLst/>
              <a:cxnLst/>
              <a:rect r="r" b="b" t="t" l="l"/>
              <a:pathLst>
                <a:path h="92151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80" r="0" b="-39430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0312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mathematical expression of your goal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527755" y="5801868"/>
            <a:ext cx="4354286" cy="4114800"/>
          </a:xfrm>
          <a:custGeom>
            <a:avLst/>
            <a:gdLst/>
            <a:ahLst/>
            <a:cxnLst/>
            <a:rect r="r" b="b" t="t" l="l"/>
            <a:pathLst>
              <a:path h="4114800" w="4354286">
                <a:moveTo>
                  <a:pt x="0" y="0"/>
                </a:moveTo>
                <a:lnTo>
                  <a:pt x="4354285" y="0"/>
                </a:lnTo>
                <a:lnTo>
                  <a:pt x="435428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Pillar 1, The Objective Function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8197" y="4444479"/>
            <a:ext cx="157734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You must pick one goal. You can't maximize profit and minimize risk at the exact same time in one basic LP. Choose the 'Objective', everything else becomes a constraint.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Pillar 2 – Decision Variables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'Levers', what can you actually change?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Quantity of Product A, Dollars on Facebook, Flight hours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These are the unknowns the computer will solve for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Every variable needs a clear, measurable definition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10 / 30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Every constraint shrinks the feasible region, and sharpens the optimal answer.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Pillar 3 – Constraints (The Walls)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Resource limits, Time, Money, Raw Materials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'We only have 40 hours of labor per week'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Constraints are the 'Rules of the Game'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Without them, the answer would always be infinity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11 / 30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2  •  THE BUILDING BLOCKS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12 / 30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07695" y="3044952"/>
            <a:ext cx="16468725" cy="3712845"/>
            <a:chOff x="0" y="0"/>
            <a:chExt cx="21958300" cy="49504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00" cy="4950460"/>
            </a:xfrm>
            <a:custGeom>
              <a:avLst/>
              <a:gdLst/>
              <a:ahLst/>
              <a:cxnLst/>
              <a:rect r="r" b="b" t="t" l="l"/>
              <a:pathLst>
                <a:path h="4950460" w="21958300">
                  <a:moveTo>
                    <a:pt x="0" y="0"/>
                  </a:moveTo>
                  <a:lnTo>
                    <a:pt x="21958300" y="0"/>
                  </a:lnTo>
                  <a:lnTo>
                    <a:pt x="21958300" y="4950460"/>
                  </a:lnTo>
                  <a:lnTo>
                    <a:pt x="0" y="495046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818197" y="3324034"/>
            <a:ext cx="15773400" cy="691139"/>
            <a:chOff x="0" y="0"/>
            <a:chExt cx="2103120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031200" cy="921519"/>
            </a:xfrm>
            <a:custGeom>
              <a:avLst/>
              <a:gdLst/>
              <a:ahLst/>
              <a:cxnLst/>
              <a:rect r="r" b="b" t="t" l="l"/>
              <a:pathLst>
                <a:path h="921519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080" r="0" b="-3943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03120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Why the obvious must be stated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799341" y="6977996"/>
            <a:ext cx="3867912" cy="4114800"/>
          </a:xfrm>
          <a:custGeom>
            <a:avLst/>
            <a:gdLst/>
            <a:ahLst/>
            <a:cxnLst/>
            <a:rect r="r" b="b" t="t" l="l"/>
            <a:pathLst>
              <a:path h="4114800" w="3867912">
                <a:moveTo>
                  <a:pt x="0" y="0"/>
                </a:moveTo>
                <a:lnTo>
                  <a:pt x="3867912" y="0"/>
                </a:lnTo>
                <a:lnTo>
                  <a:pt x="38679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Non-Negativity Constraints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8197" y="4215574"/>
            <a:ext cx="157734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You can't produce -5 chairs. It seems obvious to a human, but a computer needs to be told this — or it might try to 'steal' resources from a negative product to boost a positive one.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5402402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Business Example: The Ad-Mix Problem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Split $10k between Google and TikTok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Google has higher conversion; TikTok has more reach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How do we write the 'Constraints' for brand awareness?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is the art of modeling real business decisions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13 / 30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6031230"/>
            <a:ext cx="13716000" cy="1186439"/>
            <a:chOff x="0" y="0"/>
            <a:chExt cx="18288000" cy="15819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581919"/>
            </a:xfrm>
            <a:custGeom>
              <a:avLst/>
              <a:gdLst/>
              <a:ahLst/>
              <a:cxnLst/>
              <a:rect r="r" b="b" t="t" l="l"/>
              <a:pathLst>
                <a:path h="158191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1919"/>
                  </a:lnTo>
                  <a:lnTo>
                    <a:pt x="0" y="1581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77" r="0" b="-1599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591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Where math meets geometry, finding the optimal point in a sea of possibilities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14 / 30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69912" y="-607125"/>
            <a:ext cx="6951262" cy="6986193"/>
          </a:xfrm>
          <a:custGeom>
            <a:avLst/>
            <a:gdLst/>
            <a:ahLst/>
            <a:cxnLst/>
            <a:rect r="r" b="b" t="t" l="l"/>
            <a:pathLst>
              <a:path h="6986193" w="6951262">
                <a:moveTo>
                  <a:pt x="0" y="0"/>
                </a:moveTo>
                <a:lnTo>
                  <a:pt x="6951262" y="0"/>
                </a:lnTo>
                <a:lnTo>
                  <a:pt x="6951262" y="6986193"/>
                </a:lnTo>
                <a:lnTo>
                  <a:pt x="0" y="69861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12799695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Visualizing the Frontier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Feasible Region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graph with shaded areas where all constraints are satisfied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Every point in the shaded area is a 'Legal' decision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Every point outside is 'Illegal', not enough resources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optimal answer lives inside this region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15 / 30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The theorem that makes LP computationally practical, check only the corners.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Corner Point Theorem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optimal solution is always at a 'Vertex' (Corner)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 don't have to check millions of points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Only the corners matter, the rest is noise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is the 'Aha!' moment of linear programming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16 / 30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Solving Graphically (2-Variable)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Draw the constraint lines on a graph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Find where they cross to form the feasible region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Great for simple decisions with 2 variables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 3+ variables, you need the Excel Solver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17 / 30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Iso-Profit Lines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line slides across the graph until it barely touches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'Last Touch' is the absolute maximum profit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Visually finding the optimal corner point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point where profit is maximized within all constraints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18 / 30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0120"/>
            <a:ext cx="144018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Infeasible &amp; Unbounded Solutions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2457" y="2601278"/>
            <a:ext cx="8101965" cy="6318885"/>
            <a:chOff x="0" y="0"/>
            <a:chExt cx="10802620" cy="8425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322118" y="2601278"/>
            <a:ext cx="8101965" cy="6318885"/>
            <a:chOff x="0" y="0"/>
            <a:chExt cx="10802620" cy="8425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7680960" cy="691139"/>
            <a:chOff x="0" y="0"/>
            <a:chExt cx="10241280" cy="921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Infeasible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2620" y="2743200"/>
            <a:ext cx="7680960" cy="691139"/>
            <a:chOff x="0" y="0"/>
            <a:chExt cx="1024128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Unbounded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3611499"/>
            <a:ext cx="183642" cy="183642"/>
            <a:chOff x="0" y="0"/>
            <a:chExt cx="244856" cy="244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728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Requirements are mathematically impossible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3435" y="4777359"/>
            <a:ext cx="183642" cy="183642"/>
            <a:chOff x="0" y="0"/>
            <a:chExt cx="244856" cy="244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9728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'I want $1M profit with $10 for ads'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5943219"/>
            <a:ext cx="183642" cy="183642"/>
            <a:chOff x="0" y="0"/>
            <a:chExt cx="244856" cy="244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9728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Solver says: 'No feasible solution'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435" y="7109079"/>
            <a:ext cx="183642" cy="183642"/>
            <a:chOff x="0" y="0"/>
            <a:chExt cx="244856" cy="244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Management goals need adjustment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23095" y="3611499"/>
            <a:ext cx="183642" cy="183642"/>
            <a:chOff x="0" y="0"/>
            <a:chExt cx="244856" cy="244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80694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Profit can go to infinity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3095" y="4777359"/>
            <a:ext cx="183642" cy="183642"/>
            <a:chOff x="0" y="0"/>
            <a:chExt cx="244856" cy="244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80694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Usually means a constraint was forgotten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23095" y="5943219"/>
            <a:ext cx="183642" cy="183642"/>
            <a:chOff x="0" y="0"/>
            <a:chExt cx="244856" cy="244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80694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 modeling error, not a real solution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23095" y="7109079"/>
            <a:ext cx="183642" cy="183642"/>
            <a:chOff x="0" y="0"/>
            <a:chExt cx="244856" cy="244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80694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Check for missing resource limits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19 / 30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6031230"/>
            <a:ext cx="13716000" cy="822960"/>
            <a:chOff x="0" y="0"/>
            <a:chExt cx="1828800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Excel's hidden brain, turning math into automated decisions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20 / 30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124121" y="-241259"/>
            <a:ext cx="6251748" cy="6346952"/>
          </a:xfrm>
          <a:custGeom>
            <a:avLst/>
            <a:gdLst/>
            <a:ahLst/>
            <a:cxnLst/>
            <a:rect r="r" b="b" t="t" l="l"/>
            <a:pathLst>
              <a:path h="6346952" w="6251748">
                <a:moveTo>
                  <a:pt x="0" y="0"/>
                </a:moveTo>
                <a:lnTo>
                  <a:pt x="6251748" y="0"/>
                </a:lnTo>
                <a:lnTo>
                  <a:pt x="6251748" y="6346952"/>
                </a:lnTo>
                <a:lnTo>
                  <a:pt x="0" y="6346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1113365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The Power of Solver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Activating &amp; Setting Up Solver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475297" y="3149917"/>
            <a:ext cx="5290185" cy="5221605"/>
            <a:chOff x="0" y="0"/>
            <a:chExt cx="7053580" cy="6962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053580" cy="6962140"/>
            </a:xfrm>
            <a:custGeom>
              <a:avLst/>
              <a:gdLst/>
              <a:ahLst/>
              <a:cxnLst/>
              <a:rect r="r" b="b" t="t" l="l"/>
              <a:pathLst>
                <a:path h="6962140" w="7053580">
                  <a:moveTo>
                    <a:pt x="0" y="0"/>
                  </a:moveTo>
                  <a:lnTo>
                    <a:pt x="7053580" y="0"/>
                  </a:lnTo>
                  <a:lnTo>
                    <a:pt x="7053580" y="6962140"/>
                  </a:lnTo>
                  <a:lnTo>
                    <a:pt x="0" y="69621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2589657" y="3488055"/>
            <a:ext cx="1061466" cy="1061466"/>
            <a:chOff x="0" y="0"/>
            <a:chExt cx="1415288" cy="14152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5288" cy="1415288"/>
            </a:xfrm>
            <a:custGeom>
              <a:avLst/>
              <a:gdLst/>
              <a:ahLst/>
              <a:cxnLst/>
              <a:rect r="r" b="b" t="t" l="l"/>
              <a:pathLst>
                <a:path h="1415288" w="1415288">
                  <a:moveTo>
                    <a:pt x="0" y="707644"/>
                  </a:moveTo>
                  <a:cubicBezTo>
                    <a:pt x="0" y="316865"/>
                    <a:pt x="316865" y="0"/>
                    <a:pt x="707644" y="0"/>
                  </a:cubicBezTo>
                  <a:cubicBezTo>
                    <a:pt x="1098423" y="0"/>
                    <a:pt x="1415288" y="316865"/>
                    <a:pt x="1415288" y="707644"/>
                  </a:cubicBezTo>
                  <a:cubicBezTo>
                    <a:pt x="1415288" y="1098423"/>
                    <a:pt x="1098423" y="1415288"/>
                    <a:pt x="707644" y="1415288"/>
                  </a:cubicBezTo>
                  <a:cubicBezTo>
                    <a:pt x="316865" y="1415288"/>
                    <a:pt x="0" y="1098423"/>
                    <a:pt x="0" y="707644"/>
                  </a:cubicBezTo>
                  <a:close/>
                </a:path>
              </a:pathLst>
            </a:custGeom>
            <a:solidFill>
              <a:srgbClr val="33CCFF"/>
            </a:solidFill>
            <a:ln w="19050" cap="sq">
              <a:solidFill>
                <a:srgbClr val="33CC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2599182" y="3497580"/>
            <a:ext cx="1042416" cy="1042416"/>
            <a:chOff x="0" y="0"/>
            <a:chExt cx="1389888" cy="13898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389888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4800600"/>
            <a:ext cx="4869180" cy="691139"/>
            <a:chOff x="0" y="0"/>
            <a:chExt cx="649224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92240" cy="921519"/>
            </a:xfrm>
            <a:custGeom>
              <a:avLst/>
              <a:gdLst/>
              <a:ahLst/>
              <a:cxnLst/>
              <a:rect r="r" b="b" t="t" l="l"/>
              <a:pathLst>
                <a:path h="921519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61" r="0" b="-868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49224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33CC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Activate Solver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85800" y="5614035"/>
            <a:ext cx="486918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File → Options → Add-ins → Solver Add-in. This unlocks Excel's optimization engine.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982919" y="5349240"/>
            <a:ext cx="548640" cy="887425"/>
            <a:chOff x="0" y="0"/>
            <a:chExt cx="731520" cy="11832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1183233"/>
            </a:xfrm>
            <a:custGeom>
              <a:avLst/>
              <a:gdLst/>
              <a:ahLst/>
              <a:cxnLst/>
              <a:rect r="r" b="b" t="t" l="l"/>
              <a:pathLst>
                <a:path h="1183233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83233"/>
                  </a:lnTo>
                  <a:lnTo>
                    <a:pt x="0" y="118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227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31520" cy="11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&gt;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96621" y="3149917"/>
            <a:ext cx="5290185" cy="5221605"/>
            <a:chOff x="0" y="0"/>
            <a:chExt cx="7053580" cy="6962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53580" cy="6962140"/>
            </a:xfrm>
            <a:custGeom>
              <a:avLst/>
              <a:gdLst/>
              <a:ahLst/>
              <a:cxnLst/>
              <a:rect r="r" b="b" t="t" l="l"/>
              <a:pathLst>
                <a:path h="6962140" w="7053580">
                  <a:moveTo>
                    <a:pt x="0" y="0"/>
                  </a:moveTo>
                  <a:lnTo>
                    <a:pt x="7053580" y="0"/>
                  </a:lnTo>
                  <a:lnTo>
                    <a:pt x="7053580" y="6962140"/>
                  </a:lnTo>
                  <a:lnTo>
                    <a:pt x="0" y="69621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610981" y="3488055"/>
            <a:ext cx="1061466" cy="1061466"/>
            <a:chOff x="0" y="0"/>
            <a:chExt cx="1415288" cy="14152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5288" cy="1415288"/>
            </a:xfrm>
            <a:custGeom>
              <a:avLst/>
              <a:gdLst/>
              <a:ahLst/>
              <a:cxnLst/>
              <a:rect r="r" b="b" t="t" l="l"/>
              <a:pathLst>
                <a:path h="1415288" w="1415288">
                  <a:moveTo>
                    <a:pt x="0" y="707644"/>
                  </a:moveTo>
                  <a:cubicBezTo>
                    <a:pt x="0" y="316865"/>
                    <a:pt x="316865" y="0"/>
                    <a:pt x="707644" y="0"/>
                  </a:cubicBezTo>
                  <a:cubicBezTo>
                    <a:pt x="1098423" y="0"/>
                    <a:pt x="1415288" y="316865"/>
                    <a:pt x="1415288" y="707644"/>
                  </a:cubicBezTo>
                  <a:cubicBezTo>
                    <a:pt x="1415288" y="1098423"/>
                    <a:pt x="1098423" y="1415288"/>
                    <a:pt x="707644" y="1415288"/>
                  </a:cubicBezTo>
                  <a:cubicBezTo>
                    <a:pt x="316865" y="1415288"/>
                    <a:pt x="0" y="1098423"/>
                    <a:pt x="0" y="707644"/>
                  </a:cubicBezTo>
                  <a:close/>
                </a:path>
              </a:pathLst>
            </a:custGeom>
            <a:solidFill>
              <a:srgbClr val="D1A2D6"/>
            </a:solidFill>
            <a:ln w="19050" cap="sq">
              <a:solidFill>
                <a:srgbClr val="D1A2D6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8620506" y="3497580"/>
            <a:ext cx="1042416" cy="1042416"/>
            <a:chOff x="0" y="0"/>
            <a:chExt cx="1389888" cy="13898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389888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07124" y="4800600"/>
            <a:ext cx="4869180" cy="691139"/>
            <a:chOff x="0" y="0"/>
            <a:chExt cx="6492240" cy="92151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492240" cy="921519"/>
            </a:xfrm>
            <a:custGeom>
              <a:avLst/>
              <a:gdLst/>
              <a:ahLst/>
              <a:cxnLst/>
              <a:rect r="r" b="b" t="t" l="l"/>
              <a:pathLst>
                <a:path h="921519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61" r="0" b="-868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49224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D1A2D6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Set Objective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707124" y="5614035"/>
            <a:ext cx="486918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Choose your goal cell. Maximize Profit or Minimize Cost — one goal, clearly defined.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004243" y="5349240"/>
            <a:ext cx="548640" cy="887425"/>
            <a:chOff x="0" y="0"/>
            <a:chExt cx="731520" cy="11832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1183233"/>
            </a:xfrm>
            <a:custGeom>
              <a:avLst/>
              <a:gdLst/>
              <a:ahLst/>
              <a:cxnLst/>
              <a:rect r="r" b="b" t="t" l="l"/>
              <a:pathLst>
                <a:path h="1183233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183233"/>
                  </a:lnTo>
                  <a:lnTo>
                    <a:pt x="0" y="11832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79" t="0" r="-110379" b="2272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731520" cy="11832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94A3B8"/>
                  </a:solidFill>
                  <a:latin typeface="Inter Bold"/>
                  <a:ea typeface="Inter Bold"/>
                  <a:cs typeface="Inter Bold"/>
                  <a:sym typeface="Inter Bold"/>
                </a:rPr>
                <a:t>&gt;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17946" y="3149917"/>
            <a:ext cx="5290185" cy="5221605"/>
            <a:chOff x="0" y="0"/>
            <a:chExt cx="7053580" cy="6962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053580" cy="6962140"/>
            </a:xfrm>
            <a:custGeom>
              <a:avLst/>
              <a:gdLst/>
              <a:ahLst/>
              <a:cxnLst/>
              <a:rect r="r" b="b" t="t" l="l"/>
              <a:pathLst>
                <a:path h="6962140" w="7053580">
                  <a:moveTo>
                    <a:pt x="0" y="0"/>
                  </a:moveTo>
                  <a:lnTo>
                    <a:pt x="7053580" y="0"/>
                  </a:lnTo>
                  <a:lnTo>
                    <a:pt x="7053580" y="6962140"/>
                  </a:lnTo>
                  <a:lnTo>
                    <a:pt x="0" y="69621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632305" y="3488055"/>
            <a:ext cx="1061466" cy="1061466"/>
            <a:chOff x="0" y="0"/>
            <a:chExt cx="1415288" cy="14152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5288" cy="1415288"/>
            </a:xfrm>
            <a:custGeom>
              <a:avLst/>
              <a:gdLst/>
              <a:ahLst/>
              <a:cxnLst/>
              <a:rect r="r" b="b" t="t" l="l"/>
              <a:pathLst>
                <a:path h="1415288" w="1415288">
                  <a:moveTo>
                    <a:pt x="0" y="707644"/>
                  </a:moveTo>
                  <a:cubicBezTo>
                    <a:pt x="0" y="316865"/>
                    <a:pt x="316865" y="0"/>
                    <a:pt x="707644" y="0"/>
                  </a:cubicBezTo>
                  <a:cubicBezTo>
                    <a:pt x="1098423" y="0"/>
                    <a:pt x="1415288" y="316865"/>
                    <a:pt x="1415288" y="707644"/>
                  </a:cubicBezTo>
                  <a:cubicBezTo>
                    <a:pt x="1415288" y="1098423"/>
                    <a:pt x="1098423" y="1415288"/>
                    <a:pt x="707644" y="1415288"/>
                  </a:cubicBezTo>
                  <a:cubicBezTo>
                    <a:pt x="316865" y="1415288"/>
                    <a:pt x="0" y="1098423"/>
                    <a:pt x="0" y="707644"/>
                  </a:cubicBezTo>
                  <a:close/>
                </a:path>
              </a:pathLst>
            </a:custGeom>
            <a:solidFill>
              <a:srgbClr val="88DDFF"/>
            </a:solidFill>
            <a:ln w="19050" cap="sq">
              <a:solidFill>
                <a:srgbClr val="88DDFF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4641830" y="3497580"/>
            <a:ext cx="1042416" cy="1042416"/>
            <a:chOff x="0" y="0"/>
            <a:chExt cx="1389888" cy="13898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89888" cy="1389888"/>
            </a:xfrm>
            <a:custGeom>
              <a:avLst/>
              <a:gdLst/>
              <a:ahLst/>
              <a:cxnLst/>
              <a:rect r="r" b="b" t="t" l="l"/>
              <a:pathLst>
                <a:path h="1389888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89888" cy="1389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8FAFC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728448" y="4800600"/>
            <a:ext cx="4869180" cy="691139"/>
            <a:chOff x="0" y="0"/>
            <a:chExt cx="6492240" cy="92151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92240" cy="921519"/>
            </a:xfrm>
            <a:custGeom>
              <a:avLst/>
              <a:gdLst/>
              <a:ahLst/>
              <a:cxnLst/>
              <a:rect r="r" b="b" t="t" l="l"/>
              <a:pathLst>
                <a:path h="921519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661" r="0" b="-8688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649224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88DDFF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Add Constraints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728448" y="5614035"/>
            <a:ext cx="486918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Define resource limits and non-negativity. The walls that shape your solution.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21 / 30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0120"/>
            <a:ext cx="144018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Solving Methods: Simplex vs. GRG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2457" y="2601278"/>
            <a:ext cx="8101965" cy="6318885"/>
            <a:chOff x="0" y="0"/>
            <a:chExt cx="10802620" cy="8425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322118" y="2601278"/>
            <a:ext cx="8101965" cy="6318885"/>
            <a:chOff x="0" y="0"/>
            <a:chExt cx="10802620" cy="8425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7680960" cy="691139"/>
            <a:chOff x="0" y="0"/>
            <a:chExt cx="10241280" cy="921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Simplex LP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2620" y="2743200"/>
            <a:ext cx="7680960" cy="691139"/>
            <a:chOff x="0" y="0"/>
            <a:chExt cx="1024128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GRG Nonlinear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3611499"/>
            <a:ext cx="183642" cy="183642"/>
            <a:chOff x="0" y="0"/>
            <a:chExt cx="244856" cy="244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728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 straight lines — standard business mix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3435" y="4777359"/>
            <a:ext cx="183642" cy="183642"/>
            <a:chOff x="0" y="0"/>
            <a:chExt cx="244856" cy="244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9728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Fast and reliable for linear models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5943219"/>
            <a:ext cx="183642" cy="183642"/>
            <a:chOff x="0" y="0"/>
            <a:chExt cx="244856" cy="244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9728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default choice for most business problems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435" y="7109079"/>
            <a:ext cx="183642" cy="183642"/>
            <a:chOff x="0" y="0"/>
            <a:chExt cx="244856" cy="244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Uses the Simplex method algorithm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23095" y="3611499"/>
            <a:ext cx="183642" cy="183642"/>
            <a:chOff x="0" y="0"/>
            <a:chExt cx="244856" cy="244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80694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For curves — complex finance and engineering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3095" y="4777359"/>
            <a:ext cx="183642" cy="183642"/>
            <a:chOff x="0" y="0"/>
            <a:chExt cx="244856" cy="244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80694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Slower but handles non-linear relationships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23095" y="5943219"/>
            <a:ext cx="183642" cy="183642"/>
            <a:chOff x="0" y="0"/>
            <a:chExt cx="244856" cy="244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80694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 when relationships are not proportional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23095" y="7109079"/>
            <a:ext cx="183642" cy="183642"/>
            <a:chOff x="0" y="0"/>
            <a:chExt cx="244856" cy="244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80694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GRG = Generalized Reduced Gradient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22 / 30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Integer constraints make the math harder for Solver but more realistic for business.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Integer &amp; Binary Constraints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Integer: You can't ship 0.4 of a truck, must be whole numbers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Telling Solver a variable must be a whole number (Integer)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Binary: 1 for Yes (open warehouse), 0 for No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Used for 'Capital Budgeting', choosing which projects to fund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23 / 30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Interpreting the Answer Report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Original Value vs. Final Value, the before and after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is the summary you show your boss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'We increased profit by 14% by shifting these 3 variables'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Answer Report is your proof of analytical value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24 / 30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642" cy="10306050"/>
            <a:chOff x="0" y="0"/>
            <a:chExt cx="244856" cy="13741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56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277475" y="-2066925"/>
            <a:ext cx="9620250" cy="9620250"/>
            <a:chOff x="0" y="0"/>
            <a:chExt cx="12827000" cy="1282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27000" cy="12827000"/>
            </a:xfrm>
            <a:custGeom>
              <a:avLst/>
              <a:gdLst/>
              <a:ahLst/>
              <a:cxnLst/>
              <a:rect r="r" b="b" t="t" l="l"/>
              <a:pathLst>
                <a:path h="12827000" w="12827000">
                  <a:moveTo>
                    <a:pt x="0" y="6413500"/>
                  </a:moveTo>
                  <a:cubicBezTo>
                    <a:pt x="0" y="2871470"/>
                    <a:pt x="2871470" y="0"/>
                    <a:pt x="6413500" y="0"/>
                  </a:cubicBezTo>
                  <a:cubicBezTo>
                    <a:pt x="9955530" y="0"/>
                    <a:pt x="12827000" y="2871470"/>
                    <a:pt x="12827000" y="6413500"/>
                  </a:cubicBezTo>
                  <a:cubicBezTo>
                    <a:pt x="12827000" y="9955530"/>
                    <a:pt x="9955530" y="12827000"/>
                    <a:pt x="6413500" y="12827000"/>
                  </a:cubicBezTo>
                  <a:cubicBezTo>
                    <a:pt x="2871470" y="12827000"/>
                    <a:pt x="0" y="9955530"/>
                    <a:pt x="0" y="6413500"/>
                  </a:cubicBezTo>
                  <a:close/>
                </a:path>
              </a:pathLst>
            </a:custGeom>
            <a:solidFill>
              <a:srgbClr val="CBD5E1"/>
            </a:solid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85800" y="384048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4630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SECTION 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800" y="7402830"/>
            <a:ext cx="13716000" cy="1186439"/>
            <a:chOff x="0" y="0"/>
            <a:chExt cx="18288000" cy="15819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1581919"/>
            </a:xfrm>
            <a:custGeom>
              <a:avLst/>
              <a:gdLst/>
              <a:ahLst/>
              <a:cxnLst/>
              <a:rect r="r" b="b" t="t" l="l"/>
              <a:pathLst>
                <a:path h="1581919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81919"/>
                  </a:lnTo>
                  <a:lnTo>
                    <a:pt x="0" y="15819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77" r="0" b="-1599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8288000" cy="1591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>
                  <a:solidFill>
                    <a:srgbClr val="7C3AED"/>
                  </a:solidFill>
                  <a:latin typeface="Inter"/>
                  <a:ea typeface="Inter"/>
                  <a:cs typeface="Inter"/>
                  <a:sym typeface="Inter"/>
                </a:rPr>
                <a:t>Going beyond the basic solution, sensitivity, shadow prices, and executive communication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25 / 30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090654" y="-669074"/>
            <a:ext cx="6238606" cy="6566954"/>
          </a:xfrm>
          <a:custGeom>
            <a:avLst/>
            <a:gdLst/>
            <a:ahLst/>
            <a:cxnLst/>
            <a:rect r="r" b="b" t="t" l="l"/>
            <a:pathLst>
              <a:path h="6566954" w="6238606">
                <a:moveTo>
                  <a:pt x="0" y="0"/>
                </a:moveTo>
                <a:lnTo>
                  <a:pt x="6238606" y="0"/>
                </a:lnTo>
                <a:lnTo>
                  <a:pt x="6238606" y="6566954"/>
                </a:lnTo>
                <a:lnTo>
                  <a:pt x="0" y="65669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5800" y="4526280"/>
            <a:ext cx="1069062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Advanced Decision</a:t>
            </a:r>
          </a:p>
          <a:p>
            <a:pPr algn="l">
              <a:lnSpc>
                <a:spcPts val="10800"/>
              </a:lnSpc>
            </a:pPr>
            <a:r>
              <a:rPr lang="en-US" sz="90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Support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Shadow prices tell you which constraints are worth spending money to relieve.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Shadow Pricing (The Hidden Gem)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How much would profit increase for +1 unit of a constraint?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If Shadow Price for 'Labor' is $50, and a worker costs $20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 must do it, it's an instant $30 profit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reveals where to invest next for maximum return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26 / 30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17220" y="960120"/>
            <a:ext cx="14401800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7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Binding vs. Non-Binding Constraints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12457" y="2601278"/>
            <a:ext cx="8101965" cy="6318885"/>
            <a:chOff x="0" y="0"/>
            <a:chExt cx="10802620" cy="84251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322118" y="2601278"/>
            <a:ext cx="8101965" cy="6318885"/>
            <a:chOff x="0" y="0"/>
            <a:chExt cx="10802620" cy="84251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2620" cy="8425180"/>
            </a:xfrm>
            <a:custGeom>
              <a:avLst/>
              <a:gdLst/>
              <a:ahLst/>
              <a:cxnLst/>
              <a:rect r="r" b="b" t="t" l="l"/>
              <a:pathLst>
                <a:path h="8425180" w="10802620">
                  <a:moveTo>
                    <a:pt x="0" y="0"/>
                  </a:moveTo>
                  <a:lnTo>
                    <a:pt x="10802620" y="0"/>
                  </a:lnTo>
                  <a:lnTo>
                    <a:pt x="10802620" y="8425180"/>
                  </a:lnTo>
                  <a:lnTo>
                    <a:pt x="0" y="842518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743200"/>
            <a:ext cx="7680960" cy="691139"/>
            <a:chOff x="0" y="0"/>
            <a:chExt cx="10241280" cy="921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0284C7"/>
                  </a:solidFill>
                  <a:latin typeface="Inter Bold"/>
                  <a:ea typeface="Inter Bold"/>
                  <a:cs typeface="Inter Bold"/>
                  <a:sym typeface="Inter Bold"/>
                </a:rPr>
                <a:t>Binding (Bottleneck)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532620" y="2743200"/>
            <a:ext cx="7680960" cy="691139"/>
            <a:chOff x="0" y="0"/>
            <a:chExt cx="10241280" cy="9215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0" cy="921519"/>
            </a:xfrm>
            <a:custGeom>
              <a:avLst/>
              <a:gdLst/>
              <a:ahLst/>
              <a:cxnLst/>
              <a:rect r="r" b="b" t="t" l="l"/>
              <a:pathLst>
                <a:path h="921519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21519"/>
                  </a:lnTo>
                  <a:lnTo>
                    <a:pt x="0" y="921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932" r="0" b="-1661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0241280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Non-Binding (Slack)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13435" y="3611499"/>
            <a:ext cx="183642" cy="183642"/>
            <a:chOff x="0" y="0"/>
            <a:chExt cx="244856" cy="2448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09728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 used every drop of the resource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13435" y="4777359"/>
            <a:ext cx="183642" cy="183642"/>
            <a:chOff x="0" y="0"/>
            <a:chExt cx="244856" cy="2448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9728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is the constraint that limits you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3435" y="5943219"/>
            <a:ext cx="183642" cy="183642"/>
            <a:chOff x="0" y="0"/>
            <a:chExt cx="244856" cy="244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09728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Relaxing it directly raises profit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13435" y="7109079"/>
            <a:ext cx="183642" cy="183642"/>
            <a:chOff x="0" y="0"/>
            <a:chExt cx="244856" cy="2448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09728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This is where managers should focus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523095" y="3611499"/>
            <a:ext cx="183642" cy="183642"/>
            <a:chOff x="0" y="0"/>
            <a:chExt cx="244856" cy="244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806940" y="356616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You have leftover resource available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523095" y="4777359"/>
            <a:ext cx="183642" cy="183642"/>
            <a:chOff x="0" y="0"/>
            <a:chExt cx="244856" cy="24485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9806940" y="473202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Increasing it is a waste of money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523095" y="5943219"/>
            <a:ext cx="183642" cy="183642"/>
            <a:chOff x="0" y="0"/>
            <a:chExt cx="244856" cy="2448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9806940" y="589788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Not the bottleneck, focus elsewhere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523095" y="7109079"/>
            <a:ext cx="183642" cy="183642"/>
            <a:chOff x="0" y="0"/>
            <a:chExt cx="244856" cy="244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4856" cy="244856"/>
            </a:xfrm>
            <a:custGeom>
              <a:avLst/>
              <a:gdLst/>
              <a:ahLst/>
              <a:cxnLst/>
              <a:rect r="r" b="b" t="t" l="l"/>
              <a:pathLst>
                <a:path h="244856" w="244856">
                  <a:moveTo>
                    <a:pt x="0" y="0"/>
                  </a:moveTo>
                  <a:lnTo>
                    <a:pt x="244856" y="0"/>
                  </a:lnTo>
                  <a:lnTo>
                    <a:pt x="244856" y="244856"/>
                  </a:lnTo>
                  <a:lnTo>
                    <a:pt x="0" y="244856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9806940" y="7063740"/>
            <a:ext cx="740664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Has 'Slack', unused capacity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27 / 30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Sensitivity analysis measures the stability of your optimal solution under changing conditions.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17220" y="969645"/>
            <a:ext cx="1440180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63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Sensitivity Analysis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7695" y="2349627"/>
            <a:ext cx="3310890" cy="57455"/>
            <a:chOff x="0" y="0"/>
            <a:chExt cx="4414520" cy="76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607695" y="2857119"/>
            <a:ext cx="211074" cy="211074"/>
            <a:chOff x="0" y="0"/>
            <a:chExt cx="281432" cy="2814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87552" y="277482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How much can prices change before our mix is no longer optimal?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07695" y="4160139"/>
            <a:ext cx="211074" cy="211074"/>
            <a:chOff x="0" y="0"/>
            <a:chExt cx="281432" cy="281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87552" y="407784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Allowable Increase / Decrease ranges per variable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7695" y="5463159"/>
            <a:ext cx="211074" cy="211074"/>
            <a:chOff x="0" y="0"/>
            <a:chExt cx="281432" cy="2814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87552" y="538086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Measures how 'Stable' your plan is in a volatile market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07695" y="6766179"/>
            <a:ext cx="211074" cy="211074"/>
            <a:chOff x="0" y="0"/>
            <a:chExt cx="281432" cy="2814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1432" cy="281432"/>
            </a:xfrm>
            <a:custGeom>
              <a:avLst/>
              <a:gdLst/>
              <a:ahLst/>
              <a:cxnLst/>
              <a:rect r="r" b="b" t="t" l="l"/>
              <a:pathLst>
                <a:path h="281432" w="281432">
                  <a:moveTo>
                    <a:pt x="0" y="0"/>
                  </a:moveTo>
                  <a:lnTo>
                    <a:pt x="281432" y="0"/>
                  </a:lnTo>
                  <a:lnTo>
                    <a:pt x="281432" y="281432"/>
                  </a:lnTo>
                  <a:lnTo>
                    <a:pt x="0" y="281432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87552" y="6683883"/>
            <a:ext cx="1618488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difference between a fragile plan and a robust strategy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28 / 30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2478" cy="101346"/>
            <a:chOff x="0" y="0"/>
            <a:chExt cx="24403304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330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3304">
                  <a:moveTo>
                    <a:pt x="0" y="0"/>
                  </a:moveTo>
                  <a:lnTo>
                    <a:pt x="24403304" y="0"/>
                  </a:lnTo>
                  <a:lnTo>
                    <a:pt x="2440330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17220" y="301752"/>
            <a:ext cx="10972800" cy="480060"/>
            <a:chOff x="0" y="0"/>
            <a:chExt cx="14630400" cy="640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46304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You</a:t>
              </a:r>
              <a:r>
                <a:rPr lang="en-US" sz="1650" b="true">
                  <a:solidFill>
                    <a:srgbClr val="7C3AE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have moved from data entry to Strategic Advisory. The math has given you the answer.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07695" y="2185035"/>
            <a:ext cx="3310890" cy="57455"/>
            <a:chOff x="0" y="0"/>
            <a:chExt cx="4414520" cy="76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4520" cy="76581"/>
            </a:xfrm>
            <a:custGeom>
              <a:avLst/>
              <a:gdLst/>
              <a:ahLst/>
              <a:cxnLst/>
              <a:rect r="r" b="b" t="t" l="l"/>
              <a:pathLst>
                <a:path h="76581" w="4414520">
                  <a:moveTo>
                    <a:pt x="0" y="0"/>
                  </a:moveTo>
                  <a:lnTo>
                    <a:pt x="4414520" y="0"/>
                  </a:lnTo>
                  <a:lnTo>
                    <a:pt x="4414520" y="76581"/>
                  </a:lnTo>
                  <a:lnTo>
                    <a:pt x="0" y="76581"/>
                  </a:lnTo>
                  <a:close/>
                </a:path>
              </a:pathLst>
            </a:custGeom>
            <a:solidFill>
              <a:srgbClr val="0284C7"/>
            </a:solidFill>
            <a:ln w="19050" cap="sq">
              <a:solidFill>
                <a:srgbClr val="0284C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75297" y="2875598"/>
            <a:ext cx="4124325" cy="5907405"/>
            <a:chOff x="0" y="0"/>
            <a:chExt cx="5499100" cy="78765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617220" y="3017520"/>
            <a:ext cx="3840480" cy="635236"/>
            <a:chOff x="0" y="0"/>
            <a:chExt cx="5120640" cy="8469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Prescriptive Logic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878134" y="2875598"/>
            <a:ext cx="4124325" cy="5907405"/>
            <a:chOff x="0" y="0"/>
            <a:chExt cx="5499100" cy="78765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020056" y="3017520"/>
            <a:ext cx="3840480" cy="635236"/>
            <a:chOff x="0" y="0"/>
            <a:chExt cx="5120640" cy="8469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Excel Solver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80970" y="2875598"/>
            <a:ext cx="4124325" cy="5907405"/>
            <a:chOff x="0" y="0"/>
            <a:chExt cx="5499100" cy="78765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422892" y="3017520"/>
            <a:ext cx="3840480" cy="635236"/>
            <a:chOff x="0" y="0"/>
            <a:chExt cx="5120640" cy="84698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Constraints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83805" y="2875598"/>
            <a:ext cx="4124325" cy="5907405"/>
            <a:chOff x="0" y="0"/>
            <a:chExt cx="5499100" cy="78765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99100" cy="7876540"/>
            </a:xfrm>
            <a:custGeom>
              <a:avLst/>
              <a:gdLst/>
              <a:ahLst/>
              <a:cxnLst/>
              <a:rect r="r" b="b" t="t" l="l"/>
              <a:pathLst>
                <a:path h="7876540" w="5499100">
                  <a:moveTo>
                    <a:pt x="0" y="0"/>
                  </a:moveTo>
                  <a:lnTo>
                    <a:pt x="5499100" y="0"/>
                  </a:lnTo>
                  <a:lnTo>
                    <a:pt x="5499100" y="7876540"/>
                  </a:lnTo>
                  <a:lnTo>
                    <a:pt x="0" y="78765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3825728" y="3017520"/>
            <a:ext cx="3840480" cy="635236"/>
            <a:chOff x="0" y="0"/>
            <a:chExt cx="5120640" cy="8469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20640" cy="846981"/>
            </a:xfrm>
            <a:custGeom>
              <a:avLst/>
              <a:gdLst/>
              <a:ahLst/>
              <a:cxnLst/>
              <a:rect r="r" b="b" t="t" l="l"/>
              <a:pathLst>
                <a:path h="846981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46981"/>
                  </a:lnTo>
                  <a:lnTo>
                    <a:pt x="0" y="846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19" r="0" b="-6638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120640" cy="8469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Shadow Prices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29 / 30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412271" y="5983267"/>
            <a:ext cx="2250378" cy="2586642"/>
          </a:xfrm>
          <a:custGeom>
            <a:avLst/>
            <a:gdLst/>
            <a:ahLst/>
            <a:cxnLst/>
            <a:rect r="r" b="b" t="t" l="l"/>
            <a:pathLst>
              <a:path h="2586642" w="2250378">
                <a:moveTo>
                  <a:pt x="0" y="0"/>
                </a:moveTo>
                <a:lnTo>
                  <a:pt x="2250378" y="0"/>
                </a:lnTo>
                <a:lnTo>
                  <a:pt x="2250378" y="2586642"/>
                </a:lnTo>
                <a:lnTo>
                  <a:pt x="0" y="258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5646975" y="5983267"/>
            <a:ext cx="2586642" cy="2586642"/>
          </a:xfrm>
          <a:custGeom>
            <a:avLst/>
            <a:gdLst/>
            <a:ahLst/>
            <a:cxnLst/>
            <a:rect r="r" b="b" t="t" l="l"/>
            <a:pathLst>
              <a:path h="2586642" w="2586642">
                <a:moveTo>
                  <a:pt x="0" y="0"/>
                </a:moveTo>
                <a:lnTo>
                  <a:pt x="2586642" y="0"/>
                </a:lnTo>
                <a:lnTo>
                  <a:pt x="2586642" y="2586642"/>
                </a:lnTo>
                <a:lnTo>
                  <a:pt x="0" y="25866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972828" y="5829300"/>
            <a:ext cx="2740609" cy="2740609"/>
          </a:xfrm>
          <a:custGeom>
            <a:avLst/>
            <a:gdLst/>
            <a:ahLst/>
            <a:cxnLst/>
            <a:rect r="r" b="b" t="t" l="l"/>
            <a:pathLst>
              <a:path h="2740609" w="2740609">
                <a:moveTo>
                  <a:pt x="0" y="0"/>
                </a:moveTo>
                <a:lnTo>
                  <a:pt x="2740608" y="0"/>
                </a:lnTo>
                <a:lnTo>
                  <a:pt x="2740608" y="2740609"/>
                </a:lnTo>
                <a:lnTo>
                  <a:pt x="0" y="27406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624495" y="5829300"/>
            <a:ext cx="2274705" cy="2740609"/>
          </a:xfrm>
          <a:custGeom>
            <a:avLst/>
            <a:gdLst/>
            <a:ahLst/>
            <a:cxnLst/>
            <a:rect r="r" b="b" t="t" l="l"/>
            <a:pathLst>
              <a:path h="2740609" w="2274705">
                <a:moveTo>
                  <a:pt x="0" y="0"/>
                </a:moveTo>
                <a:lnTo>
                  <a:pt x="2274705" y="0"/>
                </a:lnTo>
                <a:lnTo>
                  <a:pt x="2274705" y="2740609"/>
                </a:lnTo>
                <a:lnTo>
                  <a:pt x="0" y="27406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17220" y="969645"/>
            <a:ext cx="144018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F172A"/>
                </a:solidFill>
                <a:latin typeface="Inter Bold"/>
                <a:ea typeface="Inter Bold"/>
                <a:cs typeface="Inter Bold"/>
                <a:sym typeface="Inter Bold"/>
              </a:rPr>
              <a:t>Week 10 Summary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5800" y="3968115"/>
            <a:ext cx="37033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Moving from prediction to prescription — asking 'what should we do?' instead of 'what will happen?'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088636" y="3968115"/>
            <a:ext cx="37033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The tool that finds the optimal solution among infinite possibilities using the Simplex method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91472" y="3968115"/>
            <a:ext cx="370332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The walls that define your feasible region and shape every strategic decision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94308" y="3968115"/>
            <a:ext cx="37033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7C3AED"/>
                </a:solidFill>
                <a:latin typeface="Inter"/>
                <a:ea typeface="Inter"/>
                <a:cs typeface="Inter"/>
                <a:sym typeface="Inter"/>
              </a:rPr>
              <a:t>The hidden value of each resource — revealing exactly where to invest next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9115" y="2459355"/>
            <a:ext cx="95860" cy="5231130"/>
            <a:chOff x="0" y="0"/>
            <a:chExt cx="127813" cy="6974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7762" cy="6974840"/>
            </a:xfrm>
            <a:custGeom>
              <a:avLst/>
              <a:gdLst/>
              <a:ahLst/>
              <a:cxnLst/>
              <a:rect r="r" b="b" t="t" l="l"/>
              <a:pathLst>
                <a:path h="6974840" w="127762">
                  <a:moveTo>
                    <a:pt x="0" y="0"/>
                  </a:moveTo>
                  <a:lnTo>
                    <a:pt x="127762" y="0"/>
                  </a:lnTo>
                  <a:lnTo>
                    <a:pt x="127762" y="6974840"/>
                  </a:lnTo>
                  <a:lnTo>
                    <a:pt x="0" y="6974840"/>
                  </a:lnTo>
                  <a:close/>
                </a:path>
              </a:pathLst>
            </a:custGeom>
            <a:solidFill>
              <a:srgbClr val="D1A2D6"/>
            </a:solidFill>
            <a:ln w="19050" cap="sq">
              <a:solidFill>
                <a:srgbClr val="D1A2D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1371600"/>
            <a:ext cx="2743200" cy="3811414"/>
            <a:chOff x="0" y="0"/>
            <a:chExt cx="3657600" cy="50818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7600" cy="5081885"/>
            </a:xfrm>
            <a:custGeom>
              <a:avLst/>
              <a:gdLst/>
              <a:ahLst/>
              <a:cxnLst/>
              <a:rect r="r" b="b" t="t" l="l"/>
              <a:pathLst>
                <a:path h="508188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081885"/>
                  </a:lnTo>
                  <a:lnTo>
                    <a:pt x="0" y="50818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4602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657600" cy="5081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0"/>
                </a:lnSpc>
              </a:pPr>
              <a:r>
                <a:rPr lang="en-US" sz="18000" b="true">
                  <a:solidFill>
                    <a:srgbClr val="E2E8F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"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755648" y="4448175"/>
            <a:ext cx="1536192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math has given you the answer; now you must find the courage to implement it.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363188" y="9710928"/>
            <a:ext cx="1508760" cy="411480"/>
            <a:chOff x="0" y="0"/>
            <a:chExt cx="201168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" cy="548640"/>
            </a:xfrm>
            <a:custGeom>
              <a:avLst/>
              <a:gdLst/>
              <a:ahLst/>
              <a:cxnLst/>
              <a:rect r="r" b="b" t="t" l="l"/>
              <a:pathLst>
                <a:path h="54864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445" r="0" b="-2144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011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30 / 30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DAHPpchjAMo</dc:identifier>
  <dcterms:modified xsi:type="dcterms:W3CDTF">2011-08-01T06:04:30Z</dcterms:modified>
  <cp:revision>1</cp:revision>
  <dc:title>Week 10.pptx</dc:title>
</cp:coreProperties>
</file>