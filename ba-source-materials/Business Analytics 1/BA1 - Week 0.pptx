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8288000" cy="10287000"/>
  <p:notesSz cx="6858000" cy="9144000"/>
  <p:embeddedFontLst>
    <p:embeddedFont>
      <p:font typeface="Alice" panose="020B0604020202020204" charset="0"/>
      <p:regular r:id="rId36"/>
    </p:embeddedFont>
    <p:embeddedFont>
      <p:font typeface="Inter" panose="020B0604020202020204" charset="0"/>
      <p:regular r:id="rId37"/>
    </p:embeddedFont>
    <p:embeddedFont>
      <p:font typeface="Inter Bold" panose="020B0604020202020204" charset="0"/>
      <p:regular r:id="rId38"/>
    </p:embeddedFont>
    <p:embeddedFont>
      <p:font typeface="Inter Bold Italics" panose="020B0604020202020204" charset="0"/>
      <p:regular r:id="rId39"/>
    </p:embeddedFont>
    <p:embeddedFont>
      <p:font typeface="Inter Italics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A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96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6480" y="-8039"/>
            <a:ext cx="10295039" cy="10295039"/>
            <a:chOff x="0" y="0"/>
            <a:chExt cx="13726719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6668" cy="13726668"/>
            </a:xfrm>
            <a:custGeom>
              <a:avLst/>
              <a:gdLst/>
              <a:ahLst/>
              <a:cxnLst/>
              <a:rect l="l" t="t" r="r" b="b"/>
              <a:pathLst>
                <a:path w="13726668" h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369157" y="1364637"/>
            <a:ext cx="7549696" cy="7549696"/>
            <a:chOff x="0" y="0"/>
            <a:chExt cx="10066261" cy="10066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66274" cy="10066274"/>
            </a:xfrm>
            <a:custGeom>
              <a:avLst/>
              <a:gdLst/>
              <a:ahLst/>
              <a:cxnLst/>
              <a:rect l="l" t="t" r="r" b="b"/>
              <a:pathLst>
                <a:path w="10066274" h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125906" y="4209999"/>
            <a:ext cx="7980494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231"/>
              </a:lnSpc>
            </a:pPr>
            <a:r>
              <a:rPr lang="en-US" sz="14359" b="1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Welcome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6480" y="-8039"/>
            <a:ext cx="10295039" cy="10295039"/>
            <a:chOff x="0" y="0"/>
            <a:chExt cx="13726719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6668" cy="13726668"/>
            </a:xfrm>
            <a:custGeom>
              <a:avLst/>
              <a:gdLst/>
              <a:ahLst/>
              <a:cxnLst/>
              <a:rect l="l" t="t" r="r" b="b"/>
              <a:pathLst>
                <a:path w="13726668" h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-2068629" y="-11011"/>
            <a:ext cx="22425259" cy="1030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0"/>
              </a:lnSpc>
              <a:spcBef>
                <a:spcPct val="0"/>
              </a:spcBef>
            </a:pPr>
            <a:r>
              <a:rPr lang="en-US" sz="67500" dirty="0">
                <a:solidFill>
                  <a:srgbClr val="FFFFFF">
                    <a:alpha val="40000"/>
                  </a:srgbClr>
                </a:solidFill>
                <a:latin typeface="Alice"/>
                <a:ea typeface="Alice"/>
                <a:cs typeface="Alice"/>
                <a:sym typeface="Alice"/>
              </a:rPr>
              <a:t>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70400" y="2941768"/>
            <a:ext cx="7747159" cy="4411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231"/>
              </a:lnSpc>
            </a:pPr>
            <a:r>
              <a:rPr lang="en-US" sz="14359" b="1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Business</a:t>
            </a:r>
          </a:p>
          <a:p>
            <a:pPr algn="ctr">
              <a:lnSpc>
                <a:spcPts val="17231"/>
              </a:lnSpc>
            </a:pPr>
            <a:r>
              <a:rPr lang="en-US" sz="14359" b="1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4938097" y="1028700"/>
            <a:ext cx="8411805" cy="8229600"/>
          </a:xfrm>
          <a:custGeom>
            <a:avLst/>
            <a:gdLst/>
            <a:ahLst/>
            <a:cxnLst/>
            <a:rect l="l" t="t" r="r" b="b"/>
            <a:pathLst>
              <a:path w="8411805" h="8229600">
                <a:moveTo>
                  <a:pt x="0" y="0"/>
                </a:moveTo>
                <a:lnTo>
                  <a:pt x="8411806" y="0"/>
                </a:lnTo>
                <a:lnTo>
                  <a:pt x="84118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539" y="0"/>
            <a:ext cx="18164461" cy="12011250"/>
          </a:xfrm>
          <a:custGeom>
            <a:avLst/>
            <a:gdLst/>
            <a:ahLst/>
            <a:cxnLst/>
            <a:rect l="l" t="t" r="r" b="b"/>
            <a:pathLst>
              <a:path w="18164461" h="12011250">
                <a:moveTo>
                  <a:pt x="0" y="0"/>
                </a:moveTo>
                <a:lnTo>
                  <a:pt x="18164461" y="0"/>
                </a:lnTo>
                <a:lnTo>
                  <a:pt x="18164461" y="12011250"/>
                </a:lnTo>
                <a:lnTo>
                  <a:pt x="0" y="12011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18820" y="-4118820"/>
            <a:ext cx="10295039" cy="10295039"/>
            <a:chOff x="0" y="0"/>
            <a:chExt cx="13726719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6668" cy="13726668"/>
            </a:xfrm>
            <a:custGeom>
              <a:avLst/>
              <a:gdLst/>
              <a:ahLst/>
              <a:cxnLst/>
              <a:rect l="l" t="t" r="r" b="b"/>
              <a:pathLst>
                <a:path w="13726668" h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746143" y="-2746143"/>
            <a:ext cx="7549696" cy="7549696"/>
            <a:chOff x="0" y="0"/>
            <a:chExt cx="10066261" cy="10066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66274" cy="10066274"/>
            </a:xfrm>
            <a:custGeom>
              <a:avLst/>
              <a:gdLst/>
              <a:ahLst/>
              <a:cxnLst/>
              <a:rect l="l" t="t" r="r" b="b"/>
              <a:pathLst>
                <a:path w="10066274" h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8" name="Freeform 8"/>
          <p:cNvSpPr/>
          <p:nvPr/>
        </p:nvSpPr>
        <p:spPr>
          <a:xfrm rot="5400000" flipH="1" flipV="1">
            <a:off x="5440680" y="5097780"/>
            <a:ext cx="7315200" cy="91440"/>
          </a:xfrm>
          <a:custGeom>
            <a:avLst/>
            <a:gdLst/>
            <a:ahLst/>
            <a:cxnLst/>
            <a:rect l="l" t="t" r="r" b="b"/>
            <a:pathLst>
              <a:path w="7315200" h="91440">
                <a:moveTo>
                  <a:pt x="7315200" y="91440"/>
                </a:moveTo>
                <a:lnTo>
                  <a:pt x="0" y="91440"/>
                </a:lnTo>
                <a:lnTo>
                  <a:pt x="0" y="0"/>
                </a:lnTo>
                <a:lnTo>
                  <a:pt x="7315200" y="0"/>
                </a:lnTo>
                <a:lnTo>
                  <a:pt x="7315200" y="9144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206" y="1028700"/>
            <a:ext cx="6374994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About the tutor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6668" cy="13726668"/>
            </a:xfrm>
            <a:custGeom>
              <a:avLst/>
              <a:gdLst/>
              <a:ahLst/>
              <a:cxnLst/>
              <a:rect l="l" t="t" r="r" b="b"/>
              <a:pathLst>
                <a:path w="13726668" h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040392" y="-686333"/>
            <a:ext cx="7549696" cy="7549696"/>
            <a:chOff x="0" y="0"/>
            <a:chExt cx="10066261" cy="10066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66274" cy="10066274"/>
            </a:xfrm>
            <a:custGeom>
              <a:avLst/>
              <a:gdLst/>
              <a:ahLst/>
              <a:cxnLst/>
              <a:rect l="l" t="t" r="r" b="b"/>
              <a:pathLst>
                <a:path w="10066274" h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80431" y="7412431"/>
            <a:ext cx="3843480" cy="382172"/>
            <a:chOff x="0" y="0"/>
            <a:chExt cx="5124640" cy="5095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24704" cy="509533"/>
            </a:xfrm>
            <a:custGeom>
              <a:avLst/>
              <a:gdLst/>
              <a:ahLst/>
              <a:cxnLst/>
              <a:rect l="l" t="t" r="r" b="b"/>
              <a:pathLst>
                <a:path w="5124704" h="509533">
                  <a:moveTo>
                    <a:pt x="0" y="0"/>
                  </a:moveTo>
                  <a:lnTo>
                    <a:pt x="5124704" y="0"/>
                  </a:lnTo>
                  <a:lnTo>
                    <a:pt x="5124704" y="509533"/>
                  </a:lnTo>
                  <a:lnTo>
                    <a:pt x="0" y="509533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3877058" y="10327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1871" y="1957940"/>
            <a:ext cx="1217116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FOUNDATIONS OF BUSINESS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1870" y="2928328"/>
            <a:ext cx="9257929" cy="3276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Analytics</a:t>
            </a:r>
          </a:p>
          <a:p>
            <a:pPr algn="l">
              <a:lnSpc>
                <a:spcPts val="12970"/>
              </a:lnSpc>
            </a:pPr>
            <a:r>
              <a:rPr lang="en-US" sz="10808" b="1" dirty="0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Mindset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71" y="6222749"/>
            <a:ext cx="8876929" cy="590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From Data Points to Decision Power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7960" y="7489803"/>
            <a:ext cx="352333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80431" y="2882608"/>
            <a:ext cx="4118019" cy="5902490"/>
            <a:chOff x="0" y="0"/>
            <a:chExt cx="5490693" cy="78699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0718" cy="7869936"/>
            </a:xfrm>
            <a:custGeom>
              <a:avLst/>
              <a:gdLst/>
              <a:ahLst/>
              <a:cxnLst/>
              <a:rect l="l" t="t" r="r" b="b"/>
              <a:pathLst>
                <a:path w="5490718" h="7869936">
                  <a:moveTo>
                    <a:pt x="0" y="0"/>
                  </a:moveTo>
                  <a:lnTo>
                    <a:pt x="5490718" y="0"/>
                  </a:lnTo>
                  <a:lnTo>
                    <a:pt x="549071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735716" y="2882608"/>
            <a:ext cx="4118019" cy="5902490"/>
            <a:chOff x="0" y="0"/>
            <a:chExt cx="5490693" cy="78699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90718" cy="7869936"/>
            </a:xfrm>
            <a:custGeom>
              <a:avLst/>
              <a:gdLst/>
              <a:ahLst/>
              <a:cxnLst/>
              <a:rect l="l" t="t" r="r" b="b"/>
              <a:pathLst>
                <a:path w="5490718" h="7869936">
                  <a:moveTo>
                    <a:pt x="0" y="0"/>
                  </a:moveTo>
                  <a:lnTo>
                    <a:pt x="5490718" y="0"/>
                  </a:lnTo>
                  <a:lnTo>
                    <a:pt x="549071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991000" y="2882608"/>
            <a:ext cx="4118019" cy="5902490"/>
            <a:chOff x="0" y="0"/>
            <a:chExt cx="5490693" cy="7869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90718" cy="7869936"/>
            </a:xfrm>
            <a:custGeom>
              <a:avLst/>
              <a:gdLst/>
              <a:ahLst/>
              <a:cxnLst/>
              <a:rect l="l" t="t" r="r" b="b"/>
              <a:pathLst>
                <a:path w="5490718" h="7869936">
                  <a:moveTo>
                    <a:pt x="0" y="0"/>
                  </a:moveTo>
                  <a:lnTo>
                    <a:pt x="5490718" y="0"/>
                  </a:lnTo>
                  <a:lnTo>
                    <a:pt x="549071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246284" y="2882608"/>
            <a:ext cx="4118019" cy="5902490"/>
            <a:chOff x="0" y="0"/>
            <a:chExt cx="5490693" cy="78699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90718" cy="7869936"/>
            </a:xfrm>
            <a:custGeom>
              <a:avLst/>
              <a:gdLst/>
              <a:ahLst/>
              <a:cxnLst/>
              <a:rect l="l" t="t" r="r" b="b"/>
              <a:pathLst>
                <a:path w="5490718" h="7869936">
                  <a:moveTo>
                    <a:pt x="0" y="0"/>
                  </a:moveTo>
                  <a:lnTo>
                    <a:pt x="5490718" y="0"/>
                  </a:lnTo>
                  <a:lnTo>
                    <a:pt x="549071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536910" y="6795121"/>
            <a:ext cx="2005063" cy="1719342"/>
          </a:xfrm>
          <a:custGeom>
            <a:avLst/>
            <a:gdLst/>
            <a:ahLst/>
            <a:cxnLst/>
            <a:rect l="l" t="t" r="r" b="b"/>
            <a:pathLst>
              <a:path w="2005063" h="1719342">
                <a:moveTo>
                  <a:pt x="0" y="0"/>
                </a:moveTo>
                <a:lnTo>
                  <a:pt x="2005063" y="0"/>
                </a:lnTo>
                <a:lnTo>
                  <a:pt x="2005063" y="1719341"/>
                </a:lnTo>
                <a:lnTo>
                  <a:pt x="0" y="1719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4731801" y="4666869"/>
            <a:ext cx="4556541" cy="3816103"/>
          </a:xfrm>
          <a:custGeom>
            <a:avLst/>
            <a:gdLst/>
            <a:ahLst/>
            <a:cxnLst/>
            <a:rect l="l" t="t" r="r" b="b"/>
            <a:pathLst>
              <a:path w="4556541" h="3816103">
                <a:moveTo>
                  <a:pt x="4556541" y="0"/>
                </a:moveTo>
                <a:lnTo>
                  <a:pt x="0" y="0"/>
                </a:lnTo>
                <a:lnTo>
                  <a:pt x="0" y="3816103"/>
                </a:lnTo>
                <a:lnTo>
                  <a:pt x="4556541" y="3816103"/>
                </a:lnTo>
                <a:lnTo>
                  <a:pt x="45565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6374206">
            <a:off x="11765007" y="3608872"/>
            <a:ext cx="756840" cy="728458"/>
          </a:xfrm>
          <a:custGeom>
            <a:avLst/>
            <a:gdLst/>
            <a:ahLst/>
            <a:cxnLst/>
            <a:rect l="l" t="t" r="r" b="b"/>
            <a:pathLst>
              <a:path w="756840" h="728458">
                <a:moveTo>
                  <a:pt x="0" y="0"/>
                </a:moveTo>
                <a:lnTo>
                  <a:pt x="756840" y="0"/>
                </a:lnTo>
                <a:lnTo>
                  <a:pt x="756840" y="728459"/>
                </a:lnTo>
                <a:lnTo>
                  <a:pt x="0" y="72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044360" y="6659803"/>
            <a:ext cx="2007543" cy="1989977"/>
          </a:xfrm>
          <a:custGeom>
            <a:avLst/>
            <a:gdLst/>
            <a:ahLst/>
            <a:cxnLst/>
            <a:rect l="l" t="t" r="r" b="b"/>
            <a:pathLst>
              <a:path w="2007543" h="1989977">
                <a:moveTo>
                  <a:pt x="0" y="0"/>
                </a:moveTo>
                <a:lnTo>
                  <a:pt x="2007543" y="0"/>
                </a:lnTo>
                <a:lnTo>
                  <a:pt x="2007543" y="1989977"/>
                </a:lnTo>
                <a:lnTo>
                  <a:pt x="0" y="1989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65750" y="4222607"/>
            <a:ext cx="698589" cy="625237"/>
          </a:xfrm>
          <a:custGeom>
            <a:avLst/>
            <a:gdLst/>
            <a:ahLst/>
            <a:cxnLst/>
            <a:rect l="l" t="t" r="r" b="b"/>
            <a:pathLst>
              <a:path w="698589" h="625237">
                <a:moveTo>
                  <a:pt x="0" y="0"/>
                </a:moveTo>
                <a:lnTo>
                  <a:pt x="698590" y="0"/>
                </a:lnTo>
                <a:lnTo>
                  <a:pt x="698590" y="625237"/>
                </a:lnTo>
                <a:lnTo>
                  <a:pt x="0" y="625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065876" y="6261769"/>
            <a:ext cx="2478837" cy="2342501"/>
          </a:xfrm>
          <a:custGeom>
            <a:avLst/>
            <a:gdLst/>
            <a:ahLst/>
            <a:cxnLst/>
            <a:rect l="l" t="t" r="r" b="b"/>
            <a:pathLst>
              <a:path w="2478837" h="2342501">
                <a:moveTo>
                  <a:pt x="0" y="0"/>
                </a:moveTo>
                <a:lnTo>
                  <a:pt x="2478836" y="0"/>
                </a:lnTo>
                <a:lnTo>
                  <a:pt x="2478836" y="2342501"/>
                </a:lnTo>
                <a:lnTo>
                  <a:pt x="0" y="2342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UBIQUITY OF 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9146" y="997067"/>
            <a:ext cx="10598024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Data...Data...Everywhere!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1871" y="4438269"/>
            <a:ext cx="3935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Every Purchase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7773" y="5320979"/>
            <a:ext cx="3523336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Time, location, method, preference, all captured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27156" y="4438269"/>
            <a:ext cx="3935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Every Journey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33058" y="5320979"/>
            <a:ext cx="3523336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Routes, pricing patterns, demand signals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82440" y="4438269"/>
            <a:ext cx="3935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Every Click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88342" y="5320979"/>
            <a:ext cx="3523336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Intent, interest, behavior fingerprints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37724" y="4438269"/>
            <a:ext cx="3935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Every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43626" y="5320979"/>
            <a:ext cx="3523336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Sentiment, trend, viral coefficients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9146" y="9027195"/>
            <a:ext cx="1269873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1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Data is the exhaust of modern life, If you're not capturing it, you're losing your business history.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17706" y="4872990"/>
            <a:ext cx="17021137" cy="1825652"/>
            <a:chOff x="0" y="0"/>
            <a:chExt cx="22694849" cy="24342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94900" cy="2434215"/>
            </a:xfrm>
            <a:custGeom>
              <a:avLst/>
              <a:gdLst/>
              <a:ahLst/>
              <a:cxnLst/>
              <a:rect l="l" t="t" r="r" b="b"/>
              <a:pathLst>
                <a:path w="22694900" h="2434215">
                  <a:moveTo>
                    <a:pt x="0" y="0"/>
                  </a:moveTo>
                  <a:lnTo>
                    <a:pt x="22694900" y="0"/>
                  </a:lnTo>
                  <a:lnTo>
                    <a:pt x="22694900" y="2434215"/>
                  </a:lnTo>
                  <a:lnTo>
                    <a:pt x="0" y="24342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09146" y="338185"/>
            <a:ext cx="191357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MYTH VS REALITY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9146" y="997067"/>
            <a:ext cx="9566383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Gold Mine Fallacy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0109" y="2875378"/>
            <a:ext cx="66804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Having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1020" y="2656303"/>
            <a:ext cx="732473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9"/>
              </a:lnSpc>
            </a:pPr>
            <a:r>
              <a:rPr lang="en-US" sz="10508" b="1">
                <a:solidFill>
                  <a:srgbClr val="FF5555"/>
                </a:solidFill>
                <a:latin typeface="Inter Bold"/>
                <a:ea typeface="Inter Bold"/>
                <a:cs typeface="Inter Bold"/>
                <a:sym typeface="Inter Bold"/>
              </a:rPr>
              <a:t>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47820" y="2875378"/>
            <a:ext cx="777862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Having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133975"/>
            <a:ext cx="1450471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Think of raw data as a cluttered attic.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972175"/>
            <a:ext cx="162306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Business Analytics is the process of cleaning that attic, finding the antiques hidden among the junk.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146" y="8556288"/>
            <a:ext cx="655534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i="1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skill is not storage. The skill is curation.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6386034" y="3345042"/>
            <a:ext cx="7315200" cy="2447267"/>
          </a:xfrm>
          <a:custGeom>
            <a:avLst/>
            <a:gdLst/>
            <a:ahLst/>
            <a:cxnLst/>
            <a:rect l="l" t="t" r="r" b="b"/>
            <a:pathLst>
              <a:path w="7315200" h="2447267">
                <a:moveTo>
                  <a:pt x="0" y="0"/>
                </a:moveTo>
                <a:lnTo>
                  <a:pt x="7315200" y="0"/>
                </a:lnTo>
                <a:lnTo>
                  <a:pt x="7315200" y="2447267"/>
                </a:lnTo>
                <a:lnTo>
                  <a:pt x="0" y="2447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" y="2114255"/>
            <a:ext cx="18114845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35%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126" y="320259"/>
            <a:ext cx="250948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REAL-WORLD 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260" y="6497279"/>
            <a:ext cx="1581721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 Amazon's revenue comes from their recommendation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50454" y="9054989"/>
            <a:ext cx="1399682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Descriptive analysis of past behavior → Predictive intelligence about future wants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204335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CORE PHILOSOPHY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0797054" cy="100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Human in the Loop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813980"/>
            <a:ext cx="7961500" cy="5902490"/>
            <a:chOff x="0" y="0"/>
            <a:chExt cx="10615333" cy="78699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15295" cy="7869936"/>
            </a:xfrm>
            <a:custGeom>
              <a:avLst/>
              <a:gdLst/>
              <a:ahLst/>
              <a:cxnLst/>
              <a:rect l="l" t="t" r="r" b="b"/>
              <a:pathLst>
                <a:path w="10615295" h="7869936">
                  <a:moveTo>
                    <a:pt x="0" y="0"/>
                  </a:moveTo>
                  <a:lnTo>
                    <a:pt x="10615295" y="0"/>
                  </a:lnTo>
                  <a:lnTo>
                    <a:pt x="1061529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40509" y="4634646"/>
            <a:ext cx="777862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AI &amp; Algorithms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509" y="5467779"/>
            <a:ext cx="777862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6699CC"/>
                </a:solidFill>
                <a:latin typeface="Inter Bold"/>
                <a:ea typeface="Inter Bold"/>
                <a:cs typeface="Inter Bold"/>
                <a:sym typeface="Inter Bold"/>
              </a:rPr>
              <a:t>The Engine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1705" y="6222749"/>
            <a:ext cx="315622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Automates the math.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Processes at scale.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Finds hidden patterns.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45970" y="2813980"/>
            <a:ext cx="7961500" cy="5902490"/>
            <a:chOff x="0" y="0"/>
            <a:chExt cx="10615333" cy="78699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15295" cy="7869936"/>
            </a:xfrm>
            <a:custGeom>
              <a:avLst/>
              <a:gdLst/>
              <a:ahLst/>
              <a:cxnLst/>
              <a:rect l="l" t="t" r="r" b="b"/>
              <a:pathLst>
                <a:path w="10615295" h="7869936">
                  <a:moveTo>
                    <a:pt x="0" y="0"/>
                  </a:moveTo>
                  <a:lnTo>
                    <a:pt x="10615295" y="0"/>
                  </a:lnTo>
                  <a:lnTo>
                    <a:pt x="1061529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40E2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972156" y="4634646"/>
            <a:ext cx="350912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Human Intuition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76122" y="5467779"/>
            <a:ext cx="290119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AA88CC"/>
                </a:solidFill>
                <a:latin typeface="Inter Bold"/>
                <a:ea typeface="Inter Bold"/>
                <a:cs typeface="Inter Bold"/>
                <a:sym typeface="Inter Bold"/>
              </a:rPr>
              <a:t>The Steering Wheel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6221" y="6222749"/>
            <a:ext cx="3220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Validates the meaning.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Adds context.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Makes the decision.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25845" y="4850073"/>
            <a:ext cx="667583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1">
                <a:solidFill>
                  <a:srgbClr val="555566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129491" y="-1224558"/>
            <a:ext cx="7939801" cy="7939801"/>
          </a:xfrm>
          <a:custGeom>
            <a:avLst/>
            <a:gdLst/>
            <a:ahLst/>
            <a:cxnLst/>
            <a:rect l="l" t="t" r="r" b="b"/>
            <a:pathLst>
              <a:path w="7939801" h="7939801">
                <a:moveTo>
                  <a:pt x="0" y="0"/>
                </a:moveTo>
                <a:lnTo>
                  <a:pt x="7939802" y="0"/>
                </a:lnTo>
                <a:lnTo>
                  <a:pt x="7939802" y="7939802"/>
                </a:lnTo>
                <a:lnTo>
                  <a:pt x="0" y="79398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2" y="4575543"/>
            <a:ext cx="7899677" cy="2743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Literacy</a:t>
            </a:r>
          </a:p>
          <a:p>
            <a:pPr algn="l">
              <a:lnSpc>
                <a:spcPts val="10808"/>
              </a:lnSpc>
            </a:pPr>
            <a:r>
              <a:rPr lang="en-US" sz="90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vs. Numeracy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789967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two skills every analyst must master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LITERACY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560285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Literacy 101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539441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 data -- understand what each column and row actually means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Work with data -- manipulate, filter, and reshape datasets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7706" y="4804353"/>
            <a:ext cx="192176" cy="192176"/>
            <a:chOff x="0" y="0"/>
            <a:chExt cx="256235" cy="256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079764" y="4620920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Analyze data -- apply logic to find patterns and anomalies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17706" y="5655412"/>
            <a:ext cx="192176" cy="192176"/>
            <a:chOff x="0" y="0"/>
            <a:chExt cx="256235" cy="256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079764" y="5471979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Argue with data -- challenge assumptions and stress-test conclusions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33190" y="8815254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Remember this: “Practice Makes Perfect”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NUMERACY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6289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Business Numeracy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882608"/>
            <a:ext cx="5353421" cy="5902490"/>
            <a:chOff x="0" y="0"/>
            <a:chExt cx="7137895" cy="78699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37908" cy="7869936"/>
            </a:xfrm>
            <a:custGeom>
              <a:avLst/>
              <a:gdLst/>
              <a:ahLst/>
              <a:cxnLst/>
              <a:rect l="l" t="t" r="r" b="b"/>
              <a:pathLst>
                <a:path w="7137908" h="7869936">
                  <a:moveTo>
                    <a:pt x="0" y="0"/>
                  </a:moveTo>
                  <a:lnTo>
                    <a:pt x="7137908" y="0"/>
                  </a:lnTo>
                  <a:lnTo>
                    <a:pt x="71379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890737" y="3075127"/>
            <a:ext cx="670084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509" y="4781436"/>
            <a:ext cx="517054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6411" y="5742308"/>
            <a:ext cx="475873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average, sensitive to outliers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177029" y="2882608"/>
            <a:ext cx="5353421" cy="5902490"/>
            <a:chOff x="0" y="0"/>
            <a:chExt cx="7137895" cy="78699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37908" cy="7869936"/>
            </a:xfrm>
            <a:custGeom>
              <a:avLst/>
              <a:gdLst/>
              <a:ahLst/>
              <a:cxnLst/>
              <a:rect l="l" t="t" r="r" b="b"/>
              <a:pathLst>
                <a:path w="7137908" h="7869936">
                  <a:moveTo>
                    <a:pt x="0" y="0"/>
                  </a:moveTo>
                  <a:lnTo>
                    <a:pt x="7137908" y="0"/>
                  </a:lnTo>
                  <a:lnTo>
                    <a:pt x="71379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308017" y="3075127"/>
            <a:ext cx="1091446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68469" y="4781436"/>
            <a:ext cx="517054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Median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74371" y="5742308"/>
            <a:ext cx="475873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Middle value, robust to extremes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804980" y="2882608"/>
            <a:ext cx="5353421" cy="5902490"/>
            <a:chOff x="0" y="0"/>
            <a:chExt cx="7137895" cy="786998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37908" cy="7869936"/>
            </a:xfrm>
            <a:custGeom>
              <a:avLst/>
              <a:gdLst/>
              <a:ahLst/>
              <a:cxnLst/>
              <a:rect l="l" t="t" r="r" b="b"/>
              <a:pathLst>
                <a:path w="7137908" h="7869936">
                  <a:moveTo>
                    <a:pt x="0" y="0"/>
                  </a:moveTo>
                  <a:lnTo>
                    <a:pt x="7137908" y="0"/>
                  </a:lnTo>
                  <a:lnTo>
                    <a:pt x="71379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896737" y="3075127"/>
            <a:ext cx="1500526" cy="1400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1" dirty="0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σ²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96420" y="4781436"/>
            <a:ext cx="517054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Variance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02322" y="5742308"/>
            <a:ext cx="475873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Spread of data around the mean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146" y="8968092"/>
            <a:ext cx="168382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i="1">
                <a:solidFill>
                  <a:srgbClr val="FFCC44"/>
                </a:solidFill>
                <a:latin typeface="Inter Italics"/>
                <a:ea typeface="Inter Italics"/>
                <a:cs typeface="Inter Italics"/>
                <a:sym typeface="Inter Italics"/>
              </a:rPr>
              <a:t>If someone says the 'average' salary is $100k, always ask: Mean or Median?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BRIDGING THE GAP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Literacy-Numeracy Bridge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2745343"/>
            <a:ext cx="17021137" cy="1578569"/>
            <a:chOff x="0" y="0"/>
            <a:chExt cx="22694849" cy="2104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94900" cy="2104771"/>
            </a:xfrm>
            <a:custGeom>
              <a:avLst/>
              <a:gdLst/>
              <a:ahLst/>
              <a:cxnLst/>
              <a:rect l="l" t="t" r="r" b="b"/>
              <a:pathLst>
                <a:path w="22694900" h="2104771">
                  <a:moveTo>
                    <a:pt x="0" y="0"/>
                  </a:moveTo>
                  <a:lnTo>
                    <a:pt x="22694900" y="0"/>
                  </a:lnTo>
                  <a:lnTo>
                    <a:pt x="22694900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10182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35636" y="3235876"/>
            <a:ext cx="1642645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Scenario: A marketing manager sees a '10% increase in clicks'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9069" y="4529823"/>
            <a:ext cx="8098765" cy="4529823"/>
            <a:chOff x="0" y="0"/>
            <a:chExt cx="10798353" cy="60397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8302" cy="6039739"/>
            </a:xfrm>
            <a:custGeom>
              <a:avLst/>
              <a:gdLst/>
              <a:ahLst/>
              <a:cxnLst/>
              <a:rect l="l" t="t" r="r" b="b"/>
              <a:pathLst>
                <a:path w="10798302" h="6039739">
                  <a:moveTo>
                    <a:pt x="0" y="0"/>
                  </a:moveTo>
                  <a:lnTo>
                    <a:pt x="10798302" y="0"/>
                  </a:lnTo>
                  <a:lnTo>
                    <a:pt x="10798302" y="6039739"/>
                  </a:lnTo>
                  <a:lnTo>
                    <a:pt x="0" y="6039739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471441" y="4529823"/>
            <a:ext cx="8098765" cy="4529823"/>
            <a:chOff x="0" y="0"/>
            <a:chExt cx="10798353" cy="60397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8302" cy="6039739"/>
            </a:xfrm>
            <a:custGeom>
              <a:avLst/>
              <a:gdLst/>
              <a:ahLst/>
              <a:cxnLst/>
              <a:rect l="l" t="t" r="r" b="b"/>
              <a:pathLst>
                <a:path w="10798302" h="6039739">
                  <a:moveTo>
                    <a:pt x="0" y="0"/>
                  </a:moveTo>
                  <a:lnTo>
                    <a:pt x="10798302" y="0"/>
                  </a:lnTo>
                  <a:lnTo>
                    <a:pt x="10798302" y="6039739"/>
                  </a:lnTo>
                  <a:lnTo>
                    <a:pt x="0" y="6039739"/>
                  </a:lnTo>
                  <a:close/>
                </a:path>
              </a:pathLst>
            </a:custGeom>
            <a:solidFill>
              <a:srgbClr val="120E2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40509" y="5871743"/>
            <a:ext cx="791588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Literacy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6411" y="6570183"/>
            <a:ext cx="750408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 know what a 'click' is and what the metric measures.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62881" y="5871743"/>
            <a:ext cx="791588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Numeracy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68783" y="6570183"/>
            <a:ext cx="750408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that 10% statistically significant, or just random noise?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9146" y="9242622"/>
            <a:ext cx="168382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i="1" dirty="0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Both skills together = the ability to tell the full story of the data.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2734319" y="-1443425"/>
            <a:ext cx="4716019" cy="8402707"/>
          </a:xfrm>
          <a:custGeom>
            <a:avLst/>
            <a:gdLst/>
            <a:ahLst/>
            <a:cxnLst/>
            <a:rect l="l" t="t" r="r" b="b"/>
            <a:pathLst>
              <a:path w="4716019" h="8402707">
                <a:moveTo>
                  <a:pt x="0" y="0"/>
                </a:moveTo>
                <a:lnTo>
                  <a:pt x="4716019" y="0"/>
                </a:lnTo>
                <a:lnTo>
                  <a:pt x="4716019" y="8402707"/>
                </a:lnTo>
                <a:lnTo>
                  <a:pt x="0" y="8402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1491651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Science vs.</a:t>
            </a:r>
          </a:p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Business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135438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Knowing which role you're playing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BOUNDARIES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Builder vs. The Driver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15048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Data Science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00146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Business Analytics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2235" y="4021931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6842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Builds algorithms &amp; neural networks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92235" y="4845529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26842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Creates the infrastructure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2235" y="5669137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6842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Answers: 'What is possible?'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2235" y="6492745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6842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Output: models, pipelines, systems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77343" y="402193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11950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Uses those outputs for decisions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77343" y="4845529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11950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Solves specific business problems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77343" y="5669137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11950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Answers: 'Should we open in Dubai?'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77343" y="6492745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11950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Output: recommendations, actions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Analytics vs. Analysis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745343"/>
            <a:ext cx="8098765" cy="6588824"/>
            <a:chOff x="0" y="0"/>
            <a:chExt cx="10798353" cy="87850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34176" y="2745343"/>
            <a:ext cx="8098765" cy="6588824"/>
            <a:chOff x="0" y="0"/>
            <a:chExt cx="10798353" cy="87850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8302" cy="8785098"/>
            </a:xfrm>
            <a:custGeom>
              <a:avLst/>
              <a:gdLst/>
              <a:ahLst/>
              <a:cxnLst/>
              <a:rect l="l" t="t" r="r" b="b"/>
              <a:pathLst>
                <a:path w="10798302" h="8785098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15048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Analytics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00146" y="2918803"/>
            <a:ext cx="736681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Analysis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91000" y="2745343"/>
            <a:ext cx="38129" cy="6588824"/>
            <a:chOff x="0" y="0"/>
            <a:chExt cx="50838" cy="87850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" cy="8785098"/>
            </a:xfrm>
            <a:custGeom>
              <a:avLst/>
              <a:gdLst/>
              <a:ahLst/>
              <a:cxnLst/>
              <a:rect l="l" t="t" r="r" b="b"/>
              <a:pathLst>
                <a:path w="50800" h="8785098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2235" y="4021931"/>
            <a:ext cx="164725" cy="164725"/>
            <a:chOff x="0" y="0"/>
            <a:chExt cx="219634" cy="2196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6842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Breaking a whole into parts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92235" y="4845529"/>
            <a:ext cx="164725" cy="164725"/>
            <a:chOff x="0" y="0"/>
            <a:chExt cx="219634" cy="2196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26842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Cleaning and preparing data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2235" y="5669137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26842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Removing noise and errors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2235" y="6492745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326842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Building the foundation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77343" y="402193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0111950" y="3889200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Using parts to find patterns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77343" y="4845529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11950" y="4712808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Deriving meaning from clean data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77343" y="5669137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11950" y="5536406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Generating insight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77343" y="6492745"/>
            <a:ext cx="164725" cy="164725"/>
            <a:chOff x="0" y="0"/>
            <a:chExt cx="219634" cy="219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583" cy="219583"/>
            </a:xfrm>
            <a:custGeom>
              <a:avLst/>
              <a:gdLst/>
              <a:ahLst/>
              <a:cxnLst/>
              <a:rect l="l" t="t" r="r" b="b"/>
              <a:pathLst>
                <a:path w="219583" h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111950" y="6360014"/>
            <a:ext cx="695501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Driving decisions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80431" y="3019882"/>
            <a:ext cx="3294412" cy="5490686"/>
            <a:chOff x="0" y="0"/>
            <a:chExt cx="4392549" cy="7320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7320915"/>
            </a:xfrm>
            <a:custGeom>
              <a:avLst/>
              <a:gdLst/>
              <a:ahLst/>
              <a:cxnLst/>
              <a:rect l="l" t="t" r="r" b="b"/>
              <a:pathLst>
                <a:path w="4392549" h="7320915">
                  <a:moveTo>
                    <a:pt x="0" y="0"/>
                  </a:moveTo>
                  <a:lnTo>
                    <a:pt x="4392549" y="0"/>
                  </a:lnTo>
                  <a:lnTo>
                    <a:pt x="439254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80431" y="3019882"/>
            <a:ext cx="3294412" cy="96088"/>
            <a:chOff x="0" y="0"/>
            <a:chExt cx="4392549" cy="1281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92549" cy="128143"/>
            </a:xfrm>
            <a:custGeom>
              <a:avLst/>
              <a:gdLst/>
              <a:ahLst/>
              <a:cxnLst/>
              <a:rect l="l" t="t" r="r" b="b"/>
              <a:pathLst>
                <a:path w="4392549" h="128143">
                  <a:moveTo>
                    <a:pt x="0" y="0"/>
                  </a:moveTo>
                  <a:lnTo>
                    <a:pt x="4392549" y="0"/>
                  </a:lnTo>
                  <a:lnTo>
                    <a:pt x="4392549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898392" y="3019882"/>
            <a:ext cx="3294412" cy="5490686"/>
            <a:chOff x="0" y="0"/>
            <a:chExt cx="4392549" cy="73209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92549" cy="7320915"/>
            </a:xfrm>
            <a:custGeom>
              <a:avLst/>
              <a:gdLst/>
              <a:ahLst/>
              <a:cxnLst/>
              <a:rect l="l" t="t" r="r" b="b"/>
              <a:pathLst>
                <a:path w="4392549" h="7320915">
                  <a:moveTo>
                    <a:pt x="0" y="0"/>
                  </a:moveTo>
                  <a:lnTo>
                    <a:pt x="4392549" y="0"/>
                  </a:lnTo>
                  <a:lnTo>
                    <a:pt x="439254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898392" y="3019882"/>
            <a:ext cx="3294412" cy="96088"/>
            <a:chOff x="0" y="0"/>
            <a:chExt cx="4392549" cy="1281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92549" cy="128143"/>
            </a:xfrm>
            <a:custGeom>
              <a:avLst/>
              <a:gdLst/>
              <a:ahLst/>
              <a:cxnLst/>
              <a:rect l="l" t="t" r="r" b="b"/>
              <a:pathLst>
                <a:path w="4392549" h="128143">
                  <a:moveTo>
                    <a:pt x="0" y="0"/>
                  </a:moveTo>
                  <a:lnTo>
                    <a:pt x="4392549" y="0"/>
                  </a:lnTo>
                  <a:lnTo>
                    <a:pt x="4392549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316343" y="3019882"/>
            <a:ext cx="3294412" cy="5490686"/>
            <a:chOff x="0" y="0"/>
            <a:chExt cx="4392549" cy="73209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92549" cy="7320915"/>
            </a:xfrm>
            <a:custGeom>
              <a:avLst/>
              <a:gdLst/>
              <a:ahLst/>
              <a:cxnLst/>
              <a:rect l="l" t="t" r="r" b="b"/>
              <a:pathLst>
                <a:path w="4392549" h="7320915">
                  <a:moveTo>
                    <a:pt x="0" y="0"/>
                  </a:moveTo>
                  <a:lnTo>
                    <a:pt x="4392549" y="0"/>
                  </a:lnTo>
                  <a:lnTo>
                    <a:pt x="439254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316343" y="3019882"/>
            <a:ext cx="3294412" cy="96088"/>
            <a:chOff x="0" y="0"/>
            <a:chExt cx="4392549" cy="1281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2549" cy="128143"/>
            </a:xfrm>
            <a:custGeom>
              <a:avLst/>
              <a:gdLst/>
              <a:ahLst/>
              <a:cxnLst/>
              <a:rect l="l" t="t" r="r" b="b"/>
              <a:pathLst>
                <a:path w="4392549" h="128143">
                  <a:moveTo>
                    <a:pt x="0" y="0"/>
                  </a:moveTo>
                  <a:lnTo>
                    <a:pt x="4392549" y="0"/>
                  </a:lnTo>
                  <a:lnTo>
                    <a:pt x="4392549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734294" y="3019882"/>
            <a:ext cx="3294412" cy="5490686"/>
            <a:chOff x="0" y="0"/>
            <a:chExt cx="4392549" cy="73209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92549" cy="7320915"/>
            </a:xfrm>
            <a:custGeom>
              <a:avLst/>
              <a:gdLst/>
              <a:ahLst/>
              <a:cxnLst/>
              <a:rect l="l" t="t" r="r" b="b"/>
              <a:pathLst>
                <a:path w="4392549" h="7320915">
                  <a:moveTo>
                    <a:pt x="0" y="0"/>
                  </a:moveTo>
                  <a:lnTo>
                    <a:pt x="4392549" y="0"/>
                  </a:lnTo>
                  <a:lnTo>
                    <a:pt x="439254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734294" y="3019882"/>
            <a:ext cx="3294412" cy="96088"/>
            <a:chOff x="0" y="0"/>
            <a:chExt cx="4392549" cy="1281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92549" cy="128143"/>
            </a:xfrm>
            <a:custGeom>
              <a:avLst/>
              <a:gdLst/>
              <a:ahLst/>
              <a:cxnLst/>
              <a:rect l="l" t="t" r="r" b="b"/>
              <a:pathLst>
                <a:path w="4392549" h="128143">
                  <a:moveTo>
                    <a:pt x="0" y="0"/>
                  </a:moveTo>
                  <a:lnTo>
                    <a:pt x="4392549" y="0"/>
                  </a:lnTo>
                  <a:lnTo>
                    <a:pt x="4392549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4152255" y="3019882"/>
            <a:ext cx="3294412" cy="5490686"/>
            <a:chOff x="0" y="0"/>
            <a:chExt cx="4392549" cy="73209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92549" cy="7320915"/>
            </a:xfrm>
            <a:custGeom>
              <a:avLst/>
              <a:gdLst/>
              <a:ahLst/>
              <a:cxnLst/>
              <a:rect l="l" t="t" r="r" b="b"/>
              <a:pathLst>
                <a:path w="4392549" h="7320915">
                  <a:moveTo>
                    <a:pt x="0" y="0"/>
                  </a:moveTo>
                  <a:lnTo>
                    <a:pt x="4392549" y="0"/>
                  </a:lnTo>
                  <a:lnTo>
                    <a:pt x="439254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4152255" y="3019882"/>
            <a:ext cx="3294412" cy="96088"/>
            <a:chOff x="0" y="0"/>
            <a:chExt cx="4392549" cy="1281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92549" cy="128143"/>
            </a:xfrm>
            <a:custGeom>
              <a:avLst/>
              <a:gdLst/>
              <a:ahLst/>
              <a:cxnLst/>
              <a:rect l="l" t="t" r="r" b="b"/>
              <a:pathLst>
                <a:path w="4392549" h="128143">
                  <a:moveTo>
                    <a:pt x="0" y="0"/>
                  </a:moveTo>
                  <a:lnTo>
                    <a:pt x="4392549" y="0"/>
                  </a:lnTo>
                  <a:lnTo>
                    <a:pt x="4392549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4603117" y="6512980"/>
            <a:ext cx="1884961" cy="1884961"/>
          </a:xfrm>
          <a:custGeom>
            <a:avLst/>
            <a:gdLst/>
            <a:ahLst/>
            <a:cxnLst/>
            <a:rect l="l" t="t" r="r" b="b"/>
            <a:pathLst>
              <a:path w="1884961" h="1884961">
                <a:moveTo>
                  <a:pt x="0" y="0"/>
                </a:moveTo>
                <a:lnTo>
                  <a:pt x="1884961" y="0"/>
                </a:lnTo>
                <a:lnTo>
                  <a:pt x="1884961" y="1884960"/>
                </a:lnTo>
                <a:lnTo>
                  <a:pt x="0" y="1884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036021" y="6655513"/>
            <a:ext cx="1855055" cy="1855055"/>
          </a:xfrm>
          <a:custGeom>
            <a:avLst/>
            <a:gdLst/>
            <a:ahLst/>
            <a:cxnLst/>
            <a:rect l="l" t="t" r="r" b="b"/>
            <a:pathLst>
              <a:path w="1855055" h="1855055">
                <a:moveTo>
                  <a:pt x="0" y="0"/>
                </a:moveTo>
                <a:lnTo>
                  <a:pt x="1855055" y="0"/>
                </a:lnTo>
                <a:lnTo>
                  <a:pt x="1855055" y="1855055"/>
                </a:lnTo>
                <a:lnTo>
                  <a:pt x="0" y="1855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510296" y="6683670"/>
            <a:ext cx="1742427" cy="1742427"/>
          </a:xfrm>
          <a:custGeom>
            <a:avLst/>
            <a:gdLst/>
            <a:ahLst/>
            <a:cxnLst/>
            <a:rect l="l" t="t" r="r" b="b"/>
            <a:pathLst>
              <a:path w="1742427" h="1742427">
                <a:moveTo>
                  <a:pt x="0" y="0"/>
                </a:moveTo>
                <a:lnTo>
                  <a:pt x="1742427" y="0"/>
                </a:lnTo>
                <a:lnTo>
                  <a:pt x="1742427" y="1742427"/>
                </a:lnTo>
                <a:lnTo>
                  <a:pt x="0" y="174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784947" y="6683670"/>
            <a:ext cx="2029027" cy="1742427"/>
          </a:xfrm>
          <a:custGeom>
            <a:avLst/>
            <a:gdLst/>
            <a:ahLst/>
            <a:cxnLst/>
            <a:rect l="l" t="t" r="r" b="b"/>
            <a:pathLst>
              <a:path w="2029027" h="1742427">
                <a:moveTo>
                  <a:pt x="0" y="0"/>
                </a:moveTo>
                <a:lnTo>
                  <a:pt x="2029027" y="0"/>
                </a:lnTo>
                <a:lnTo>
                  <a:pt x="2029027" y="1742427"/>
                </a:lnTo>
                <a:lnTo>
                  <a:pt x="0" y="174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92361" y="6655513"/>
            <a:ext cx="1670552" cy="1742427"/>
          </a:xfrm>
          <a:custGeom>
            <a:avLst/>
            <a:gdLst/>
            <a:ahLst/>
            <a:cxnLst/>
            <a:rect l="l" t="t" r="r" b="b"/>
            <a:pathLst>
              <a:path w="1670552" h="1742427">
                <a:moveTo>
                  <a:pt x="0" y="0"/>
                </a:moveTo>
                <a:lnTo>
                  <a:pt x="1670552" y="0"/>
                </a:lnTo>
                <a:lnTo>
                  <a:pt x="1670552" y="1742427"/>
                </a:lnTo>
                <a:lnTo>
                  <a:pt x="0" y="174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TOOLS OF THE TRADE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9146" y="997067"/>
            <a:ext cx="1628918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Your Analytics Toolkit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1871" y="4566018"/>
            <a:ext cx="31115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Excel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9146" y="5467779"/>
            <a:ext cx="2837002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Universal language of business. Master it first.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89832" y="4566018"/>
            <a:ext cx="31115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Power BI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27097" y="5467779"/>
            <a:ext cx="283700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 storytelling with live data.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07783" y="4566018"/>
            <a:ext cx="31115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SQL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45048" y="5467779"/>
            <a:ext cx="283700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Query databases at scale.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25734" y="4566018"/>
            <a:ext cx="31115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Python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63008" y="5467779"/>
            <a:ext cx="283700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Automation, ML, and advanced analytics.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243695" y="4566018"/>
            <a:ext cx="31115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380959" y="5467779"/>
            <a:ext cx="283700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Statistical analysis and research.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9146" y="8889930"/>
            <a:ext cx="1683825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1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We start with Excel. If you can't model it in a spreadsheet, you don't understand the logic well enough to code it.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2539441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17706" y="3102235"/>
            <a:ext cx="192176" cy="192176"/>
            <a:chOff x="0" y="0"/>
            <a:chExt cx="256235" cy="2562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17706" y="3953294"/>
            <a:ext cx="192176" cy="192176"/>
            <a:chOff x="0" y="0"/>
            <a:chExt cx="256235" cy="256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17706" y="4804353"/>
            <a:ext cx="192176" cy="192176"/>
            <a:chOff x="0" y="0"/>
            <a:chExt cx="256235" cy="256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6286" cy="256286"/>
            </a:xfrm>
            <a:custGeom>
              <a:avLst/>
              <a:gdLst/>
              <a:ahLst/>
              <a:cxnLst/>
              <a:rect l="l" t="t" r="r" b="b"/>
              <a:pathLst>
                <a:path w="256286" h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7304740" y="5349351"/>
            <a:ext cx="3678520" cy="3692366"/>
          </a:xfrm>
          <a:custGeom>
            <a:avLst/>
            <a:gdLst/>
            <a:ahLst/>
            <a:cxnLst/>
            <a:rect l="l" t="t" r="r" b="b"/>
            <a:pathLst>
              <a:path w="3678520" h="3692366">
                <a:moveTo>
                  <a:pt x="0" y="0"/>
                </a:moveTo>
                <a:lnTo>
                  <a:pt x="3678519" y="0"/>
                </a:lnTo>
                <a:lnTo>
                  <a:pt x="3678519" y="3692366"/>
                </a:lnTo>
                <a:lnTo>
                  <a:pt x="0" y="3692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09146" y="338185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CAREER PATHS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146" y="1016117"/>
            <a:ext cx="1560285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Careers in Business Analytics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764" y="2918803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 Analyst: translates data into dashboards and operational reports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9764" y="3769862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Strategist: aligns data initiatives with business goals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764" y="4620920"/>
            <a:ext cx="160146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 Consultant: solves client problems with data-driven frameworks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71893" y="9041717"/>
            <a:ext cx="14630400" cy="458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 is a Force Multiplier. Whatever your role, being data capable makes you 2× more valuable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773" y="4575543"/>
            <a:ext cx="1491651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PED</a:t>
            </a:r>
          </a:p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Framework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7860430"/>
            <a:ext cx="135438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mental loop you'll use every week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46009" y="363598"/>
            <a:ext cx="7906767" cy="476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32"/>
              </a:lnSpc>
              <a:spcBef>
                <a:spcPct val="0"/>
              </a:spcBef>
            </a:pPr>
            <a:r>
              <a:rPr lang="en-US" sz="31610" b="1">
                <a:solidFill>
                  <a:srgbClr val="070708"/>
                </a:solidFill>
                <a:latin typeface="Inter Bold"/>
                <a:ea typeface="Inter Bold"/>
                <a:cs typeface="Inter Bold"/>
                <a:sym typeface="Inter Bold"/>
              </a:rPr>
              <a:t>PED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PED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Process → Explain → Decide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86333" y="3157147"/>
            <a:ext cx="5284784" cy="5216157"/>
            <a:chOff x="0" y="0"/>
            <a:chExt cx="7046379" cy="69548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46341" cy="6954901"/>
            </a:xfrm>
            <a:custGeom>
              <a:avLst/>
              <a:gdLst/>
              <a:ahLst/>
              <a:cxnLst/>
              <a:rect l="l" t="t" r="r" b="b"/>
              <a:pathLst>
                <a:path w="7046341" h="695490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775330" y="4022227"/>
            <a:ext cx="1043235" cy="1043235"/>
            <a:chOff x="0" y="0"/>
            <a:chExt cx="1390980" cy="13909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866775" y="4248569"/>
            <a:ext cx="8603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995" y="5362461"/>
            <a:ext cx="510190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 dirty="0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Process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9067" y="6172895"/>
            <a:ext cx="48960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Collect &amp; clean your data.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80% of your time.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50875" y="5261877"/>
            <a:ext cx="17776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1">
                <a:solidFill>
                  <a:srgbClr val="444455"/>
                </a:solidFill>
                <a:latin typeface="Inter Bold"/>
                <a:ea typeface="Inter Bold"/>
                <a:cs typeface="Inter Bold"/>
                <a:sym typeface="Inter Bold"/>
              </a:rPr>
              <a:t>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77029" y="3157147"/>
            <a:ext cx="5284784" cy="5216157"/>
            <a:chOff x="0" y="0"/>
            <a:chExt cx="7046379" cy="69548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6341" cy="6954901"/>
            </a:xfrm>
            <a:custGeom>
              <a:avLst/>
              <a:gdLst/>
              <a:ahLst/>
              <a:cxnLst/>
              <a:rect l="l" t="t" r="r" b="b"/>
              <a:pathLst>
                <a:path w="7046341" h="695490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287688" y="4025288"/>
            <a:ext cx="1043235" cy="1043235"/>
            <a:chOff x="0" y="0"/>
            <a:chExt cx="1390980" cy="13909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379128" y="4251630"/>
            <a:ext cx="8603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58348" y="5365522"/>
            <a:ext cx="510190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 dirty="0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Explain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5734" y="6172895"/>
            <a:ext cx="48960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Visualize &amp; communicate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'Why' behind the data.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41570" y="5261877"/>
            <a:ext cx="17776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1">
                <a:solidFill>
                  <a:srgbClr val="444455"/>
                </a:solidFill>
                <a:latin typeface="Inter Bold"/>
                <a:ea typeface="Inter Bold"/>
                <a:cs typeface="Inter Bold"/>
                <a:sym typeface="Inter Bold"/>
              </a:rPr>
              <a:t>›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667715" y="3157147"/>
            <a:ext cx="5284784" cy="5216157"/>
            <a:chOff x="0" y="0"/>
            <a:chExt cx="7046379" cy="69548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46341" cy="6954901"/>
            </a:xfrm>
            <a:custGeom>
              <a:avLst/>
              <a:gdLst/>
              <a:ahLst/>
              <a:cxnLst/>
              <a:rect l="l" t="t" r="r" b="b"/>
              <a:pathLst>
                <a:path w="7046341" h="695490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836707" y="4025288"/>
            <a:ext cx="1043235" cy="1043235"/>
            <a:chOff x="0" y="0"/>
            <a:chExt cx="1390980" cy="13909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3928147" y="4251630"/>
            <a:ext cx="8603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07367" y="5365522"/>
            <a:ext cx="510190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 dirty="0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Decide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62102" y="6172895"/>
            <a:ext cx="489601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Turn insight into action.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decision = just a fun fact.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3129696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10568" y="3431677"/>
            <a:ext cx="9196902" cy="4529823"/>
            <a:chOff x="0" y="0"/>
            <a:chExt cx="12262536" cy="6039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62485" cy="6039739"/>
            </a:xfrm>
            <a:custGeom>
              <a:avLst/>
              <a:gdLst/>
              <a:ahLst/>
              <a:cxnLst/>
              <a:rect l="l" t="t" r="r" b="b"/>
              <a:pathLst>
                <a:path w="12262485" h="6039739">
                  <a:moveTo>
                    <a:pt x="0" y="0"/>
                  </a:moveTo>
                  <a:lnTo>
                    <a:pt x="12262485" y="0"/>
                  </a:lnTo>
                  <a:lnTo>
                    <a:pt x="12262485" y="6039739"/>
                  </a:lnTo>
                  <a:lnTo>
                    <a:pt x="0" y="6039739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2569627" y="6592072"/>
            <a:ext cx="2684981" cy="3694928"/>
          </a:xfrm>
          <a:custGeom>
            <a:avLst/>
            <a:gdLst/>
            <a:ahLst/>
            <a:cxnLst/>
            <a:rect l="l" t="t" r="r" b="b"/>
            <a:pathLst>
              <a:path w="2684981" h="3694928">
                <a:moveTo>
                  <a:pt x="0" y="0"/>
                </a:moveTo>
                <a:lnTo>
                  <a:pt x="2684981" y="0"/>
                </a:lnTo>
                <a:lnTo>
                  <a:pt x="2684981" y="3694928"/>
                </a:lnTo>
                <a:lnTo>
                  <a:pt x="0" y="369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STEP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9146" y="1028700"/>
            <a:ext cx="4929654" cy="1095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1" dirty="0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P: Process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146" y="2241994"/>
            <a:ext cx="1628918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Collect and Clean Your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773" y="3467872"/>
            <a:ext cx="6680483" cy="252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5"/>
              </a:lnSpc>
            </a:pPr>
            <a:r>
              <a:rPr lang="en-US" sz="1651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80%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7773" y="5991997"/>
            <a:ext cx="668048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 an analyst's time is spent here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8978" y="4186876"/>
            <a:ext cx="8680083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It's the 'Ugly' work that makes the 'Lovely' insights possible.</a:t>
            </a:r>
          </a:p>
          <a:p>
            <a:pPr algn="l">
              <a:lnSpc>
                <a:spcPts val="3422"/>
              </a:lnSpc>
            </a:pPr>
            <a:endParaRPr lang="en-US" sz="285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data → reliable patterns.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Dirty data → garbage insights.</a:t>
            </a:r>
          </a:p>
          <a:p>
            <a:pPr algn="l">
              <a:lnSpc>
                <a:spcPts val="3422"/>
              </a:lnSpc>
            </a:pPr>
            <a:endParaRPr lang="en-US" sz="285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Garbage In = Garbage Out.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9069" y="2470814"/>
            <a:ext cx="76257" cy="5216157"/>
            <a:chOff x="0" y="0"/>
            <a:chExt cx="101676" cy="6954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727" cy="6954901"/>
            </a:xfrm>
            <a:custGeom>
              <a:avLst/>
              <a:gdLst/>
              <a:ahLst/>
              <a:cxnLst/>
              <a:rect l="l" t="t" r="r" b="b"/>
              <a:pathLst>
                <a:path w="101727" h="6954901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9871135" y="6172200"/>
            <a:ext cx="5938376" cy="4114800"/>
          </a:xfrm>
          <a:custGeom>
            <a:avLst/>
            <a:gdLst/>
            <a:ahLst/>
            <a:cxnLst/>
            <a:rect l="l" t="t" r="r" b="b"/>
            <a:pathLst>
              <a:path w="5938376" h="4114800">
                <a:moveTo>
                  <a:pt x="0" y="0"/>
                </a:moveTo>
                <a:lnTo>
                  <a:pt x="5938376" y="0"/>
                </a:lnTo>
                <a:lnTo>
                  <a:pt x="59383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324100"/>
            <a:ext cx="114395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1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8646" y="3695700"/>
            <a:ext cx="15191051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is silent. You are its translator.</a:t>
            </a:r>
          </a:p>
          <a:p>
            <a:pPr algn="l">
              <a:lnSpc>
                <a:spcPts val="5764"/>
              </a:lnSpc>
            </a:pPr>
            <a:endParaRPr lang="en-US" sz="4803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can't explain a chart to a 5-year-old, you haven't simplified it enough.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STEP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9146" y="1006592"/>
            <a:ext cx="427755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E: Explain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3129696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43141" y="3917924"/>
            <a:ext cx="5164507" cy="4118019"/>
            <a:chOff x="0" y="0"/>
            <a:chExt cx="6886010" cy="54906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85977" cy="5490718"/>
            </a:xfrm>
            <a:custGeom>
              <a:avLst/>
              <a:gdLst/>
              <a:ahLst/>
              <a:cxnLst/>
              <a:rect l="l" t="t" r="r" b="b"/>
              <a:pathLst>
                <a:path w="6885977" h="5490718">
                  <a:moveTo>
                    <a:pt x="0" y="0"/>
                  </a:moveTo>
                  <a:lnTo>
                    <a:pt x="6885977" y="0"/>
                  </a:lnTo>
                  <a:lnTo>
                    <a:pt x="6885977" y="5490718"/>
                  </a:lnTo>
                  <a:lnTo>
                    <a:pt x="0" y="5490718"/>
                  </a:lnTo>
                  <a:close/>
                </a:path>
              </a:pathLst>
            </a:custGeom>
            <a:solidFill>
              <a:srgbClr val="201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083119" y="3917924"/>
            <a:ext cx="5176181" cy="4118019"/>
            <a:chOff x="0" y="0"/>
            <a:chExt cx="6901574" cy="54906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01542" cy="5490718"/>
            </a:xfrm>
            <a:custGeom>
              <a:avLst/>
              <a:gdLst/>
              <a:ahLst/>
              <a:cxnLst/>
              <a:rect l="l" t="t" r="r" b="b"/>
              <a:pathLst>
                <a:path w="6901542" h="5490718">
                  <a:moveTo>
                    <a:pt x="0" y="0"/>
                  </a:moveTo>
                  <a:lnTo>
                    <a:pt x="6901542" y="0"/>
                  </a:lnTo>
                  <a:lnTo>
                    <a:pt x="6901542" y="5490718"/>
                  </a:lnTo>
                  <a:lnTo>
                    <a:pt x="0" y="5490718"/>
                  </a:lnTo>
                  <a:close/>
                </a:path>
              </a:pathLst>
            </a:custGeom>
            <a:solidFill>
              <a:srgbClr val="08181A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617706" y="3374679"/>
            <a:ext cx="4621171" cy="5204509"/>
          </a:xfrm>
          <a:custGeom>
            <a:avLst/>
            <a:gdLst/>
            <a:ahLst/>
            <a:cxnLst/>
            <a:rect l="l" t="t" r="r" b="b"/>
            <a:pathLst>
              <a:path w="4621171" h="5204509">
                <a:moveTo>
                  <a:pt x="0" y="0"/>
                </a:moveTo>
                <a:lnTo>
                  <a:pt x="4621170" y="0"/>
                </a:lnTo>
                <a:lnTo>
                  <a:pt x="4621170" y="5204509"/>
                </a:lnTo>
                <a:lnTo>
                  <a:pt x="0" y="5204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STEP 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9146" y="1006592"/>
            <a:ext cx="4233267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1">
                <a:solidFill>
                  <a:srgbClr val="22C1F0"/>
                </a:solidFill>
                <a:latin typeface="Inter Bold"/>
                <a:ea typeface="Inter Bold"/>
                <a:cs typeface="Inter Bold"/>
                <a:sym typeface="Inter Bold"/>
              </a:rPr>
              <a:t>D: Decide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9146" y="2241994"/>
            <a:ext cx="1628918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Turn Insight into Action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52087" y="4100909"/>
            <a:ext cx="434661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FF5555"/>
                </a:solidFill>
                <a:latin typeface="Inter Bold"/>
                <a:ea typeface="Inter Bold"/>
                <a:cs typeface="Inter Bold"/>
                <a:sym typeface="Inter Bold"/>
              </a:rPr>
              <a:t>Analysis Without Decision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0857" y="4993154"/>
            <a:ext cx="326576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"Interesting fun fact.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Nothing changes.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value created."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18000" y="4100909"/>
            <a:ext cx="458033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Analysis That Drives Action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71185" y="4993154"/>
            <a:ext cx="4200049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"Decisions made.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Strategies shifted.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value delivered."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9146" y="8762190"/>
            <a:ext cx="1683825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 i="1">
                <a:solidFill>
                  <a:srgbClr val="D1A2D6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In this course, we grade based on the action recommended, not just the analysis performed.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10734"/>
            <a:ext cx="530780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62891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Coffee Shop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77773" y="2722436"/>
            <a:ext cx="1164014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1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Sales data shows a consistent revenue dip every day at 3:00 PM.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49069" y="3912118"/>
            <a:ext cx="5490686" cy="5078892"/>
            <a:chOff x="0" y="0"/>
            <a:chExt cx="7320915" cy="6771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20915" cy="6771894"/>
            </a:xfrm>
            <a:custGeom>
              <a:avLst/>
              <a:gdLst/>
              <a:ahLst/>
              <a:cxnLst/>
              <a:rect l="l" t="t" r="r" b="b"/>
              <a:pathLst>
                <a:path w="7320915" h="6771894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40509" y="5330504"/>
            <a:ext cx="530780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Process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6411" y="6154112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 the receipts.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the exact time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size of the drop.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245657" y="3912118"/>
            <a:ext cx="5490686" cy="5078892"/>
            <a:chOff x="0" y="0"/>
            <a:chExt cx="7320915" cy="67718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20915" cy="6771894"/>
            </a:xfrm>
            <a:custGeom>
              <a:avLst/>
              <a:gdLst/>
              <a:ahLst/>
              <a:cxnLst/>
              <a:rect l="l" t="t" r="r" b="b"/>
              <a:pathLst>
                <a:path w="7320915" h="6771894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337097" y="5330504"/>
            <a:ext cx="530780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Explain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2999" y="6154112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Staff shift change causes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10-minute service gap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no staff on floor.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942254" y="3912118"/>
            <a:ext cx="5490686" cy="5078892"/>
            <a:chOff x="0" y="0"/>
            <a:chExt cx="7320915" cy="67718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20915" cy="6771894"/>
            </a:xfrm>
            <a:custGeom>
              <a:avLst/>
              <a:gdLst/>
              <a:ahLst/>
              <a:cxnLst/>
              <a:rect l="l" t="t" r="r" b="b"/>
              <a:pathLst>
                <a:path w="7320915" h="6771894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033695" y="5330504"/>
            <a:ext cx="530780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Decide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39587" y="6154112"/>
            <a:ext cx="48960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Overlap shifts by 30 min.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Eliminate the gap.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Restore 3 PM revenue.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395036" y="-235104"/>
            <a:ext cx="7408712" cy="6704884"/>
          </a:xfrm>
          <a:custGeom>
            <a:avLst/>
            <a:gdLst/>
            <a:ahLst/>
            <a:cxnLst/>
            <a:rect l="l" t="t" r="r" b="b"/>
            <a:pathLst>
              <a:path w="7408712" h="6704884">
                <a:moveTo>
                  <a:pt x="0" y="0"/>
                </a:moveTo>
                <a:lnTo>
                  <a:pt x="7408712" y="0"/>
                </a:lnTo>
                <a:lnTo>
                  <a:pt x="7408712" y="6704884"/>
                </a:lnTo>
                <a:lnTo>
                  <a:pt x="0" y="6704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31421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7589968" cy="2743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4 Levels</a:t>
            </a:r>
          </a:p>
          <a:p>
            <a:pPr algn="l">
              <a:lnSpc>
                <a:spcPts val="10808"/>
              </a:lnSpc>
            </a:pPr>
            <a:r>
              <a:rPr lang="en-US" sz="90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of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554533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From rearview mirror to GPS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1372676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60872" y="7267118"/>
            <a:ext cx="3843480" cy="3019882"/>
            <a:chOff x="0" y="0"/>
            <a:chExt cx="5124640" cy="40265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24704" cy="4026535"/>
            </a:xfrm>
            <a:custGeom>
              <a:avLst/>
              <a:gdLst/>
              <a:ahLst/>
              <a:cxnLst/>
              <a:rect l="l" t="t" r="r" b="b"/>
              <a:pathLst>
                <a:path w="5124704" h="4026535">
                  <a:moveTo>
                    <a:pt x="0" y="0"/>
                  </a:moveTo>
                  <a:lnTo>
                    <a:pt x="5124704" y="0"/>
                  </a:lnTo>
                  <a:lnTo>
                    <a:pt x="5124704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10305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60872" y="7267118"/>
            <a:ext cx="3843480" cy="109814"/>
            <a:chOff x="0" y="0"/>
            <a:chExt cx="5124640" cy="146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24704" cy="146431"/>
            </a:xfrm>
            <a:custGeom>
              <a:avLst/>
              <a:gdLst/>
              <a:ahLst/>
              <a:cxnLst/>
              <a:rect l="l" t="t" r="r" b="b"/>
              <a:pathLst>
                <a:path w="5124704" h="146431">
                  <a:moveTo>
                    <a:pt x="0" y="0"/>
                  </a:moveTo>
                  <a:lnTo>
                    <a:pt x="5124704" y="0"/>
                  </a:lnTo>
                  <a:lnTo>
                    <a:pt x="512470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388C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4941627" y="6374882"/>
            <a:ext cx="3843480" cy="3912118"/>
            <a:chOff x="0" y="0"/>
            <a:chExt cx="5124640" cy="52161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24704" cy="5216144"/>
            </a:xfrm>
            <a:custGeom>
              <a:avLst/>
              <a:gdLst/>
              <a:ahLst/>
              <a:cxnLst/>
              <a:rect l="l" t="t" r="r" b="b"/>
              <a:pathLst>
                <a:path w="5124704" h="5216144">
                  <a:moveTo>
                    <a:pt x="0" y="0"/>
                  </a:moveTo>
                  <a:lnTo>
                    <a:pt x="5124704" y="0"/>
                  </a:lnTo>
                  <a:lnTo>
                    <a:pt x="5124704" y="5216144"/>
                  </a:lnTo>
                  <a:lnTo>
                    <a:pt x="0" y="5216144"/>
                  </a:lnTo>
                  <a:close/>
                </a:path>
              </a:pathLst>
            </a:custGeom>
            <a:solidFill>
              <a:srgbClr val="153555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4941627" y="6374882"/>
            <a:ext cx="3843480" cy="109814"/>
            <a:chOff x="0" y="0"/>
            <a:chExt cx="5124640" cy="146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4704" cy="146431"/>
            </a:xfrm>
            <a:custGeom>
              <a:avLst/>
              <a:gdLst/>
              <a:ahLst/>
              <a:cxnLst/>
              <a:rect l="l" t="t" r="r" b="b"/>
              <a:pathLst>
                <a:path w="5124704" h="146431">
                  <a:moveTo>
                    <a:pt x="0" y="0"/>
                  </a:moveTo>
                  <a:lnTo>
                    <a:pt x="5124704" y="0"/>
                  </a:lnTo>
                  <a:lnTo>
                    <a:pt x="512470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3AAD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922372" y="5482647"/>
            <a:ext cx="3843480" cy="4804353"/>
            <a:chOff x="0" y="0"/>
            <a:chExt cx="5124640" cy="64058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24704" cy="6405753"/>
            </a:xfrm>
            <a:custGeom>
              <a:avLst/>
              <a:gdLst/>
              <a:ahLst/>
              <a:cxnLst/>
              <a:rect l="l" t="t" r="r" b="b"/>
              <a:pathLst>
                <a:path w="5124704" h="6405753">
                  <a:moveTo>
                    <a:pt x="0" y="0"/>
                  </a:moveTo>
                  <a:lnTo>
                    <a:pt x="5124704" y="0"/>
                  </a:lnTo>
                  <a:lnTo>
                    <a:pt x="5124704" y="6405753"/>
                  </a:lnTo>
                  <a:lnTo>
                    <a:pt x="0" y="6405753"/>
                  </a:lnTo>
                  <a:close/>
                </a:path>
              </a:pathLst>
            </a:custGeom>
            <a:solidFill>
              <a:srgbClr val="1A3A6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22372" y="5482647"/>
            <a:ext cx="3843480" cy="109814"/>
            <a:chOff x="0" y="0"/>
            <a:chExt cx="5124640" cy="1464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4704" cy="146431"/>
            </a:xfrm>
            <a:custGeom>
              <a:avLst/>
              <a:gdLst/>
              <a:ahLst/>
              <a:cxnLst/>
              <a:rect l="l" t="t" r="r" b="b"/>
              <a:pathLst>
                <a:path w="5124704" h="146431">
                  <a:moveTo>
                    <a:pt x="0" y="0"/>
                  </a:moveTo>
                  <a:lnTo>
                    <a:pt x="5124704" y="0"/>
                  </a:lnTo>
                  <a:lnTo>
                    <a:pt x="512470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903127" y="4590412"/>
            <a:ext cx="3843480" cy="5696588"/>
            <a:chOff x="0" y="0"/>
            <a:chExt cx="5124640" cy="75954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24704" cy="7595489"/>
            </a:xfrm>
            <a:custGeom>
              <a:avLst/>
              <a:gdLst/>
              <a:ahLst/>
              <a:cxnLst/>
              <a:rect l="l" t="t" r="r" b="b"/>
              <a:pathLst>
                <a:path w="5124704" h="7595489">
                  <a:moveTo>
                    <a:pt x="0" y="0"/>
                  </a:moveTo>
                  <a:lnTo>
                    <a:pt x="5124704" y="0"/>
                  </a:lnTo>
                  <a:lnTo>
                    <a:pt x="5124704" y="7595489"/>
                  </a:lnTo>
                  <a:lnTo>
                    <a:pt x="0" y="7595489"/>
                  </a:lnTo>
                  <a:close/>
                </a:path>
              </a:pathLst>
            </a:custGeom>
            <a:solidFill>
              <a:srgbClr val="20407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903127" y="4590412"/>
            <a:ext cx="3843480" cy="109814"/>
            <a:chOff x="0" y="0"/>
            <a:chExt cx="5124640" cy="1464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4704" cy="146431"/>
            </a:xfrm>
            <a:custGeom>
              <a:avLst/>
              <a:gdLst/>
              <a:ahLst/>
              <a:cxnLst/>
              <a:rect l="l" t="t" r="r" b="b"/>
              <a:pathLst>
                <a:path w="5124704" h="146431">
                  <a:moveTo>
                    <a:pt x="0" y="0"/>
                  </a:moveTo>
                  <a:lnTo>
                    <a:pt x="5124704" y="0"/>
                  </a:lnTo>
                  <a:lnTo>
                    <a:pt x="512470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DAAFF"/>
            </a:solidFill>
          </p:spPr>
        </p:sp>
      </p:grpSp>
      <p:sp>
        <p:nvSpPr>
          <p:cNvPr id="22" name="Freeform 22"/>
          <p:cNvSpPr/>
          <p:nvPr/>
        </p:nvSpPr>
        <p:spPr>
          <a:xfrm rot="2700000">
            <a:off x="3186542" y="-1962659"/>
            <a:ext cx="8639509" cy="8672029"/>
          </a:xfrm>
          <a:custGeom>
            <a:avLst/>
            <a:gdLst/>
            <a:ahLst/>
            <a:cxnLst/>
            <a:rect l="l" t="t" r="r" b="b"/>
            <a:pathLst>
              <a:path w="8639509" h="8672029">
                <a:moveTo>
                  <a:pt x="0" y="0"/>
                </a:moveTo>
                <a:lnTo>
                  <a:pt x="8639509" y="0"/>
                </a:lnTo>
                <a:lnTo>
                  <a:pt x="8639509" y="8672030"/>
                </a:lnTo>
                <a:lnTo>
                  <a:pt x="0" y="8672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09146" y="302324"/>
            <a:ext cx="16289188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4 Levels of Analytics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2312" y="7477563"/>
            <a:ext cx="36606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3388CC"/>
                </a:solidFill>
                <a:latin typeface="Inter Bold"/>
                <a:ea typeface="Inter Bold"/>
                <a:cs typeface="Inter Bold"/>
                <a:sym typeface="Inter Bold"/>
              </a:rPr>
              <a:t>DESCRIPTIVE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2312" y="8236734"/>
            <a:ext cx="36606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Happened?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1249" y="8951109"/>
            <a:ext cx="384702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"We sold 500 units last month"</a:t>
            </a:r>
          </a:p>
          <a:p>
            <a:pPr algn="ctr">
              <a:lnSpc>
                <a:spcPts val="2521"/>
              </a:lnSpc>
            </a:pPr>
            <a:endParaRPr lang="en-US" sz="210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Standard reporting.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rearview mirror.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33067" y="6585328"/>
            <a:ext cx="36606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33AADD"/>
                </a:solidFill>
                <a:latin typeface="Inter Bold"/>
                <a:ea typeface="Inter Bold"/>
                <a:cs typeface="Inter Bold"/>
                <a:sym typeface="Inter Bold"/>
              </a:rPr>
              <a:t>DIAGNOSTIC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33067" y="7344499"/>
            <a:ext cx="3660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Why Did It Happen?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29579" y="8554174"/>
            <a:ext cx="346757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"Sales spiked because of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2-for-1 coupon."</a:t>
            </a:r>
          </a:p>
          <a:p>
            <a:pPr algn="ctr">
              <a:lnSpc>
                <a:spcPts val="2521"/>
              </a:lnSpc>
            </a:pPr>
            <a:endParaRPr lang="en-US" sz="210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Discovery. The microscope.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3812" y="5693092"/>
            <a:ext cx="36606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PREDICTIVE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13812" y="6452264"/>
            <a:ext cx="3660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Will Happen?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61097" y="7661939"/>
            <a:ext cx="3566041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"Based on trends, we'll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sell 600 units next month."</a:t>
            </a:r>
          </a:p>
          <a:p>
            <a:pPr algn="ctr">
              <a:lnSpc>
                <a:spcPts val="2521"/>
              </a:lnSpc>
            </a:pPr>
            <a:endParaRPr lang="en-US" sz="210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Forecasting. The crystal ball.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94567" y="4800848"/>
            <a:ext cx="36606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1">
                <a:solidFill>
                  <a:srgbClr val="DDAAFF"/>
                </a:solidFill>
                <a:latin typeface="Inter Bold"/>
                <a:ea typeface="Inter Bold"/>
                <a:cs typeface="Inter Bold"/>
                <a:sym typeface="Inter Bold"/>
              </a:rPr>
              <a:t>PRESCRIPTIVE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994567" y="5560019"/>
            <a:ext cx="3660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 Do We Make It Happen?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51741" y="6769694"/>
            <a:ext cx="3346252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"Move $2k from TV to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Instagram to hit 700 units."</a:t>
            </a:r>
          </a:p>
          <a:p>
            <a:pPr algn="ctr">
              <a:lnSpc>
                <a:spcPts val="2521"/>
              </a:lnSpc>
            </a:pPr>
            <a:endParaRPr lang="en-US" sz="2101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Optimization. The GPS.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478826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YOUR JOURNEY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16117"/>
            <a:ext cx="1628918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Analytics Maturity Curve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86333" y="7961500"/>
            <a:ext cx="16472068" cy="137265"/>
            <a:chOff x="0" y="0"/>
            <a:chExt cx="21962758" cy="1830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62745" cy="183007"/>
            </a:xfrm>
            <a:custGeom>
              <a:avLst/>
              <a:gdLst/>
              <a:ahLst/>
              <a:cxnLst/>
              <a:rect l="l" t="t" r="r" b="b"/>
              <a:pathLst>
                <a:path w="21962745" h="183007">
                  <a:moveTo>
                    <a:pt x="0" y="0"/>
                  </a:moveTo>
                  <a:lnTo>
                    <a:pt x="21962745" y="0"/>
                  </a:lnTo>
                  <a:lnTo>
                    <a:pt x="21962745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1944" y="3455003"/>
            <a:ext cx="462147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A972AD"/>
                </a:solidFill>
                <a:latin typeface="Inter"/>
                <a:ea typeface="Inter"/>
                <a:cs typeface="Inter"/>
                <a:sym typeface="Inter"/>
              </a:rPr>
              <a:t> Most businesses are here today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432680" y="3954870"/>
            <a:ext cx="38129" cy="3843480"/>
            <a:chOff x="0" y="0"/>
            <a:chExt cx="50838" cy="5124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00" cy="5124704"/>
            </a:xfrm>
            <a:custGeom>
              <a:avLst/>
              <a:gdLst/>
              <a:ahLst/>
              <a:cxnLst/>
              <a:rect l="l" t="t" r="r" b="b"/>
              <a:pathLst>
                <a:path w="50800" h="5124704">
                  <a:moveTo>
                    <a:pt x="0" y="0"/>
                  </a:moveTo>
                  <a:lnTo>
                    <a:pt x="50800" y="0"/>
                  </a:lnTo>
                  <a:lnTo>
                    <a:pt x="50800" y="5124704"/>
                  </a:lnTo>
                  <a:lnTo>
                    <a:pt x="0" y="5124704"/>
                  </a:lnTo>
                  <a:close/>
                </a:path>
              </a:pathLst>
            </a:custGeom>
            <a:solidFill>
              <a:srgbClr val="A972A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54971" y="5353421"/>
            <a:ext cx="3431677" cy="2470814"/>
            <a:chOff x="0" y="0"/>
            <a:chExt cx="4575569" cy="32944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5556" cy="3294380"/>
            </a:xfrm>
            <a:custGeom>
              <a:avLst/>
              <a:gdLst/>
              <a:ahLst/>
              <a:cxnLst/>
              <a:rect l="l" t="t" r="r" b="b"/>
              <a:pathLst>
                <a:path w="4575556" h="3294380">
                  <a:moveTo>
                    <a:pt x="0" y="0"/>
                  </a:moveTo>
                  <a:lnTo>
                    <a:pt x="4575556" y="0"/>
                  </a:lnTo>
                  <a:lnTo>
                    <a:pt x="4575556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52035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54971" y="5353421"/>
            <a:ext cx="3431677" cy="109814"/>
            <a:chOff x="0" y="0"/>
            <a:chExt cx="4575569" cy="1464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75556" cy="146431"/>
            </a:xfrm>
            <a:custGeom>
              <a:avLst/>
              <a:gdLst/>
              <a:ahLst/>
              <a:cxnLst/>
              <a:rect l="l" t="t" r="r" b="b"/>
              <a:pathLst>
                <a:path w="4575556" h="146431">
                  <a:moveTo>
                    <a:pt x="0" y="0"/>
                  </a:moveTo>
                  <a:lnTo>
                    <a:pt x="4575556" y="0"/>
                  </a:lnTo>
                  <a:lnTo>
                    <a:pt x="457555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388C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46411" y="6387465"/>
            <a:ext cx="324879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3388CC"/>
                </a:solidFill>
                <a:latin typeface="Inter Bold"/>
                <a:ea typeface="Inter Bold"/>
                <a:cs typeface="Inter Bold"/>
                <a:sym typeface="Inter Bold"/>
              </a:rPr>
              <a:t>Descriptive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804353" y="4255284"/>
            <a:ext cx="3431677" cy="3568951"/>
            <a:chOff x="0" y="0"/>
            <a:chExt cx="4575569" cy="47586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75556" cy="4758563"/>
            </a:xfrm>
            <a:custGeom>
              <a:avLst/>
              <a:gdLst/>
              <a:ahLst/>
              <a:cxnLst/>
              <a:rect l="l" t="t" r="r" b="b"/>
              <a:pathLst>
                <a:path w="4575556" h="4758563">
                  <a:moveTo>
                    <a:pt x="0" y="0"/>
                  </a:moveTo>
                  <a:lnTo>
                    <a:pt x="4575556" y="0"/>
                  </a:lnTo>
                  <a:lnTo>
                    <a:pt x="4575556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15203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804353" y="4255284"/>
            <a:ext cx="3431677" cy="109814"/>
            <a:chOff x="0" y="0"/>
            <a:chExt cx="4575569" cy="1464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75556" cy="146431"/>
            </a:xfrm>
            <a:custGeom>
              <a:avLst/>
              <a:gdLst/>
              <a:ahLst/>
              <a:cxnLst/>
              <a:rect l="l" t="t" r="r" b="b"/>
              <a:pathLst>
                <a:path w="4575556" h="146431">
                  <a:moveTo>
                    <a:pt x="0" y="0"/>
                  </a:moveTo>
                  <a:lnTo>
                    <a:pt x="4575556" y="0"/>
                  </a:lnTo>
                  <a:lnTo>
                    <a:pt x="457555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3AAD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4895793" y="5289328"/>
            <a:ext cx="324879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33AADD"/>
                </a:solidFill>
                <a:latin typeface="Inter Bold"/>
                <a:ea typeface="Inter Bold"/>
                <a:cs typeface="Inter Bold"/>
                <a:sym typeface="Inter Bold"/>
              </a:rPr>
              <a:t>Diagnostic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608706" y="3157147"/>
            <a:ext cx="3431677" cy="4667088"/>
            <a:chOff x="0" y="0"/>
            <a:chExt cx="4575569" cy="62227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75556" cy="6222746"/>
            </a:xfrm>
            <a:custGeom>
              <a:avLst/>
              <a:gdLst/>
              <a:ahLst/>
              <a:cxnLst/>
              <a:rect l="l" t="t" r="r" b="b"/>
              <a:pathLst>
                <a:path w="4575556" h="6222746">
                  <a:moveTo>
                    <a:pt x="0" y="0"/>
                  </a:moveTo>
                  <a:lnTo>
                    <a:pt x="4575556" y="0"/>
                  </a:lnTo>
                  <a:lnTo>
                    <a:pt x="4575556" y="6222746"/>
                  </a:lnTo>
                  <a:lnTo>
                    <a:pt x="0" y="6222746"/>
                  </a:lnTo>
                  <a:close/>
                </a:path>
              </a:pathLst>
            </a:custGeom>
            <a:solidFill>
              <a:srgbClr val="15203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608706" y="3157147"/>
            <a:ext cx="3431677" cy="109814"/>
            <a:chOff x="0" y="0"/>
            <a:chExt cx="4575569" cy="1464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75556" cy="146431"/>
            </a:xfrm>
            <a:custGeom>
              <a:avLst/>
              <a:gdLst/>
              <a:ahLst/>
              <a:cxnLst/>
              <a:rect l="l" t="t" r="r" b="b"/>
              <a:pathLst>
                <a:path w="4575556" h="146431">
                  <a:moveTo>
                    <a:pt x="0" y="0"/>
                  </a:moveTo>
                  <a:lnTo>
                    <a:pt x="4575556" y="0"/>
                  </a:lnTo>
                  <a:lnTo>
                    <a:pt x="457555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700146" y="4191190"/>
            <a:ext cx="324879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Predictive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4138529" y="2059010"/>
            <a:ext cx="3431677" cy="5765225"/>
            <a:chOff x="0" y="0"/>
            <a:chExt cx="4575569" cy="768696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75556" cy="7686929"/>
            </a:xfrm>
            <a:custGeom>
              <a:avLst/>
              <a:gdLst/>
              <a:ahLst/>
              <a:cxnLst/>
              <a:rect l="l" t="t" r="r" b="b"/>
              <a:pathLst>
                <a:path w="4575556" h="7686929">
                  <a:moveTo>
                    <a:pt x="0" y="0"/>
                  </a:moveTo>
                  <a:lnTo>
                    <a:pt x="4575556" y="0"/>
                  </a:lnTo>
                  <a:lnTo>
                    <a:pt x="4575556" y="7686929"/>
                  </a:lnTo>
                  <a:lnTo>
                    <a:pt x="0" y="7686929"/>
                  </a:lnTo>
                  <a:close/>
                </a:path>
              </a:pathLst>
            </a:custGeom>
            <a:solidFill>
              <a:srgbClr val="152035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4138529" y="2059010"/>
            <a:ext cx="3431677" cy="109814"/>
            <a:chOff x="0" y="0"/>
            <a:chExt cx="4575569" cy="1464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575556" cy="146431"/>
            </a:xfrm>
            <a:custGeom>
              <a:avLst/>
              <a:gdLst/>
              <a:ahLst/>
              <a:cxnLst/>
              <a:rect l="l" t="t" r="r" b="b"/>
              <a:pathLst>
                <a:path w="4575556" h="146431">
                  <a:moveTo>
                    <a:pt x="0" y="0"/>
                  </a:moveTo>
                  <a:lnTo>
                    <a:pt x="4575556" y="0"/>
                  </a:lnTo>
                  <a:lnTo>
                    <a:pt x="4575556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DAAFF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4229969" y="3093053"/>
            <a:ext cx="324879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DDAAFF"/>
                </a:solidFill>
                <a:latin typeface="Inter Bold"/>
                <a:ea typeface="Inter Bold"/>
                <a:cs typeface="Inter Bold"/>
                <a:sym typeface="Inter Bold"/>
              </a:rPr>
              <a:t>Prescriptive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9146" y="8899455"/>
            <a:ext cx="1683825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By the end of this course, you will operate at the Prescriptive level.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1257391" y="-1096657"/>
            <a:ext cx="7684001" cy="7684001"/>
          </a:xfrm>
          <a:custGeom>
            <a:avLst/>
            <a:gdLst/>
            <a:ahLst/>
            <a:cxnLst/>
            <a:rect l="l" t="t" r="r" b="b"/>
            <a:pathLst>
              <a:path w="7684001" h="7684001">
                <a:moveTo>
                  <a:pt x="0" y="0"/>
                </a:moveTo>
                <a:lnTo>
                  <a:pt x="7684001" y="0"/>
                </a:lnTo>
                <a:lnTo>
                  <a:pt x="7684001" y="7684001"/>
                </a:lnTo>
                <a:lnTo>
                  <a:pt x="0" y="7684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14916512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'Why'</a:t>
            </a:r>
          </a:p>
          <a:p>
            <a:pPr algn="l">
              <a:lnSpc>
                <a:spcPts val="10808"/>
              </a:lnSpc>
            </a:pPr>
            <a:r>
              <a:rPr lang="en-US" sz="90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Mindset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1354384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Going beyond what the numbers say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7706" y="3363049"/>
            <a:ext cx="3294412" cy="38129"/>
            <a:chOff x="0" y="0"/>
            <a:chExt cx="4392549" cy="50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49069" y="3637578"/>
            <a:ext cx="17158402" cy="2942745"/>
            <a:chOff x="0" y="0"/>
            <a:chExt cx="22877869" cy="39236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77907" cy="3923649"/>
            </a:xfrm>
            <a:custGeom>
              <a:avLst/>
              <a:gdLst/>
              <a:ahLst/>
              <a:cxnLst/>
              <a:rect l="l" t="t" r="r" b="b"/>
              <a:pathLst>
                <a:path w="22877907" h="3923649">
                  <a:moveTo>
                    <a:pt x="0" y="0"/>
                  </a:moveTo>
                  <a:lnTo>
                    <a:pt x="22877907" y="0"/>
                  </a:lnTo>
                  <a:lnTo>
                    <a:pt x="22877907" y="3923649"/>
                  </a:lnTo>
                  <a:lnTo>
                    <a:pt x="0" y="3923649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7279031" y="8085273"/>
            <a:ext cx="3739663" cy="2201727"/>
          </a:xfrm>
          <a:custGeom>
            <a:avLst/>
            <a:gdLst/>
            <a:ahLst/>
            <a:cxnLst/>
            <a:rect l="l" t="t" r="r" b="b"/>
            <a:pathLst>
              <a:path w="3739663" h="2201727">
                <a:moveTo>
                  <a:pt x="0" y="0"/>
                </a:moveTo>
                <a:lnTo>
                  <a:pt x="3739663" y="0"/>
                </a:lnTo>
                <a:lnTo>
                  <a:pt x="3739663" y="2201727"/>
                </a:lnTo>
                <a:lnTo>
                  <a:pt x="0" y="2201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9146" y="338185"/>
            <a:ext cx="10798502" cy="24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 dirty="0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WHY MINDSET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9146" y="997067"/>
            <a:ext cx="1354384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Tells You the WHAT.</a:t>
            </a:r>
          </a:p>
          <a:p>
            <a:pPr algn="l">
              <a:lnSpc>
                <a:spcPts val="7926"/>
              </a:lnSpc>
            </a:pPr>
            <a:r>
              <a:rPr lang="en-US" sz="66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Logic Reveals the WHY.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048" y="3820573"/>
            <a:ext cx="7619352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 dirty="0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Example: Website bounce rate is 90%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5048" y="4685357"/>
            <a:ext cx="530780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tells you: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5048" y="5261877"/>
            <a:ext cx="3629430" cy="40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People are leaving.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8268" y="4685357"/>
            <a:ext cx="1890425" cy="37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Logic asks: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28269" y="5261877"/>
            <a:ext cx="750129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Is the page too slow? Is the content irrelevant? 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Is the layout broken?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44478" y="7380423"/>
            <a:ext cx="9476322" cy="50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Great analysts are professional 'Why' askers.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272569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STATISTICAL SKEPTICISM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1006592"/>
            <a:ext cx="10720854" cy="1095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Correlation ≠ Causation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9069" y="2882608"/>
            <a:ext cx="5216157" cy="5490686"/>
            <a:chOff x="0" y="0"/>
            <a:chExt cx="6954876" cy="73209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54901" cy="7320915"/>
            </a:xfrm>
            <a:custGeom>
              <a:avLst/>
              <a:gdLst/>
              <a:ahLst/>
              <a:cxnLst/>
              <a:rect l="l" t="t" r="r" b="b"/>
              <a:pathLst>
                <a:path w="6954901" h="7320915">
                  <a:moveTo>
                    <a:pt x="0" y="0"/>
                  </a:moveTo>
                  <a:lnTo>
                    <a:pt x="6954901" y="0"/>
                  </a:lnTo>
                  <a:lnTo>
                    <a:pt x="6954901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40509" y="4566018"/>
            <a:ext cx="503327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Ice Cream Sales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773" y="5467779"/>
            <a:ext cx="475873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Spike in summer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108392" y="2882608"/>
            <a:ext cx="5216157" cy="5490686"/>
            <a:chOff x="0" y="0"/>
            <a:chExt cx="6954876" cy="73209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54901" cy="7320915"/>
            </a:xfrm>
            <a:custGeom>
              <a:avLst/>
              <a:gdLst/>
              <a:ahLst/>
              <a:cxnLst/>
              <a:rect l="l" t="t" r="r" b="b"/>
              <a:pathLst>
                <a:path w="6954901" h="7320915">
                  <a:moveTo>
                    <a:pt x="0" y="0"/>
                  </a:moveTo>
                  <a:lnTo>
                    <a:pt x="6954901" y="0"/>
                  </a:lnTo>
                  <a:lnTo>
                    <a:pt x="6954901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199832" y="4566018"/>
            <a:ext cx="503327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Shark Attacks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37097" y="5467779"/>
            <a:ext cx="475873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Also spike in summer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667715" y="2882608"/>
            <a:ext cx="5216157" cy="5490686"/>
            <a:chOff x="0" y="0"/>
            <a:chExt cx="6954876" cy="73209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54901" cy="7320915"/>
            </a:xfrm>
            <a:custGeom>
              <a:avLst/>
              <a:gdLst/>
              <a:ahLst/>
              <a:cxnLst/>
              <a:rect l="l" t="t" r="r" b="b"/>
              <a:pathLst>
                <a:path w="6954901" h="7320915">
                  <a:moveTo>
                    <a:pt x="0" y="0"/>
                  </a:moveTo>
                  <a:lnTo>
                    <a:pt x="6954901" y="0"/>
                  </a:lnTo>
                  <a:lnTo>
                    <a:pt x="6954901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1759155" y="4566018"/>
            <a:ext cx="503327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FFCC44"/>
                </a:solidFill>
                <a:latin typeface="Inter Bold"/>
                <a:ea typeface="Inter Bold"/>
                <a:cs typeface="Inter Bold"/>
                <a:sym typeface="Inter Bold"/>
              </a:rPr>
              <a:t>The Real Cause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28578" y="5467779"/>
            <a:ext cx="489442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Hot weather, the hidden variable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9146" y="8762190"/>
            <a:ext cx="168382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i="1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The Human Touch is what identifies the hidden variable; algorithms alone will miss it.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9069" y="2470814"/>
            <a:ext cx="76257" cy="5216157"/>
            <a:chOff x="0" y="0"/>
            <a:chExt cx="101676" cy="6954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727" cy="6954901"/>
            </a:xfrm>
            <a:custGeom>
              <a:avLst/>
              <a:gdLst/>
              <a:ahLst/>
              <a:cxnLst/>
              <a:rect l="l" t="t" r="r" b="b"/>
              <a:pathLst>
                <a:path w="101727" h="6954901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2400300"/>
            <a:ext cx="1180743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1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5033" y="3910232"/>
            <a:ext cx="1389673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"What is the most surprising thing in this report?"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98846" y="5385445"/>
            <a:ext cx="1009030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A972AD"/>
                </a:solidFill>
                <a:latin typeface="Inter Bold"/>
                <a:ea typeface="Inter Bold"/>
                <a:cs typeface="Inter Bold"/>
                <a:sym typeface="Inter Bold"/>
              </a:rPr>
              <a:t>The question every great analyst asks before their boss does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506" cy="12811506"/>
            </a:xfrm>
            <a:custGeom>
              <a:avLst/>
              <a:gdLst/>
              <a:ahLst/>
              <a:cxnLst/>
              <a:rect l="l" t="t" r="r" b="b"/>
              <a:pathLst>
                <a:path w="12811506" h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id="6" name="Freeform 6"/>
          <p:cNvSpPr/>
          <p:nvPr/>
        </p:nvSpPr>
        <p:spPr>
          <a:xfrm flipH="1">
            <a:off x="11751935" y="0"/>
            <a:ext cx="6694914" cy="6796867"/>
          </a:xfrm>
          <a:custGeom>
            <a:avLst/>
            <a:gdLst/>
            <a:ahLst/>
            <a:cxnLst/>
            <a:rect l="l" t="t" r="r" b="b"/>
            <a:pathLst>
              <a:path w="6694914" h="6796867">
                <a:moveTo>
                  <a:pt x="6694914" y="0"/>
                </a:moveTo>
                <a:lnTo>
                  <a:pt x="0" y="0"/>
                </a:lnTo>
                <a:lnTo>
                  <a:pt x="0" y="6796867"/>
                </a:lnTo>
                <a:lnTo>
                  <a:pt x="6694914" y="6796867"/>
                </a:lnTo>
                <a:lnTo>
                  <a:pt x="66949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77773" y="3879675"/>
            <a:ext cx="162891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7: Soft Skills Are Every </a:t>
            </a:r>
            <a:r>
              <a:rPr lang="en-US" sz="1951" b="1">
                <a:solidFill>
                  <a:srgbClr val="A972AD"/>
                </a:solidFill>
                <a:latin typeface="Inter Bold"/>
                <a:ea typeface="Inter Bold"/>
                <a:cs typeface="Inter Bold"/>
                <a:sym typeface="Inter Bold"/>
              </a:rPr>
              <a:t>B.A</a:t>
            </a:r>
            <a:r>
              <a:rPr lang="en-US" sz="1951" b="1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 SECRET WAEPON!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773" y="4575543"/>
            <a:ext cx="10728427" cy="2743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Ethics &amp;</a:t>
            </a:r>
          </a:p>
          <a:p>
            <a:pPr algn="l">
              <a:lnSpc>
                <a:spcPts val="10808"/>
              </a:lnSpc>
            </a:pPr>
            <a:r>
              <a:rPr lang="en-US" sz="900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Human Touch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73" y="7860430"/>
            <a:ext cx="6385027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3"/>
              </a:lnSpc>
            </a:pPr>
            <a:r>
              <a:rPr lang="en-US" sz="3302" dirty="0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Prediction </a:t>
            </a: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requires </a:t>
            </a:r>
            <a:r>
              <a:rPr lang="en-US" sz="3300">
                <a:solidFill>
                  <a:srgbClr val="D1A2D6"/>
                </a:solidFill>
                <a:latin typeface="Inter" panose="020B0604020202020204" charset="0"/>
                <a:ea typeface="Inter" panose="020B0604020202020204" charset="0"/>
              </a:rPr>
              <a:t>conscience</a:t>
            </a: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lang="en-US" sz="3302" dirty="0">
              <a:solidFill>
                <a:srgbClr val="D1A2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97725" cy="82363"/>
            <a:chOff x="0" y="0"/>
            <a:chExt cx="24396967" cy="1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6954" cy="109855"/>
            </a:xfrm>
            <a:custGeom>
              <a:avLst/>
              <a:gdLst/>
              <a:ahLst/>
              <a:cxnLst/>
              <a:rect l="l" t="t" r="r" b="b"/>
              <a:pathLst>
                <a:path w="24396954" h="109855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F5555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09146" y="338185"/>
            <a:ext cx="107985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9146" y="997067"/>
            <a:ext cx="10416054" cy="100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Ethics of Prediction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17706" y="2361000"/>
            <a:ext cx="3294412" cy="38129"/>
            <a:chOff x="0" y="0"/>
            <a:chExt cx="439254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2549" cy="50800"/>
            </a:xfrm>
            <a:custGeom>
              <a:avLst/>
              <a:gdLst/>
              <a:ahLst/>
              <a:cxnLst/>
              <a:rect l="l" t="t" r="r" b="b"/>
              <a:pathLst>
                <a:path w="4392549" h="50800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555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16151" y="2882608"/>
            <a:ext cx="17545564" cy="4667088"/>
            <a:chOff x="0" y="0"/>
            <a:chExt cx="23394085" cy="62227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394124" cy="6222746"/>
            </a:xfrm>
            <a:custGeom>
              <a:avLst/>
              <a:gdLst/>
              <a:ahLst/>
              <a:cxnLst/>
              <a:rect l="l" t="t" r="r" b="b"/>
              <a:pathLst>
                <a:path w="23394124" h="6222746">
                  <a:moveTo>
                    <a:pt x="0" y="0"/>
                  </a:moveTo>
                  <a:lnTo>
                    <a:pt x="23394124" y="0"/>
                  </a:lnTo>
                  <a:lnTo>
                    <a:pt x="23394124" y="6222746"/>
                  </a:lnTo>
                  <a:lnTo>
                    <a:pt x="0" y="6222746"/>
                  </a:lnTo>
                  <a:close/>
                </a:path>
              </a:pathLst>
            </a:custGeom>
            <a:solidFill>
              <a:srgbClr val="15080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549069" y="2873083"/>
            <a:ext cx="753927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FF7777"/>
                </a:solidFill>
                <a:latin typeface="Inter Bold"/>
                <a:ea typeface="Inter Bold"/>
                <a:cs typeface="Inter Bold"/>
                <a:sym typeface="Inter Bold"/>
              </a:rPr>
              <a:t>Target's Pregnancy Prediction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706" y="5254787"/>
            <a:ext cx="1710984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analyzing shifts in purchasing patterns, different lotions, prenatal vitamins, and unscented products, Target's algorithm predicted pregnancy so accurately that it sent targeted baby product coupons to her.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17706" y="7615805"/>
            <a:ext cx="17158402" cy="1372676"/>
            <a:chOff x="0" y="0"/>
            <a:chExt cx="22877869" cy="1830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877907" cy="1830197"/>
            </a:xfrm>
            <a:custGeom>
              <a:avLst/>
              <a:gdLst/>
              <a:ahLst/>
              <a:cxnLst/>
              <a:rect l="l" t="t" r="r" b="b"/>
              <a:pathLst>
                <a:path w="22877907" h="1830197">
                  <a:moveTo>
                    <a:pt x="0" y="0"/>
                  </a:moveTo>
                  <a:lnTo>
                    <a:pt x="22877907" y="0"/>
                  </a:lnTo>
                  <a:lnTo>
                    <a:pt x="2287790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1A101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83680" y="8073543"/>
            <a:ext cx="1642645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 dirty="0">
                <a:solidFill>
                  <a:srgbClr val="FFCC44"/>
                </a:solidFill>
                <a:latin typeface="Inter Bold"/>
                <a:ea typeface="Inter Bold"/>
                <a:cs typeface="Inter Bold"/>
                <a:sym typeface="Inter Bold"/>
              </a:rPr>
              <a:t>Just because we CAN predict it doesn't mean we SHOULD use it without boundaries.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9069" y="3635083"/>
            <a:ext cx="15568075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027" lvl="1" indent="-356514" algn="l">
              <a:lnSpc>
                <a:spcPts val="3963"/>
              </a:lnSpc>
              <a:spcBef>
                <a:spcPct val="0"/>
              </a:spcBef>
              <a:buFont typeface="Arial"/>
              <a:buChar char="•"/>
            </a:pPr>
            <a:r>
              <a:rPr lang="en-US" sz="330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They knew a girl was pregnant, based on her change in lotion and vitamin purchases.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154" cy="16472154"/>
            </a:xfrm>
            <a:custGeom>
              <a:avLst/>
              <a:gdLst/>
              <a:ahLst/>
              <a:cxnLst/>
              <a:rect l="l" t="t" r="r" b="b"/>
              <a:pathLst>
                <a:path w="16472154" h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3539" cy="10295039"/>
            <a:chOff x="0" y="0"/>
            <a:chExt cx="164719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719" cy="13726668"/>
            </a:xfrm>
            <a:custGeom>
              <a:avLst/>
              <a:gdLst/>
              <a:ahLst/>
              <a:cxnLst/>
              <a:rect l="l" t="t" r="r" b="b"/>
              <a:pathLst>
                <a:path w="164719" h="13726668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80431" y="7000627"/>
            <a:ext cx="6177029" cy="38129"/>
            <a:chOff x="0" y="0"/>
            <a:chExt cx="8236039" cy="508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36077" cy="50800"/>
            </a:xfrm>
            <a:custGeom>
              <a:avLst/>
              <a:gdLst/>
              <a:ahLst/>
              <a:cxnLst/>
              <a:rect l="l" t="t" r="r" b="b"/>
              <a:pathLst>
                <a:path w="8236077" h="50800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7277556" y="1439307"/>
            <a:ext cx="8780310" cy="7408386"/>
          </a:xfrm>
          <a:custGeom>
            <a:avLst/>
            <a:gdLst/>
            <a:ahLst/>
            <a:cxnLst/>
            <a:rect l="l" t="t" r="r" b="b"/>
            <a:pathLst>
              <a:path w="8780310" h="7408386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1871" y="2781538"/>
            <a:ext cx="12171169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1871" y="5193240"/>
            <a:ext cx="10798502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Share one time data changed your mind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about something.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1871" y="7320886"/>
            <a:ext cx="1217116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up: Excel fundamentals →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Install Windows Desktop Excel before Session 1.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67420" y="9754714"/>
            <a:ext cx="132706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555566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1358</Words>
  <Application>Microsoft Office PowerPoint</Application>
  <PresentationFormat>Custom</PresentationFormat>
  <Paragraphs>298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Calibri</vt:lpstr>
      <vt:lpstr>Inter Bold</vt:lpstr>
      <vt:lpstr>Arial</vt:lpstr>
      <vt:lpstr>Inter Bold Italics</vt:lpstr>
      <vt:lpstr>Inter</vt:lpstr>
      <vt:lpstr>Inter Italics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BA1_Paper_Airplanes.pptx</dc:title>
  <cp:lastModifiedBy>Ameer Alhelwani</cp:lastModifiedBy>
  <cp:revision>3</cp:revision>
  <dcterms:created xsi:type="dcterms:W3CDTF">2006-08-16T00:00:00Z</dcterms:created>
  <dcterms:modified xsi:type="dcterms:W3CDTF">2026-04-10T23:41:37Z</dcterms:modified>
  <dc:identifier>DAHGfCK3Pbs</dc:identifier>
</cp:coreProperties>
</file>