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Inter Bold" charset="1" panose="02000503000000020004"/>
      <p:regular r:id="rId41"/>
    </p:embeddedFont>
    <p:embeddedFont>
      <p:font typeface="Inter" charset="1" panose="02000503000000020004"/>
      <p:regular r:id="rId42"/>
    </p:embeddedFont>
    <p:embeddedFont>
      <p:font typeface="Inter Italics" charset="1" panose="020005030000000200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notesMasters/notesMaster1.xml" Type="http://schemas.openxmlformats.org/officeDocument/2006/relationships/notesMaster"/><Relationship Id="rId39" Target="theme/theme2.xml" Type="http://schemas.openxmlformats.org/officeDocument/2006/relationships/theme"/><Relationship Id="rId4" Target="theme/theme1.xml" Type="http://schemas.openxmlformats.org/officeDocument/2006/relationships/theme"/><Relationship Id="rId40" Target="notesSlides/notesSlide1.xml" Type="http://schemas.openxmlformats.org/officeDocument/2006/relationships/notes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2.xml" Type="http://schemas.openxmlformats.org/officeDocument/2006/relationships/notesSlide"/><Relationship Id="rId44" Target="notesSlides/notesSlide3.xml" Type="http://schemas.openxmlformats.org/officeDocument/2006/relationships/notesSlide"/><Relationship Id="rId45" Target="notesSlides/notesSlide4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5.xml" Type="http://schemas.openxmlformats.org/officeDocument/2006/relationships/notesSlide"/><Relationship Id="rId48" Target="notesSlides/notesSlide6.xml" Type="http://schemas.openxmlformats.org/officeDocument/2006/relationships/notesSlide"/><Relationship Id="rId49" Target="notesSlides/notesSlide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8.xml" Type="http://schemas.openxmlformats.org/officeDocument/2006/relationships/notesSlide"/><Relationship Id="rId51" Target="notesSlides/notesSlide9.xml" Type="http://schemas.openxmlformats.org/officeDocument/2006/relationships/notesSlide"/><Relationship Id="rId52" Target="notesSlides/notesSlide10.xml" Type="http://schemas.openxmlformats.org/officeDocument/2006/relationships/notesSlide"/><Relationship Id="rId53" Target="notesSlides/notesSlide11.xml" Type="http://schemas.openxmlformats.org/officeDocument/2006/relationships/notesSlide"/><Relationship Id="rId54" Target="notesSlides/notesSlide12.xml" Type="http://schemas.openxmlformats.org/officeDocument/2006/relationships/notesSlide"/><Relationship Id="rId55" Target="notesSlides/notesSlide13.xml" Type="http://schemas.openxmlformats.org/officeDocument/2006/relationships/notesSlide"/><Relationship Id="rId56" Target="notesSlides/notesSlide14.xml" Type="http://schemas.openxmlformats.org/officeDocument/2006/relationships/notesSlide"/><Relationship Id="rId57" Target="notesSlides/notesSlide15.xml" Type="http://schemas.openxmlformats.org/officeDocument/2006/relationships/notesSlide"/><Relationship Id="rId58" Target="notesSlides/notesSlide16.xml" Type="http://schemas.openxmlformats.org/officeDocument/2006/relationships/notesSlide"/><Relationship Id="rId59" Target="notesSlides/notesSlide1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8.xml" Type="http://schemas.openxmlformats.org/officeDocument/2006/relationships/notesSlide"/><Relationship Id="rId61" Target="notesSlides/notesSlide19.xml" Type="http://schemas.openxmlformats.org/officeDocument/2006/relationships/notesSlide"/><Relationship Id="rId62" Target="notesSlides/notesSlide20.xml" Type="http://schemas.openxmlformats.org/officeDocument/2006/relationships/notesSlide"/><Relationship Id="rId63" Target="notesSlides/notesSlide21.xml" Type="http://schemas.openxmlformats.org/officeDocument/2006/relationships/notesSlide"/><Relationship Id="rId64" Target="notesSlides/notesSlide22.xml" Type="http://schemas.openxmlformats.org/officeDocument/2006/relationships/notesSlide"/><Relationship Id="rId65" Target="notesSlides/notesSlide23.xml" Type="http://schemas.openxmlformats.org/officeDocument/2006/relationships/notesSlide"/><Relationship Id="rId66" Target="notesSlides/notesSlide24.xml" Type="http://schemas.openxmlformats.org/officeDocument/2006/relationships/notesSlide"/><Relationship Id="rId67" Target="notesSlides/notesSlide25.xml" Type="http://schemas.openxmlformats.org/officeDocument/2006/relationships/notesSlide"/><Relationship Id="rId68" Target="notesSlides/notesSlide26.xml" Type="http://schemas.openxmlformats.org/officeDocument/2006/relationships/notesSlide"/><Relationship Id="rId69" Target="notesSlides/notesSlide27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8.xml" Type="http://schemas.openxmlformats.org/officeDocument/2006/relationships/notesSlide"/><Relationship Id="rId71" Target="notesSlides/notesSlide29.xml" Type="http://schemas.openxmlformats.org/officeDocument/2006/relationships/notesSlide"/><Relationship Id="rId72" Target="notesSlides/notesSlide30.xml" Type="http://schemas.openxmlformats.org/officeDocument/2006/relationships/notesSlide"/><Relationship Id="rId73" Target="notesSlides/notesSlide31.xml" Type="http://schemas.openxmlformats.org/officeDocument/2006/relationships/notesSlide"/><Relationship Id="rId74" Target="notesSlides/notesSlide32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49075" y="-1934528"/>
            <a:ext cx="10306050" cy="10306050"/>
            <a:chOff x="0" y="0"/>
            <a:chExt cx="13741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1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3741400">
                  <a:moveTo>
                    <a:pt x="0" y="6870700"/>
                  </a:moveTo>
                  <a:cubicBezTo>
                    <a:pt x="0" y="3076067"/>
                    <a:pt x="3076067" y="0"/>
                    <a:pt x="6870700" y="0"/>
                  </a:cubicBezTo>
                  <a:cubicBezTo>
                    <a:pt x="10665333" y="0"/>
                    <a:pt x="13741400" y="3076067"/>
                    <a:pt x="13741400" y="6870700"/>
                  </a:cubicBezTo>
                  <a:cubicBezTo>
                    <a:pt x="13741400" y="10665333"/>
                    <a:pt x="10665333" y="13741400"/>
                    <a:pt x="6870700" y="13741400"/>
                  </a:cubicBezTo>
                  <a:cubicBezTo>
                    <a:pt x="3076067" y="13741400"/>
                    <a:pt x="0" y="10665333"/>
                    <a:pt x="0" y="6870700"/>
                  </a:cubicBezTo>
                  <a:close/>
                </a:path>
              </a:pathLst>
            </a:custGeom>
            <a:solidFill>
              <a:srgbClr val="F1F5F9"/>
            </a:solidFill>
            <a:ln w="19050" cap="sq">
              <a:solidFill>
                <a:srgbClr val="F1F5F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020675" y="-695325"/>
            <a:ext cx="7562850" cy="7562850"/>
            <a:chOff x="0" y="0"/>
            <a:chExt cx="10083800" cy="10083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838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0083800">
                  <a:moveTo>
                    <a:pt x="0" y="5041900"/>
                  </a:moveTo>
                  <a:cubicBezTo>
                    <a:pt x="0" y="2257298"/>
                    <a:pt x="2257298" y="0"/>
                    <a:pt x="5041900" y="0"/>
                  </a:cubicBezTo>
                  <a:cubicBezTo>
                    <a:pt x="7826502" y="0"/>
                    <a:pt x="10083800" y="2257298"/>
                    <a:pt x="10083800" y="5041900"/>
                  </a:cubicBezTo>
                  <a:cubicBezTo>
                    <a:pt x="10083800" y="7826502"/>
                    <a:pt x="7826502" y="10083800"/>
                    <a:pt x="5041900" y="10083800"/>
                  </a:cubicBezTo>
                  <a:cubicBezTo>
                    <a:pt x="2257298" y="10083800"/>
                    <a:pt x="0" y="7826502"/>
                    <a:pt x="0" y="5041900"/>
                  </a:cubicBezTo>
                  <a:close/>
                </a:path>
              </a:pathLst>
            </a:custGeom>
            <a:solidFill>
              <a:srgbClr val="E2E8F0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25" y="-9525"/>
            <a:ext cx="142494" cy="10306050"/>
            <a:chOff x="0" y="0"/>
            <a:chExt cx="189992" cy="1374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992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80060" y="2880360"/>
            <a:ext cx="14076218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Time Series &amp;</a:t>
            </a:r>
          </a:p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Exponential Growth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5297" y="7676197"/>
            <a:ext cx="4782693" cy="695325"/>
            <a:chOff x="0" y="0"/>
            <a:chExt cx="6376924" cy="927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76924" cy="927100"/>
            </a:xfrm>
            <a:custGeom>
              <a:avLst/>
              <a:gdLst/>
              <a:ahLst/>
              <a:cxnLst/>
              <a:rect r="r" b="b" t="t" l="l"/>
              <a:pathLst>
                <a:path h="927100" w="6376924">
                  <a:moveTo>
                    <a:pt x="0" y="0"/>
                  </a:moveTo>
                  <a:lnTo>
                    <a:pt x="6376924" y="0"/>
                  </a:lnTo>
                  <a:lnTo>
                    <a:pt x="6376924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1F5F9"/>
            </a:solidFill>
            <a:ln w="952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76072" y="7722108"/>
            <a:ext cx="4581144" cy="603504"/>
            <a:chOff x="0" y="0"/>
            <a:chExt cx="6108192" cy="80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08192" cy="804672"/>
            </a:xfrm>
            <a:custGeom>
              <a:avLst/>
              <a:gdLst/>
              <a:ahLst/>
              <a:cxnLst/>
              <a:rect r="r" b="b" t="t" l="l"/>
              <a:pathLst>
                <a:path h="804672" w="6108192">
                  <a:moveTo>
                    <a:pt x="0" y="0"/>
                  </a:moveTo>
                  <a:lnTo>
                    <a:pt x="6108192" y="0"/>
                  </a:lnTo>
                  <a:lnTo>
                    <a:pt x="61081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09" r="0" b="-979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10819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WEEK 9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01 / 35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227134" y="399240"/>
            <a:ext cx="4272107" cy="5373720"/>
          </a:xfrm>
          <a:custGeom>
            <a:avLst/>
            <a:gdLst/>
            <a:ahLst/>
            <a:cxnLst/>
            <a:rect r="r" b="b" t="t" l="l"/>
            <a:pathLst>
              <a:path h="5373720" w="4272107">
                <a:moveTo>
                  <a:pt x="0" y="0"/>
                </a:moveTo>
                <a:lnTo>
                  <a:pt x="4272108" y="0"/>
                </a:lnTo>
                <a:lnTo>
                  <a:pt x="4272108" y="5373720"/>
                </a:lnTo>
                <a:lnTo>
                  <a:pt x="0" y="5373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80060" y="6172200"/>
            <a:ext cx="1234440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Mastering the Logic of Change, Navigating Trends, Seasonality, and Non-Linear Scaling.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726948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Time as a variable that reshapes every other number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02 / 35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634948" y="-744328"/>
            <a:ext cx="6905305" cy="6975055"/>
          </a:xfrm>
          <a:custGeom>
            <a:avLst/>
            <a:gdLst/>
            <a:ahLst/>
            <a:cxnLst/>
            <a:rect r="r" b="b" t="t" l="l"/>
            <a:pathLst>
              <a:path h="6975055" w="6905305">
                <a:moveTo>
                  <a:pt x="0" y="0"/>
                </a:moveTo>
                <a:lnTo>
                  <a:pt x="6905304" y="0"/>
                </a:lnTo>
                <a:lnTo>
                  <a:pt x="6905304" y="6975056"/>
                </a:lnTo>
                <a:lnTo>
                  <a:pt x="0" y="697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102870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Fourth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Dimension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Static data is a lie, the world is always moving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Fourth Dimension: Time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Time is a variable that changes the meaning of every other data point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sale in December isn't the same as a sale in July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Seasonality, inflation, and momentum all bend the numbers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dollar today isn't a dollar tomorrow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07695" y="8069199"/>
            <a:ext cx="211074" cy="211074"/>
            <a:chOff x="0" y="0"/>
            <a:chExt cx="281432" cy="2814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87552" y="798690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 must ADJUST data for time before we can trust the analysis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5860" y="9601200"/>
            <a:ext cx="15773400" cy="617220"/>
            <a:chOff x="0" y="0"/>
            <a:chExt cx="2103120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03 / 35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75297" y="2875598"/>
            <a:ext cx="4124325" cy="5907405"/>
            <a:chOff x="0" y="0"/>
            <a:chExt cx="5499100" cy="7876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17220" y="3017520"/>
            <a:ext cx="3840480" cy="635236"/>
            <a:chOff x="0" y="0"/>
            <a:chExt cx="5120640" cy="84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Trend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878134" y="2875598"/>
            <a:ext cx="4124325" cy="5907405"/>
            <a:chOff x="0" y="0"/>
            <a:chExt cx="5499100" cy="7876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20056" y="3017520"/>
            <a:ext cx="3840480" cy="635236"/>
            <a:chOff x="0" y="0"/>
            <a:chExt cx="5120640" cy="8469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Seasonality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80970" y="2875598"/>
            <a:ext cx="4124325" cy="5907405"/>
            <a:chOff x="0" y="0"/>
            <a:chExt cx="5499100" cy="78765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422892" y="3017520"/>
            <a:ext cx="3840480" cy="635236"/>
            <a:chOff x="0" y="0"/>
            <a:chExt cx="5120640" cy="8469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Cycles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83805" y="2875598"/>
            <a:ext cx="4124325" cy="5907405"/>
            <a:chOff x="0" y="0"/>
            <a:chExt cx="5499100" cy="78765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825728" y="3017520"/>
            <a:ext cx="3840480" cy="635236"/>
            <a:chOff x="0" y="0"/>
            <a:chExt cx="5120640" cy="8469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Noise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7220" y="8915400"/>
            <a:ext cx="16459200" cy="548640"/>
            <a:chOff x="0" y="0"/>
            <a:chExt cx="21945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945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4A3B8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if a </a:t>
              </a:r>
              <a:r>
                <a:rPr lang="en-US" sz="2100" i="true">
                  <a:solidFill>
                    <a:srgbClr val="94A3B8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Retail company spikes in Q4: is the company growing (Trend), or is it just Christmas (Seasonality)?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04 / 35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70300" y="5829300"/>
            <a:ext cx="2934321" cy="2728918"/>
          </a:xfrm>
          <a:custGeom>
            <a:avLst/>
            <a:gdLst/>
            <a:ahLst/>
            <a:cxnLst/>
            <a:rect r="r" b="b" t="t" l="l"/>
            <a:pathLst>
              <a:path h="2728918" w="2934321">
                <a:moveTo>
                  <a:pt x="0" y="0"/>
                </a:moveTo>
                <a:lnTo>
                  <a:pt x="2934320" y="0"/>
                </a:lnTo>
                <a:lnTo>
                  <a:pt x="2934320" y="2728918"/>
                </a:lnTo>
                <a:lnTo>
                  <a:pt x="0" y="2728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545944" y="5769515"/>
            <a:ext cx="2788703" cy="2788703"/>
          </a:xfrm>
          <a:custGeom>
            <a:avLst/>
            <a:gdLst/>
            <a:ahLst/>
            <a:cxnLst/>
            <a:rect r="r" b="b" t="t" l="l"/>
            <a:pathLst>
              <a:path h="2788703" w="2788703">
                <a:moveTo>
                  <a:pt x="0" y="0"/>
                </a:moveTo>
                <a:lnTo>
                  <a:pt x="2788704" y="0"/>
                </a:lnTo>
                <a:lnTo>
                  <a:pt x="2788704" y="2788703"/>
                </a:lnTo>
                <a:lnTo>
                  <a:pt x="0" y="2788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948780" y="5769515"/>
            <a:ext cx="2788703" cy="2788703"/>
          </a:xfrm>
          <a:custGeom>
            <a:avLst/>
            <a:gdLst/>
            <a:ahLst/>
            <a:cxnLst/>
            <a:rect r="r" b="b" t="t" l="l"/>
            <a:pathLst>
              <a:path h="2788703" w="2788703">
                <a:moveTo>
                  <a:pt x="0" y="0"/>
                </a:moveTo>
                <a:lnTo>
                  <a:pt x="2788704" y="0"/>
                </a:lnTo>
                <a:lnTo>
                  <a:pt x="2788704" y="2788703"/>
                </a:lnTo>
                <a:lnTo>
                  <a:pt x="0" y="2788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262615" y="5769515"/>
            <a:ext cx="2966706" cy="2788703"/>
          </a:xfrm>
          <a:custGeom>
            <a:avLst/>
            <a:gdLst/>
            <a:ahLst/>
            <a:cxnLst/>
            <a:rect r="r" b="b" t="t" l="l"/>
            <a:pathLst>
              <a:path h="2788703" w="2966706">
                <a:moveTo>
                  <a:pt x="0" y="0"/>
                </a:moveTo>
                <a:lnTo>
                  <a:pt x="2966706" y="0"/>
                </a:lnTo>
                <a:lnTo>
                  <a:pt x="2966706" y="2788703"/>
                </a:lnTo>
                <a:lnTo>
                  <a:pt x="0" y="2788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17220" y="969645"/>
            <a:ext cx="14401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Components of a Time Series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5800" y="3968115"/>
            <a:ext cx="3703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The long-term direction the data is moving over time.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88636" y="3968115"/>
            <a:ext cx="370332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Repeating, predictable patterns 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e.g. the Q4 retail spike.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91472" y="3968115"/>
            <a:ext cx="3703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Long-term economic waves of irregular length.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94308" y="3968115"/>
            <a:ext cx="37033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Random, unexplainable variation left over.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0120"/>
            <a:ext cx="144018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Stationary vs. Non-Stationary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2457" y="2601278"/>
            <a:ext cx="8101965" cy="6318885"/>
            <a:chOff x="0" y="0"/>
            <a:chExt cx="10802620" cy="8425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322118" y="2601278"/>
            <a:ext cx="8101965" cy="6318885"/>
            <a:chOff x="0" y="0"/>
            <a:chExt cx="10802620" cy="8425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7680960" cy="691139"/>
            <a:chOff x="0" y="0"/>
            <a:chExt cx="10241280" cy="921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Stationary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2620" y="2743200"/>
            <a:ext cx="7680960" cy="691139"/>
            <a:chOff x="0" y="0"/>
            <a:chExt cx="1024128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Non-Stationary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3611499"/>
            <a:ext cx="183642" cy="183642"/>
            <a:chOff x="0" y="0"/>
            <a:chExt cx="244856" cy="244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728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Mean stays constant over time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3435" y="4777359"/>
            <a:ext cx="183642" cy="183642"/>
            <a:chOff x="0" y="0"/>
            <a:chExt cx="244856" cy="244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9728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 persistent upward/downward drift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5943219"/>
            <a:ext cx="183642" cy="183642"/>
            <a:chOff x="0" y="0"/>
            <a:chExt cx="244856" cy="244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9728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Traditional statistics work well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435" y="7109079"/>
            <a:ext cx="183642" cy="183642"/>
            <a:chOff x="0" y="0"/>
            <a:chExt cx="244856" cy="244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Predictable and stable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23095" y="3611499"/>
            <a:ext cx="183642" cy="183642"/>
            <a:chOff x="0" y="0"/>
            <a:chExt cx="244856" cy="244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80694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Mean drifts over time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3095" y="4777359"/>
            <a:ext cx="183642" cy="183642"/>
            <a:chOff x="0" y="0"/>
            <a:chExt cx="244856" cy="244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80694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Constant upward creep breaks the math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23095" y="5943219"/>
            <a:ext cx="183642" cy="183642"/>
            <a:chOff x="0" y="0"/>
            <a:chExt cx="244856" cy="244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80694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Must be stabilized (Differencing)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23095" y="7109079"/>
            <a:ext cx="183642" cy="183642"/>
            <a:chOff x="0" y="0"/>
            <a:chExt cx="244856" cy="244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80694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Unreliable until adjusted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05 / 35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zoom level changes the story, pick the lens that fits your decision horizon.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Sampling Frequency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Daily, Weekly, Monthly, or Tick-by-Tick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'Zoom' level changes the story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High-frequency data (Daily) shows the NOISE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Low-frequency data (Yearly) shows the STRATEGY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07695" y="8069199"/>
            <a:ext cx="211074" cy="211074"/>
            <a:chOff x="0" y="0"/>
            <a:chExt cx="281432" cy="2814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87552" y="798690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Choose the frequency that answers your question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5860" y="9601200"/>
            <a:ext cx="15773400" cy="617220"/>
            <a:chOff x="0" y="0"/>
            <a:chExt cx="2103120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06 / 35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blipFill>
              <a:blip r:embed="rId3"/>
              <a:stretch>
                <a:fillRect l="-12111" t="0" r="-12111" b="0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740283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Filtering randomness to reveal the real trend underneath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07 / 35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4526280"/>
            <a:ext cx="102870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Smoothing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Noise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longer the window, the smoother (and slower) the line.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Moving Averages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7-day moving average reveals the weekly cycle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12-month moving average reveals the business cycle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longer the window, the smoother (and slower) the line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Choose the window that matches your decision horizon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07695" y="8069199"/>
            <a:ext cx="211074" cy="211074"/>
            <a:chOff x="0" y="0"/>
            <a:chExt cx="281432" cy="2814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87552" y="798690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shorter the window, the noisier (and faster) the line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5860" y="9601200"/>
            <a:ext cx="15773400" cy="617220"/>
            <a:chOff x="0" y="0"/>
            <a:chExt cx="2103120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08 / 35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EWMA)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Exponentially Weighted Moving Average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7220" y="3074670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09 / 35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70246" y="3978592"/>
            <a:ext cx="1655445" cy="685800"/>
            <a:chOff x="0" y="0"/>
            <a:chExt cx="22072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7260" cy="914400"/>
            </a:xfrm>
            <a:custGeom>
              <a:avLst/>
              <a:gdLst/>
              <a:ahLst/>
              <a:cxnLst/>
              <a:rect r="r" b="b" t="t" l="l"/>
              <a:pathLst>
                <a:path h="914400" w="2207260">
                  <a:moveTo>
                    <a:pt x="0" y="0"/>
                  </a:moveTo>
                  <a:lnTo>
                    <a:pt x="2207260" y="0"/>
                  </a:lnTo>
                  <a:lnTo>
                    <a:pt x="22072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-148561" b="-669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072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New Forecast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25691" y="3978592"/>
            <a:ext cx="461010" cy="685800"/>
            <a:chOff x="0" y="0"/>
            <a:chExt cx="6146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4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14680">
                  <a:moveTo>
                    <a:pt x="0" y="0"/>
                  </a:moveTo>
                  <a:lnTo>
                    <a:pt x="614680" y="0"/>
                  </a:lnTo>
                  <a:lnTo>
                    <a:pt x="614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34628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146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EF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=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786701" y="3978592"/>
            <a:ext cx="5176544" cy="685800"/>
            <a:chOff x="0" y="0"/>
            <a:chExt cx="6902059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02059" cy="914400"/>
            </a:xfrm>
            <a:custGeom>
              <a:avLst/>
              <a:gdLst/>
              <a:ahLst/>
              <a:cxnLst/>
              <a:rect r="r" b="b" t="t" l="l"/>
              <a:pathLst>
                <a:path h="914400" w="6902059">
                  <a:moveTo>
                    <a:pt x="0" y="0"/>
                  </a:moveTo>
                  <a:lnTo>
                    <a:pt x="6902059" y="0"/>
                  </a:lnTo>
                  <a:lnTo>
                    <a:pt x="690205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2482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902059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Old Forecast + α × (Actual − Old Forecast)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457" y="4864418"/>
            <a:ext cx="16468725" cy="3712845"/>
            <a:chOff x="0" y="0"/>
            <a:chExt cx="21958300" cy="49504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4950460"/>
                  </a:lnTo>
                  <a:lnTo>
                    <a:pt x="0" y="49504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5143500"/>
            <a:ext cx="15773400" cy="691139"/>
            <a:chOff x="0" y="0"/>
            <a:chExt cx="21031200" cy="9215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0" cy="921519"/>
            </a:xfrm>
            <a:custGeom>
              <a:avLst/>
              <a:gdLst/>
              <a:ahLst/>
              <a:cxnLst/>
              <a:rect r="r" b="b" t="t" l="l"/>
              <a:pathLst>
                <a:path h="92151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80" r="0" b="-3943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0312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weight recent data higher?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22960" y="6035040"/>
            <a:ext cx="157734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Alpha (α) controls how much weight we give to the newest observation. The higher the alpha, the faster the model adapts. In stocks or fast-fashion, yesterday can be 10x more important than a month ago.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index lets us set realistic, season-aware expectations.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10 / 35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422392" y="6468618"/>
            <a:ext cx="7315200" cy="3913632"/>
          </a:xfrm>
          <a:custGeom>
            <a:avLst/>
            <a:gdLst/>
            <a:ahLst/>
            <a:cxnLst/>
            <a:rect r="r" b="b" t="t" l="l"/>
            <a:pathLst>
              <a:path h="3913632" w="7315200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Seasonal Indices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Measure how much a specific period deviates from the average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If 'May' is always 15% below average, its Seasonal Index is 0.85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index lets us set realistic, season-aware expectations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11 / 35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68971" y="4178618"/>
            <a:ext cx="1583949" cy="685800"/>
            <a:chOff x="0" y="0"/>
            <a:chExt cx="2111932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1932" cy="914400"/>
            </a:xfrm>
            <a:custGeom>
              <a:avLst/>
              <a:gdLst/>
              <a:ahLst/>
              <a:cxnLst/>
              <a:rect r="r" b="b" t="t" l="l"/>
              <a:pathLst>
                <a:path h="914400" w="2111932">
                  <a:moveTo>
                    <a:pt x="0" y="0"/>
                  </a:moveTo>
                  <a:lnTo>
                    <a:pt x="2111932" y="0"/>
                  </a:lnTo>
                  <a:lnTo>
                    <a:pt x="211193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-159781" b="-669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11932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Actual Value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21499" y="4178618"/>
            <a:ext cx="288161" cy="685800"/>
            <a:chOff x="0" y="0"/>
            <a:chExt cx="384214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4214" cy="914400"/>
            </a:xfrm>
            <a:custGeom>
              <a:avLst/>
              <a:gdLst/>
              <a:ahLst/>
              <a:cxnLst/>
              <a:rect r="r" b="b" t="t" l="l"/>
              <a:pathLst>
                <a:path h="914400" w="384214">
                  <a:moveTo>
                    <a:pt x="0" y="0"/>
                  </a:moveTo>
                  <a:lnTo>
                    <a:pt x="384214" y="0"/>
                  </a:lnTo>
                  <a:lnTo>
                    <a:pt x="38421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613976" b="-84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8421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EF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÷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98689" y="4178618"/>
            <a:ext cx="1851660" cy="685800"/>
            <a:chOff x="0" y="0"/>
            <a:chExt cx="246888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68880" cy="914400"/>
            </a:xfrm>
            <a:custGeom>
              <a:avLst/>
              <a:gdLst/>
              <a:ahLst/>
              <a:cxnLst/>
              <a:rect r="r" b="b" t="t" l="l"/>
              <a:pathLst>
                <a:path h="91440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270370" b="-1448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688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Seasonal Index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2457" y="4864418"/>
            <a:ext cx="16468725" cy="2378081"/>
            <a:chOff x="0" y="0"/>
            <a:chExt cx="21958300" cy="31707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00" cy="3170775"/>
            </a:xfrm>
            <a:custGeom>
              <a:avLst/>
              <a:gdLst/>
              <a:ahLst/>
              <a:cxnLst/>
              <a:rect r="r" b="b" t="t" l="l"/>
              <a:pathLst>
                <a:path h="3170775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3170775"/>
                  </a:lnTo>
                  <a:lnTo>
                    <a:pt x="0" y="31707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5143500"/>
            <a:ext cx="15773400" cy="691139"/>
            <a:chOff x="0" y="0"/>
            <a:chExt cx="21031200" cy="9215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31200" cy="921519"/>
            </a:xfrm>
            <a:custGeom>
              <a:avLst/>
              <a:gdLst/>
              <a:ahLst/>
              <a:cxnLst/>
              <a:rect r="r" b="b" t="t" l="l"/>
              <a:pathLst>
                <a:path h="92151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80" r="0" b="-3943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0312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divide it out?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845510" y="7569290"/>
            <a:ext cx="3440139" cy="2717710"/>
          </a:xfrm>
          <a:custGeom>
            <a:avLst/>
            <a:gdLst/>
            <a:ahLst/>
            <a:cxnLst/>
            <a:rect r="r" b="b" t="t" l="l"/>
            <a:pathLst>
              <a:path h="2717710" w="3440139">
                <a:moveTo>
                  <a:pt x="0" y="0"/>
                </a:moveTo>
                <a:lnTo>
                  <a:pt x="3440139" y="0"/>
                </a:lnTo>
                <a:lnTo>
                  <a:pt x="3440139" y="2717710"/>
                </a:lnTo>
                <a:lnTo>
                  <a:pt x="0" y="271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Deseasonalizing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6035040"/>
            <a:ext cx="157734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This exposes the underlying trend. It answers: 'If it weren't for the holiday spike, would we still be growing?'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 many businesses the best predictor of tomorrow is today.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 / 35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40760" y="3279648"/>
            <a:ext cx="6931672" cy="6931672"/>
          </a:xfrm>
          <a:custGeom>
            <a:avLst/>
            <a:gdLst/>
            <a:ahLst/>
            <a:cxnLst/>
            <a:rect r="r" b="b" t="t" l="l"/>
            <a:pathLst>
              <a:path h="6931672" w="6931672">
                <a:moveTo>
                  <a:pt x="0" y="0"/>
                </a:moveTo>
                <a:lnTo>
                  <a:pt x="6931672" y="0"/>
                </a:lnTo>
                <a:lnTo>
                  <a:pt x="6931672" y="6931672"/>
                </a:lnTo>
                <a:lnTo>
                  <a:pt x="0" y="6931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Autocorrelation (Lag Analysis)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How much does 'Today' correlate with 'Yesterday'?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 many businesses the best predictor of tomorrow is today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 call this a 'Lag-1' relationship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You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must reset the model, the past no longer describes the present.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13 / 35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868803" y="6214995"/>
            <a:ext cx="4938193" cy="4938193"/>
          </a:xfrm>
          <a:custGeom>
            <a:avLst/>
            <a:gdLst/>
            <a:ahLst/>
            <a:cxnLst/>
            <a:rect r="r" b="b" t="t" l="l"/>
            <a:pathLst>
              <a:path h="4938193" w="4938193">
                <a:moveTo>
                  <a:pt x="0" y="0"/>
                </a:moveTo>
                <a:lnTo>
                  <a:pt x="4938193" y="0"/>
                </a:lnTo>
                <a:lnTo>
                  <a:pt x="4938193" y="4938193"/>
                </a:lnTo>
                <a:lnTo>
                  <a:pt x="0" y="493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Detecting Structural Breaks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sudden shift from a new regulation, a pandemic, or a market shock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WARNING: after a structural break, your old history is 'Toxic'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 must reset the model, the past no longer describes the present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One model captures all three moving parts of the series.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7220" y="2046985"/>
            <a:ext cx="3310890" cy="47625"/>
            <a:chOff x="0" y="0"/>
            <a:chExt cx="4414520" cy="6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63479"/>
            </a:xfrm>
            <a:custGeom>
              <a:avLst/>
              <a:gdLst/>
              <a:ahLst/>
              <a:cxnLst/>
              <a:rect r="r" b="b" t="t" l="l"/>
              <a:pathLst>
                <a:path h="63479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63479"/>
                  </a:lnTo>
                  <a:lnTo>
                    <a:pt x="0" y="63479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7220" y="3034156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17220" y="4337176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17220" y="5640196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14 / 35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87274" y="6466346"/>
            <a:ext cx="3970782" cy="4114800"/>
          </a:xfrm>
          <a:custGeom>
            <a:avLst/>
            <a:gdLst/>
            <a:ahLst/>
            <a:cxnLst/>
            <a:rect r="r" b="b" t="t" l="l"/>
            <a:pathLst>
              <a:path h="4114800" w="3970782">
                <a:moveTo>
                  <a:pt x="0" y="0"/>
                </a:moveTo>
                <a:lnTo>
                  <a:pt x="3970782" y="0"/>
                </a:lnTo>
                <a:lnTo>
                  <a:pt x="3970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7220" y="969645"/>
            <a:ext cx="1724467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Triple Exponential Smoothing (Holt-Winters)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7077" y="2951860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Accounts for Level, Trend, and Seasonality simultaneously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7077" y="4254880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'Gold Standard' for retail forecasting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077" y="5557900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One model captures all three moving parts of the series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781812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Escaping the linear trap, how the real world compounds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15 / 35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172950" y="-45125"/>
            <a:ext cx="5233252" cy="6120763"/>
          </a:xfrm>
          <a:custGeom>
            <a:avLst/>
            <a:gdLst/>
            <a:ahLst/>
            <a:cxnLst/>
            <a:rect r="r" b="b" t="t" l="l"/>
            <a:pathLst>
              <a:path h="6120763" w="5233252">
                <a:moveTo>
                  <a:pt x="0" y="0"/>
                </a:moveTo>
                <a:lnTo>
                  <a:pt x="5233252" y="0"/>
                </a:lnTo>
                <a:lnTo>
                  <a:pt x="5233252" y="6120763"/>
                </a:lnTo>
                <a:lnTo>
                  <a:pt x="0" y="6120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102870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Exponential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Growth &amp; Scaling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Modern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markets move exponentially: 1, 2, 4, 8, 16…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Linear Trap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danger of assuming the future is a straight line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Human brains are wired for linear thinking: 1, 2, 3…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Modern markets move exponentially: 1, 2, 4, 8, 16…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Underestimating exponential change is the classic analyst's mistake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16 / 35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Exponential Equation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17 / 35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332089" y="3665648"/>
            <a:ext cx="451857" cy="1198770"/>
            <a:chOff x="0" y="0"/>
            <a:chExt cx="344669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669" cy="914400"/>
            </a:xfrm>
            <a:custGeom>
              <a:avLst/>
              <a:gdLst/>
              <a:ahLst/>
              <a:cxnLst/>
              <a:rect r="r" b="b" t="t" l="l"/>
              <a:pathLst>
                <a:path h="914400" w="344669">
                  <a:moveTo>
                    <a:pt x="0" y="0"/>
                  </a:moveTo>
                  <a:lnTo>
                    <a:pt x="344669" y="0"/>
                  </a:lnTo>
                  <a:lnTo>
                    <a:pt x="34466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-1491789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44669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83946" y="3665648"/>
            <a:ext cx="622683" cy="1198770"/>
            <a:chOff x="0" y="0"/>
            <a:chExt cx="474972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4972" cy="914400"/>
            </a:xfrm>
            <a:custGeom>
              <a:avLst/>
              <a:gdLst/>
              <a:ahLst/>
              <a:cxnLst/>
              <a:rect r="r" b="b" t="t" l="l"/>
              <a:pathLst>
                <a:path h="914400" w="474972">
                  <a:moveTo>
                    <a:pt x="0" y="0"/>
                  </a:moveTo>
                  <a:lnTo>
                    <a:pt x="474972" y="0"/>
                  </a:lnTo>
                  <a:lnTo>
                    <a:pt x="4749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47755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74972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EF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=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06630" y="3665648"/>
            <a:ext cx="544709" cy="1198770"/>
            <a:chOff x="0" y="0"/>
            <a:chExt cx="415494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5494" cy="914400"/>
            </a:xfrm>
            <a:custGeom>
              <a:avLst/>
              <a:gdLst/>
              <a:ahLst/>
              <a:cxnLst/>
              <a:rect r="r" b="b" t="t" l="l"/>
              <a:pathLst>
                <a:path h="914400" w="415494">
                  <a:moveTo>
                    <a:pt x="0" y="0"/>
                  </a:moveTo>
                  <a:lnTo>
                    <a:pt x="415494" y="0"/>
                  </a:lnTo>
                  <a:lnTo>
                    <a:pt x="41549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2100751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15494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abᵗ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2457" y="4864418"/>
            <a:ext cx="16468725" cy="3712845"/>
            <a:chOff x="0" y="0"/>
            <a:chExt cx="21958300" cy="4950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4950460"/>
                  </a:lnTo>
                  <a:lnTo>
                    <a:pt x="0" y="49504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5143500"/>
            <a:ext cx="15773400" cy="691139"/>
            <a:chOff x="0" y="0"/>
            <a:chExt cx="21031200" cy="9215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921519"/>
            </a:xfrm>
            <a:custGeom>
              <a:avLst/>
              <a:gdLst/>
              <a:ahLst/>
              <a:cxnLst/>
              <a:rect r="r" b="b" t="t" l="l"/>
              <a:pathLst>
                <a:path h="92151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80" r="0" b="-3943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10312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Reading the parts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22960" y="6035040"/>
            <a:ext cx="157734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'a' is your starting point; 'b' is your growth factor. If b &gt; 1 you have growth. If b &lt; 1 you have decay (a fading trend).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Growth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compounds on top of growth — each period's base is larger.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18 / 35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852160" y="6172200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Compound Interest &amp; Virality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If your user base grows 10% every month, you don't just add 10 users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 add 10, then 11, then 12.1, then 13.3…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Growth compounds on top of growth — each period's base is larger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72......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Rule of 72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19 / 35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16983" y="4178617"/>
            <a:ext cx="896555" cy="685800"/>
            <a:chOff x="0" y="0"/>
            <a:chExt cx="1195407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5406" cy="914400"/>
            </a:xfrm>
            <a:custGeom>
              <a:avLst/>
              <a:gdLst/>
              <a:ahLst/>
              <a:cxnLst/>
              <a:rect r="r" b="b" t="t" l="l"/>
              <a:pathLst>
                <a:path h="914400" w="1195406">
                  <a:moveTo>
                    <a:pt x="0" y="0"/>
                  </a:moveTo>
                  <a:lnTo>
                    <a:pt x="1195406" y="0"/>
                  </a:lnTo>
                  <a:lnTo>
                    <a:pt x="11954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-358956" b="-669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95407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28481" y="4178617"/>
            <a:ext cx="448277" cy="685800"/>
            <a:chOff x="0" y="0"/>
            <a:chExt cx="597703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7703" cy="914400"/>
            </a:xfrm>
            <a:custGeom>
              <a:avLst/>
              <a:gdLst/>
              <a:ahLst/>
              <a:cxnLst/>
              <a:rect r="r" b="b" t="t" l="l"/>
              <a:pathLst>
                <a:path h="914400" w="597703">
                  <a:moveTo>
                    <a:pt x="0" y="0"/>
                  </a:moveTo>
                  <a:lnTo>
                    <a:pt x="597703" y="0"/>
                  </a:lnTo>
                  <a:lnTo>
                    <a:pt x="59770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358956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97703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EF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÷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76758" y="4178617"/>
            <a:ext cx="1494258" cy="685800"/>
            <a:chOff x="0" y="0"/>
            <a:chExt cx="1992344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2344" cy="914400"/>
            </a:xfrm>
            <a:custGeom>
              <a:avLst/>
              <a:gdLst/>
              <a:ahLst/>
              <a:cxnLst/>
              <a:rect r="r" b="b" t="t" l="l"/>
              <a:pathLst>
                <a:path h="914400" w="1992344">
                  <a:moveTo>
                    <a:pt x="0" y="0"/>
                  </a:moveTo>
                  <a:lnTo>
                    <a:pt x="1992344" y="0"/>
                  </a:lnTo>
                  <a:lnTo>
                    <a:pt x="1992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58956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9234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Growth Rate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457" y="4864418"/>
            <a:ext cx="16468725" cy="3712845"/>
            <a:chOff x="0" y="0"/>
            <a:chExt cx="21958300" cy="49504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4950460"/>
                  </a:lnTo>
                  <a:lnTo>
                    <a:pt x="0" y="49504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5143500"/>
            <a:ext cx="15773400" cy="691139"/>
            <a:chOff x="0" y="0"/>
            <a:chExt cx="21031200" cy="9215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0" cy="921519"/>
            </a:xfrm>
            <a:custGeom>
              <a:avLst/>
              <a:gdLst/>
              <a:ahLst/>
              <a:cxnLst/>
              <a:rect r="r" b="b" t="t" l="l"/>
              <a:pathLst>
                <a:path h="92151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80" r="0" b="-3943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0312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 mental shortcut for doubling time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22960" y="6035040"/>
            <a:ext cx="157734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Grow 10% a year → double in ~7.2 years. Grow 10% a month → double in ~7.2 months. The rate changes everything.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curve becomes a straaight line, now regression can handle it.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Log-Linear Transformation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Analyst's Secret: take the Natural Log (LN) of exponential data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curve becomes a straight line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Now the Linear Regression tools from Week 7 can predict exponential growth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20 / 35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 log-space, the slope IS the growth rate, read it straight off the line.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2057400"/>
            <a:ext cx="18283428" cy="4129032"/>
            <a:chOff x="0" y="0"/>
            <a:chExt cx="24377904" cy="5505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7904" cy="5505376"/>
            </a:xfrm>
            <a:custGeom>
              <a:avLst/>
              <a:gdLst/>
              <a:ahLst/>
              <a:cxnLst/>
              <a:rect r="r" b="b" t="t" l="l"/>
              <a:pathLst>
                <a:path h="55053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505376"/>
                  </a:lnTo>
                  <a:lnTo>
                    <a:pt x="0" y="5505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52" r="0" b="-3610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4377904" cy="5505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0"/>
                </a:lnSpc>
              </a:pPr>
              <a:r>
                <a:rPr lang="en-US" sz="195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0.05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4141" y="5637792"/>
            <a:ext cx="16699718" cy="1097280"/>
            <a:chOff x="0" y="0"/>
            <a:chExt cx="2226629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662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266291">
                  <a:moveTo>
                    <a:pt x="0" y="0"/>
                  </a:moveTo>
                  <a:lnTo>
                    <a:pt x="22266291" y="0"/>
                  </a:lnTo>
                  <a:lnTo>
                    <a:pt x="222662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9653" b="-21791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26629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 slope of 0.05 in a log-linear model = a 5% growth rate per period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21 / 35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Growth accelerates,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then bends over as the market fills up.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22 / 35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619583" y="6172200"/>
            <a:ext cx="5048834" cy="4114800"/>
          </a:xfrm>
          <a:custGeom>
            <a:avLst/>
            <a:gdLst/>
            <a:ahLst/>
            <a:cxnLst/>
            <a:rect r="r" b="b" t="t" l="l"/>
            <a:pathLst>
              <a:path h="4114800" w="5048834">
                <a:moveTo>
                  <a:pt x="0" y="0"/>
                </a:moveTo>
                <a:lnTo>
                  <a:pt x="5048834" y="0"/>
                </a:lnTo>
                <a:lnTo>
                  <a:pt x="5048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S-Curve (Logistic Growth)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reality of saturation — nothing grows forever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Facebook cannot grow forever: eventually everyone on Earth is already on 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Growth accelerates, then bends over as the market fills up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most dangerous moment for a CEO, and the most important for an analyst.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23 / 35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167735" y="1222248"/>
            <a:ext cx="390906" cy="4114800"/>
          </a:xfrm>
          <a:custGeom>
            <a:avLst/>
            <a:gdLst/>
            <a:ahLst/>
            <a:cxnLst/>
            <a:rect r="r" b="b" t="t" l="l"/>
            <a:pathLst>
              <a:path h="4114800" w="390906">
                <a:moveTo>
                  <a:pt x="0" y="0"/>
                </a:moveTo>
                <a:lnTo>
                  <a:pt x="390906" y="0"/>
                </a:lnTo>
                <a:lnTo>
                  <a:pt x="3909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Inflection Points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moment the curve stops accelerating and starts to flatten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most dangerous moment for a CEO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...and the most important moment for an analyst to flag early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spike is brief, plan capacity for the peak, not the plateau.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24 / 35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99516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Forecasting Viral Content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Viral growth has a very sharp 'Up' and a very sharp 'Down'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 model this as a 'Log-Normal' distribution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spike is brief, plan capacity for the peak, not the plateau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3  •  EXPONENTIAL GROWTH &amp; SCALING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75297" y="3149917"/>
            <a:ext cx="5290185" cy="5221605"/>
            <a:chOff x="0" y="0"/>
            <a:chExt cx="7053580" cy="6962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53580" cy="6962140"/>
            </a:xfrm>
            <a:custGeom>
              <a:avLst/>
              <a:gdLst/>
              <a:ahLst/>
              <a:cxnLst/>
              <a:rect r="r" b="b" t="t" l="l"/>
              <a:pathLst>
                <a:path h="6962140" w="7053580">
                  <a:moveTo>
                    <a:pt x="0" y="0"/>
                  </a:moveTo>
                  <a:lnTo>
                    <a:pt x="7053580" y="0"/>
                  </a:lnTo>
                  <a:lnTo>
                    <a:pt x="7053580" y="6962140"/>
                  </a:lnTo>
                  <a:lnTo>
                    <a:pt x="0" y="69621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589657" y="3488055"/>
            <a:ext cx="1061466" cy="1061466"/>
            <a:chOff x="0" y="0"/>
            <a:chExt cx="1415288" cy="1415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5288" cy="1415288"/>
            </a:xfrm>
            <a:custGeom>
              <a:avLst/>
              <a:gdLst/>
              <a:ahLst/>
              <a:cxnLst/>
              <a:rect r="r" b="b" t="t" l="l"/>
              <a:pathLst>
                <a:path h="1415288" w="1415288">
                  <a:moveTo>
                    <a:pt x="0" y="707644"/>
                  </a:moveTo>
                  <a:cubicBezTo>
                    <a:pt x="0" y="316865"/>
                    <a:pt x="316865" y="0"/>
                    <a:pt x="707644" y="0"/>
                  </a:cubicBezTo>
                  <a:cubicBezTo>
                    <a:pt x="1098423" y="0"/>
                    <a:pt x="1415288" y="316865"/>
                    <a:pt x="1415288" y="707644"/>
                  </a:cubicBezTo>
                  <a:cubicBezTo>
                    <a:pt x="1415288" y="1098423"/>
                    <a:pt x="1098423" y="1415288"/>
                    <a:pt x="707644" y="1415288"/>
                  </a:cubicBezTo>
                  <a:cubicBezTo>
                    <a:pt x="316865" y="1415288"/>
                    <a:pt x="0" y="1098423"/>
                    <a:pt x="0" y="707644"/>
                  </a:cubicBez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599182" y="3497580"/>
            <a:ext cx="1042416" cy="1042416"/>
            <a:chOff x="0" y="0"/>
            <a:chExt cx="1389888" cy="1389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89888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4800600"/>
            <a:ext cx="4869180" cy="691139"/>
            <a:chOff x="0" y="0"/>
            <a:chExt cx="6492240" cy="9215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92240" cy="921519"/>
            </a:xfrm>
            <a:custGeom>
              <a:avLst/>
              <a:gdLst/>
              <a:ahLst/>
              <a:cxnLst/>
              <a:rect r="r" b="b" t="t" l="l"/>
              <a:pathLst>
                <a:path h="921519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61" r="0" b="-8688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49224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Highlight Data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82919" y="5349240"/>
            <a:ext cx="548640" cy="887425"/>
            <a:chOff x="0" y="0"/>
            <a:chExt cx="731520" cy="11832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183233"/>
            </a:xfrm>
            <a:custGeom>
              <a:avLst/>
              <a:gdLst/>
              <a:ahLst/>
              <a:cxnLst/>
              <a:rect r="r" b="b" t="t" l="l"/>
              <a:pathLst>
                <a:path h="1183233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83233"/>
                  </a:lnTo>
                  <a:lnTo>
                    <a:pt x="0" y="118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227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31520" cy="11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&gt;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96621" y="3149917"/>
            <a:ext cx="5290185" cy="5221605"/>
            <a:chOff x="0" y="0"/>
            <a:chExt cx="7053580" cy="6962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53580" cy="6962140"/>
            </a:xfrm>
            <a:custGeom>
              <a:avLst/>
              <a:gdLst/>
              <a:ahLst/>
              <a:cxnLst/>
              <a:rect r="r" b="b" t="t" l="l"/>
              <a:pathLst>
                <a:path h="6962140" w="7053580">
                  <a:moveTo>
                    <a:pt x="0" y="0"/>
                  </a:moveTo>
                  <a:lnTo>
                    <a:pt x="7053580" y="0"/>
                  </a:lnTo>
                  <a:lnTo>
                    <a:pt x="7053580" y="6962140"/>
                  </a:lnTo>
                  <a:lnTo>
                    <a:pt x="0" y="69621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610981" y="3488055"/>
            <a:ext cx="1061466" cy="1061466"/>
            <a:chOff x="0" y="0"/>
            <a:chExt cx="1415288" cy="1415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5288" cy="1415288"/>
            </a:xfrm>
            <a:custGeom>
              <a:avLst/>
              <a:gdLst/>
              <a:ahLst/>
              <a:cxnLst/>
              <a:rect r="r" b="b" t="t" l="l"/>
              <a:pathLst>
                <a:path h="1415288" w="1415288">
                  <a:moveTo>
                    <a:pt x="0" y="707644"/>
                  </a:moveTo>
                  <a:cubicBezTo>
                    <a:pt x="0" y="316865"/>
                    <a:pt x="316865" y="0"/>
                    <a:pt x="707644" y="0"/>
                  </a:cubicBezTo>
                  <a:cubicBezTo>
                    <a:pt x="1098423" y="0"/>
                    <a:pt x="1415288" y="316865"/>
                    <a:pt x="1415288" y="707644"/>
                  </a:cubicBezTo>
                  <a:cubicBezTo>
                    <a:pt x="1415288" y="1098423"/>
                    <a:pt x="1098423" y="1415288"/>
                    <a:pt x="707644" y="1415288"/>
                  </a:cubicBezTo>
                  <a:cubicBezTo>
                    <a:pt x="316865" y="1415288"/>
                    <a:pt x="0" y="1098423"/>
                    <a:pt x="0" y="707644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620506" y="3497580"/>
            <a:ext cx="1042416" cy="1042416"/>
            <a:chOff x="0" y="0"/>
            <a:chExt cx="1389888" cy="13898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389888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07124" y="4800600"/>
            <a:ext cx="4869180" cy="691139"/>
            <a:chOff x="0" y="0"/>
            <a:chExt cx="6492240" cy="9215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92240" cy="921519"/>
            </a:xfrm>
            <a:custGeom>
              <a:avLst/>
              <a:gdLst/>
              <a:ahLst/>
              <a:cxnLst/>
              <a:rect r="r" b="b" t="t" l="l"/>
              <a:pathLst>
                <a:path h="921519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61" r="0" b="-868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49224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Tab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04243" y="5349240"/>
            <a:ext cx="548640" cy="887425"/>
            <a:chOff x="0" y="0"/>
            <a:chExt cx="731520" cy="11832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1183233"/>
            </a:xfrm>
            <a:custGeom>
              <a:avLst/>
              <a:gdLst/>
              <a:ahLst/>
              <a:cxnLst/>
              <a:rect r="r" b="b" t="t" l="l"/>
              <a:pathLst>
                <a:path h="1183233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83233"/>
                  </a:lnTo>
                  <a:lnTo>
                    <a:pt x="0" y="118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227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31520" cy="11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&gt;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17946" y="3149917"/>
            <a:ext cx="5290185" cy="5221605"/>
            <a:chOff x="0" y="0"/>
            <a:chExt cx="7053580" cy="6962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53580" cy="6962140"/>
            </a:xfrm>
            <a:custGeom>
              <a:avLst/>
              <a:gdLst/>
              <a:ahLst/>
              <a:cxnLst/>
              <a:rect r="r" b="b" t="t" l="l"/>
              <a:pathLst>
                <a:path h="6962140" w="7053580">
                  <a:moveTo>
                    <a:pt x="0" y="0"/>
                  </a:moveTo>
                  <a:lnTo>
                    <a:pt x="7053580" y="0"/>
                  </a:lnTo>
                  <a:lnTo>
                    <a:pt x="7053580" y="6962140"/>
                  </a:lnTo>
                  <a:lnTo>
                    <a:pt x="0" y="69621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632305" y="3488055"/>
            <a:ext cx="1061466" cy="1061466"/>
            <a:chOff x="0" y="0"/>
            <a:chExt cx="1415288" cy="1415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5288" cy="1415288"/>
            </a:xfrm>
            <a:custGeom>
              <a:avLst/>
              <a:gdLst/>
              <a:ahLst/>
              <a:cxnLst/>
              <a:rect r="r" b="b" t="t" l="l"/>
              <a:pathLst>
                <a:path h="1415288" w="1415288">
                  <a:moveTo>
                    <a:pt x="0" y="707644"/>
                  </a:moveTo>
                  <a:cubicBezTo>
                    <a:pt x="0" y="316865"/>
                    <a:pt x="316865" y="0"/>
                    <a:pt x="707644" y="0"/>
                  </a:cubicBezTo>
                  <a:cubicBezTo>
                    <a:pt x="1098423" y="0"/>
                    <a:pt x="1415288" y="316865"/>
                    <a:pt x="1415288" y="707644"/>
                  </a:cubicBezTo>
                  <a:cubicBezTo>
                    <a:pt x="1415288" y="1098423"/>
                    <a:pt x="1098423" y="1415288"/>
                    <a:pt x="707644" y="1415288"/>
                  </a:cubicBezTo>
                  <a:cubicBezTo>
                    <a:pt x="316865" y="1415288"/>
                    <a:pt x="0" y="1098423"/>
                    <a:pt x="0" y="707644"/>
                  </a:cubicBezTo>
                  <a:close/>
                </a:path>
              </a:pathLst>
            </a:custGeom>
            <a:solidFill>
              <a:srgbClr val="0EA5E9"/>
            </a:solidFill>
            <a:ln w="1905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641830" y="3497580"/>
            <a:ext cx="1042416" cy="1042416"/>
            <a:chOff x="0" y="0"/>
            <a:chExt cx="1389888" cy="13898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89888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728448" y="4800600"/>
            <a:ext cx="4869180" cy="691139"/>
            <a:chOff x="0" y="0"/>
            <a:chExt cx="6492240" cy="9215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92240" cy="921519"/>
            </a:xfrm>
            <a:custGeom>
              <a:avLst/>
              <a:gdLst/>
              <a:ahLst/>
              <a:cxnLst/>
              <a:rect r="r" b="b" t="t" l="l"/>
              <a:pathLst>
                <a:path h="921519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61" r="0" b="-868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49224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EA5E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Forecast Sheet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25 / 35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2334054" y="6380798"/>
            <a:ext cx="1572673" cy="1990725"/>
          </a:xfrm>
          <a:custGeom>
            <a:avLst/>
            <a:gdLst/>
            <a:ahLst/>
            <a:cxnLst/>
            <a:rect r="r" b="b" t="t" l="l"/>
            <a:pathLst>
              <a:path h="1990725" w="1572673">
                <a:moveTo>
                  <a:pt x="0" y="0"/>
                </a:moveTo>
                <a:lnTo>
                  <a:pt x="1572672" y="0"/>
                </a:lnTo>
                <a:lnTo>
                  <a:pt x="1572672" y="1990725"/>
                </a:lnTo>
                <a:lnTo>
                  <a:pt x="0" y="1990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7997554" y="6380798"/>
            <a:ext cx="2358017" cy="1933574"/>
          </a:xfrm>
          <a:custGeom>
            <a:avLst/>
            <a:gdLst/>
            <a:ahLst/>
            <a:cxnLst/>
            <a:rect r="r" b="b" t="t" l="l"/>
            <a:pathLst>
              <a:path h="1933574" w="2358017">
                <a:moveTo>
                  <a:pt x="0" y="0"/>
                </a:moveTo>
                <a:lnTo>
                  <a:pt x="2358017" y="0"/>
                </a:lnTo>
                <a:lnTo>
                  <a:pt x="2358017" y="1933573"/>
                </a:lnTo>
                <a:lnTo>
                  <a:pt x="0" y="19335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196251" y="6380798"/>
            <a:ext cx="1933574" cy="1933574"/>
          </a:xfrm>
          <a:custGeom>
            <a:avLst/>
            <a:gdLst/>
            <a:ahLst/>
            <a:cxnLst/>
            <a:rect r="r" b="b" t="t" l="l"/>
            <a:pathLst>
              <a:path h="1933574" w="1933574">
                <a:moveTo>
                  <a:pt x="0" y="0"/>
                </a:moveTo>
                <a:lnTo>
                  <a:pt x="1933574" y="0"/>
                </a:lnTo>
                <a:lnTo>
                  <a:pt x="1933574" y="1933573"/>
                </a:lnTo>
                <a:lnTo>
                  <a:pt x="0" y="193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617220" y="969645"/>
            <a:ext cx="14401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Excel's 'Forecast Sheet' Feature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5800" y="561403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Select your dated time-series range.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07124" y="561403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Open the Data tab in the ribbon.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728448" y="561403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Excel auto-detects seasonality + gives confidence bounds.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740283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Turning forecasts into trustworthy, ethical decisions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26 / 35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866626" y="-155676"/>
            <a:ext cx="6441948" cy="5797753"/>
          </a:xfrm>
          <a:custGeom>
            <a:avLst/>
            <a:gdLst/>
            <a:ahLst/>
            <a:cxnLst/>
            <a:rect r="r" b="b" t="t" l="l"/>
            <a:pathLst>
              <a:path h="5797753" w="6441948">
                <a:moveTo>
                  <a:pt x="0" y="0"/>
                </a:moveTo>
                <a:lnTo>
                  <a:pt x="6441948" y="0"/>
                </a:lnTo>
                <a:lnTo>
                  <a:pt x="6441948" y="5797752"/>
                </a:lnTo>
                <a:lnTo>
                  <a:pt x="0" y="5797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9118493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Strategy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of Time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115" y="2459355"/>
            <a:ext cx="95860" cy="5231130"/>
            <a:chOff x="0" y="0"/>
            <a:chExt cx="127813" cy="6974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762" cy="6974840"/>
            </a:xfrm>
            <a:custGeom>
              <a:avLst/>
              <a:gdLst/>
              <a:ahLst/>
              <a:cxnLst/>
              <a:rect r="r" b="b" t="t" l="l"/>
              <a:pathLst>
                <a:path h="6974840" w="127762">
                  <a:moveTo>
                    <a:pt x="0" y="0"/>
                  </a:moveTo>
                  <a:lnTo>
                    <a:pt x="127762" y="0"/>
                  </a:lnTo>
                  <a:lnTo>
                    <a:pt x="127762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5021" y="2459355"/>
            <a:ext cx="2743200" cy="3811414"/>
            <a:chOff x="0" y="0"/>
            <a:chExt cx="3657600" cy="50818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5081885"/>
            </a:xfrm>
            <a:custGeom>
              <a:avLst/>
              <a:gdLst/>
              <a:ahLst/>
              <a:cxnLst/>
              <a:rect r="r" b="b" t="t" l="l"/>
              <a:pathLst>
                <a:path h="508188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1885"/>
                  </a:lnTo>
                  <a:lnTo>
                    <a:pt x="0" y="50818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0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657600" cy="508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0"/>
                </a:lnSpc>
              </a:pPr>
              <a:r>
                <a:rPr lang="en-US" sz="18000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"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71059" y="4355537"/>
            <a:ext cx="153619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It is better to be 'Approximately Right' about a trend than 'Precisely Wrong' about a single data point.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120" y="759486"/>
            <a:ext cx="15361920" cy="822960"/>
            <a:chOff x="0" y="0"/>
            <a:chExt cx="2048256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4825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—— Precision vs. Accuracy in Time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27 / 35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Only test a model on data it could actually have seen at the time.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28 / 35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886700" y="6172200"/>
            <a:ext cx="2386584" cy="4114800"/>
          </a:xfrm>
          <a:custGeom>
            <a:avLst/>
            <a:gdLst/>
            <a:ahLst/>
            <a:cxnLst/>
            <a:rect r="r" b="b" t="t" l="l"/>
            <a:pathLst>
              <a:path h="4114800" w="2386584">
                <a:moveTo>
                  <a:pt x="0" y="0"/>
                </a:moveTo>
                <a:lnTo>
                  <a:pt x="2386584" y="0"/>
                </a:lnTo>
                <a:lnTo>
                  <a:pt x="23865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'Look-Ahead' Bias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WARNING: never use future information to 'predict' the past when testing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common error that makes models look far better than they 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Only test a model on data it could actually have seen at the time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0120"/>
            <a:ext cx="144018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Leading vs. Lagging Indicators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2457" y="2601278"/>
            <a:ext cx="8101965" cy="6318885"/>
            <a:chOff x="0" y="0"/>
            <a:chExt cx="10802620" cy="8425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322118" y="2601278"/>
            <a:ext cx="8101965" cy="6318885"/>
            <a:chOff x="0" y="0"/>
            <a:chExt cx="10802620" cy="8425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7680960" cy="691139"/>
            <a:chOff x="0" y="0"/>
            <a:chExt cx="10241280" cy="921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Leading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2620" y="2743200"/>
            <a:ext cx="7680960" cy="691139"/>
            <a:chOff x="0" y="0"/>
            <a:chExt cx="1024128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Lagging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3611499"/>
            <a:ext cx="183642" cy="183642"/>
            <a:chOff x="0" y="0"/>
            <a:chExt cx="244856" cy="244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728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Website visits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3435" y="4777359"/>
            <a:ext cx="183642" cy="183642"/>
            <a:chOff x="0" y="0"/>
            <a:chExt cx="244856" cy="244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9728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Predicts future sales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5943219"/>
            <a:ext cx="183642" cy="183642"/>
            <a:chOff x="0" y="0"/>
            <a:chExt cx="244856" cy="244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9728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Points to what's coming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435" y="7109079"/>
            <a:ext cx="183642" cy="183642"/>
            <a:chOff x="0" y="0"/>
            <a:chExt cx="244856" cy="244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Great models lean on these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23095" y="3611499"/>
            <a:ext cx="183642" cy="183642"/>
            <a:chOff x="0" y="0"/>
            <a:chExt cx="244856" cy="244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80694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Revenue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3095" y="4777359"/>
            <a:ext cx="183642" cy="183642"/>
            <a:chOff x="0" y="0"/>
            <a:chExt cx="244856" cy="244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80694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Reports what already happened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23095" y="5943219"/>
            <a:ext cx="183642" cy="183642"/>
            <a:chOff x="0" y="0"/>
            <a:chExt cx="244856" cy="244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80694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Confirms the past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23095" y="7109079"/>
            <a:ext cx="183642" cy="183642"/>
            <a:chOff x="0" y="0"/>
            <a:chExt cx="244856" cy="244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80694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Necessary, but backward-looking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29 / 35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 signals the trend has fundamentally changed.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1988515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7695" y="2985516"/>
            <a:ext cx="211074" cy="211074"/>
            <a:chOff x="0" y="0"/>
            <a:chExt cx="281432" cy="28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07695" y="4288536"/>
            <a:ext cx="211074" cy="211074"/>
            <a:chOff x="0" y="0"/>
            <a:chExt cx="281432" cy="281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95" y="5591556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30 / 35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17220" y="969645"/>
            <a:ext cx="1696553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Moving Averages as Support / Resistance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7552" y="2903220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moving average acts as a psychological floor and ceiling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552" y="4206240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If sales drop below the 12-month moving average — 'Red Alert'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552" y="5509260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It signals the trend has fundamentally changed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7639240"/>
            <a:ext cx="95657" cy="5231130"/>
            <a:chOff x="0" y="0"/>
            <a:chExt cx="127542" cy="697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491" cy="6974840"/>
            </a:xfrm>
            <a:custGeom>
              <a:avLst/>
              <a:gdLst/>
              <a:ahLst/>
              <a:cxnLst/>
              <a:rect r="r" b="b" t="t" l="l"/>
              <a:pathLst>
                <a:path h="6974840" w="127491">
                  <a:moveTo>
                    <a:pt x="0" y="0"/>
                  </a:moveTo>
                  <a:lnTo>
                    <a:pt x="127491" y="0"/>
                  </a:lnTo>
                  <a:lnTo>
                    <a:pt x="127491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07665" y="6551486"/>
            <a:ext cx="2737390" cy="3811414"/>
            <a:chOff x="0" y="0"/>
            <a:chExt cx="3649853" cy="50818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49853" cy="5081885"/>
            </a:xfrm>
            <a:custGeom>
              <a:avLst/>
              <a:gdLst/>
              <a:ahLst/>
              <a:cxnLst/>
              <a:rect r="r" b="b" t="t" l="l"/>
              <a:pathLst>
                <a:path h="5081885" w="3649853">
                  <a:moveTo>
                    <a:pt x="0" y="0"/>
                  </a:moveTo>
                  <a:lnTo>
                    <a:pt x="3649853" y="0"/>
                  </a:lnTo>
                  <a:lnTo>
                    <a:pt x="3649853" y="5081885"/>
                  </a:lnTo>
                  <a:lnTo>
                    <a:pt x="0" y="50818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5" t="0" r="-46538" b="4602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649853" cy="508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0"/>
                </a:lnSpc>
              </a:pPr>
              <a:r>
                <a:rPr lang="en-US" sz="18000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"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092013" y="8050721"/>
            <a:ext cx="1532938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best way to predict the future is to create it — but the second best way is to model it correctly.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Your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duty is to the math, not the morale.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Ethical Forecasting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Avoid 'Pessimistic Bias' and 'Optimistic Bias' in budget planning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Analysts are often pressured to make the future look 'Green'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Your duty is to the math, not the morale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5860" y="6995160"/>
            <a:ext cx="15773400" cy="617220"/>
            <a:chOff x="0" y="0"/>
            <a:chExt cx="21031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31 / 35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7220" y="7612380"/>
            <a:ext cx="10972800" cy="480060"/>
            <a:chOff x="0" y="0"/>
            <a:chExt cx="146304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stop asking 'what will happen?' and start asking 'what should we D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O?'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17220" y="8280273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Next Week — Week 10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Linear thinking would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have cost the company millions in missed server capacity.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539590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Homework: The Viral Content Tracker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7220" y="206086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17220" y="2771965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7077" y="2689669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You'll analyze the daily 'Views' of a viral video over 30 days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17220" y="4074985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97077" y="3992689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Prove why a 'Linear' forecast would have been catastrophic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220" y="5378005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97077" y="5295709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Linear thinking would have cost the company millions in missed server capacity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220" y="6681025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97077" y="6598729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Build the time series, a 7-day moving average, and an exponential trendline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5860" y="8298180"/>
            <a:ext cx="15773400" cy="617220"/>
            <a:chOff x="0" y="0"/>
            <a:chExt cx="2103120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33 / 35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DAHPpQMZebU</dc:identifier>
  <dcterms:modified xsi:type="dcterms:W3CDTF">2011-08-01T06:04:30Z</dcterms:modified>
  <cp:revision>1</cp:revision>
  <dc:title>Week 9.pptx</dc:title>
</cp:coreProperties>
</file>