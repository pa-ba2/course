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Inter Bold" charset="1" panose="02000503000000020004"/>
      <p:regular r:id="rId36"/>
    </p:embeddedFont>
    <p:embeddedFont>
      <p:font typeface="Inter" charset="1" panose="02000503000000020004"/>
      <p:regular r:id="rId37"/>
    </p:embeddedFont>
    <p:embeddedFont>
      <p:font typeface="Inter Italics" charset="1" panose="020005030000000200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67715" y="-2059010"/>
            <a:ext cx="10295039" cy="10295039"/>
            <a:chOff x="0" y="0"/>
            <a:chExt cx="13726719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666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40392" y="-686333"/>
            <a:ext cx="7549696" cy="7549696"/>
            <a:chOff x="0" y="0"/>
            <a:chExt cx="10066261" cy="100662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66274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871" y="2928328"/>
            <a:ext cx="16025789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Pulse of Business</a:t>
            </a:r>
          </a:p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Statistics &amp; Distribution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871" y="6222749"/>
            <a:ext cx="1285751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Mastering Uncertainty, Using the Laws of Probability to Manage Business Risk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871" y="7594235"/>
            <a:ext cx="3843480" cy="295275"/>
            <a:chOff x="0" y="0"/>
            <a:chExt cx="5124640" cy="393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4704" cy="393677"/>
            </a:xfrm>
            <a:custGeom>
              <a:avLst/>
              <a:gdLst/>
              <a:ahLst/>
              <a:cxnLst/>
              <a:rect r="r" b="b" t="t" l="l"/>
              <a:pathLst>
                <a:path h="393677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393677"/>
                  </a:lnTo>
                  <a:lnTo>
                    <a:pt x="0" y="393677"/>
                  </a:lnTo>
                  <a:close/>
                </a:path>
              </a:pathLst>
            </a:custGeom>
            <a:solidFill>
              <a:srgbClr val="10203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31944" y="7584710"/>
            <a:ext cx="352333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WEEK 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01 / 30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71871" y="473296"/>
            <a:ext cx="2615214" cy="2615214"/>
          </a:xfrm>
          <a:custGeom>
            <a:avLst/>
            <a:gdLst/>
            <a:ahLst/>
            <a:cxnLst/>
            <a:rect r="r" b="b" t="t" l="l"/>
            <a:pathLst>
              <a:path h="2615214" w="2615214">
                <a:moveTo>
                  <a:pt x="0" y="0"/>
                </a:moveTo>
                <a:lnTo>
                  <a:pt x="2615214" y="0"/>
                </a:lnTo>
                <a:lnTo>
                  <a:pt x="2615214" y="2615214"/>
                </a:lnTo>
                <a:lnTo>
                  <a:pt x="0" y="2615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2470814"/>
            <a:ext cx="76257" cy="5216157"/>
            <a:chOff x="0" y="0"/>
            <a:chExt cx="101676" cy="6954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27" cy="6954901"/>
            </a:xfrm>
            <a:custGeom>
              <a:avLst/>
              <a:gdLst/>
              <a:ahLst/>
              <a:cxnLst/>
              <a:rect r="r" b="b" t="t" l="l"/>
              <a:pathLst>
                <a:path h="6954901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1418396"/>
            <a:ext cx="114395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true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28328"/>
            <a:ext cx="15191051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foot in a bucket of ice.</a:t>
            </a: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foot in a fire.</a:t>
            </a:r>
          </a:p>
          <a:p>
            <a:pPr algn="l">
              <a:lnSpc>
                <a:spcPts val="5764"/>
              </a:lnSpc>
            </a:p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 average, you are comfortable.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99246"/>
            <a:ext cx="1519105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Section 1  •  The Flaw of Averages</a:t>
            </a:r>
          </a:p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why distributions matter more than means?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02 / 30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8474" y="6953545"/>
            <a:ext cx="1519105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499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n business, the average hides the danger. We need to look at the Distribution to see if our feet are freezing or burning.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4289" y="8177917"/>
            <a:ext cx="1519105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We have mov</a:t>
            </a:r>
            <a:r>
              <a:rPr lang="en-US" sz="2499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ed from reporting the past to understanding the mathematical laws that govern the present. This week is about "The Pulse." Just as a doctor uses a heart rate to check health, an analyst uses Distribution to check the health of a business process.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THE POWER OF MAYBE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Defining Probability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likelihood that a specific event will occur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Probability is the only tool that lets us quantify uncertainty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5810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We move from 'I think...' to 'There is a 70% probability that...'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Expressed as a value between 0 (impossible) and 1 (certain)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 business, every forecast, budget, and risk model is built on this foundation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TYPES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Discrete vs. Continuous Data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Discrete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Continuous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Things you COUNT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Number of customers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Orders per day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Only whole numbers make sense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Things you MEASURE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Weight, time, revenue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Infinite values in any range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Determines which model to use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HISTOGRAMS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Shape of Data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histogram shows how values are distributed across a range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Look at the symmetry: is it a balanced hill, or is it leaning to one side?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shape tells you more than any single number ever could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Symmetric = balanced risk. Skewed = hidden danger on one side.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Before running any statistics: always look at the histogram first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7773" y="4270743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Normal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Distribution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7309218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most important shape in the universe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06 / 30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66949" y="-77664"/>
            <a:ext cx="8464887" cy="5646013"/>
          </a:xfrm>
          <a:custGeom>
            <a:avLst/>
            <a:gdLst/>
            <a:ahLst/>
            <a:cxnLst/>
            <a:rect r="r" b="b" t="t" l="l"/>
            <a:pathLst>
              <a:path h="5646013" w="8464887">
                <a:moveTo>
                  <a:pt x="0" y="0"/>
                </a:moveTo>
                <a:lnTo>
                  <a:pt x="8464886" y="0"/>
                </a:lnTo>
                <a:lnTo>
                  <a:pt x="8464886" y="5646014"/>
                </a:lnTo>
                <a:lnTo>
                  <a:pt x="0" y="564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NORMAL DISTRIBUTION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Empirical Rule: 68 - 95 - 99.7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68% of data falls within 1 Standard Deviation of the mean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95% of data falls within 2 Standard Deviations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Delivery time: mean 3 days, SD 0.5 days, 95% of customers get it in 2 to 4 days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99.7% of data falls within 3 Standard Deviations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Beyond 3 SDs: statistically rare events, but not impossible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NORMAL DISTRIBUTION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Mean &amp; Standard Deviation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The Mean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Standard Deviation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Where the curve is centered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peak of the bell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Shifts the curve left or right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Tells you: where is typical?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fat or skinny the curve is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 SD = tall, narrow = consistent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SD = wide, flat = variable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Tells you: how reliable is typical?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Z-SCORES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Z-Scores: The Great Equalizer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 = (x - mean) / standard deviation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Converts any value into a universal 'distance from average' score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Allows you to compare performance across completely different scales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$1M profit in Toys (Z = 3.0) vs $2M profit in Electronics (Z = 0.5)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8214" y="5784075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Toy manager is the star, their result is 3 SDs above their norm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7706" y="6533921"/>
            <a:ext cx="192176" cy="192176"/>
            <a:chOff x="0" y="0"/>
            <a:chExt cx="256235" cy="2562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79764" y="635048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Z-scores are how we answer: is this result impressive, or expected?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09 / 30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6417" y="8360264"/>
            <a:ext cx="15306449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702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This allows us to compare "Apples to Oranges." Is a $1M profit in the "Toys" department more impressive than a $2M profit in "Electronics"? If the $1M is 3 SDs above the toy average, and the $2M is only 0.5 SDs above electronics, the Toy manager is the star.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SKEWNESS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Skewness: When the Bell Leans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Right-Skewed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Left-Skewed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Long tail pulling right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Mean &gt; Median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Household income, sales revenue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few huge values drag the average up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Long tail pulling left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Mean &lt; Median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 scores with a hard ceiling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few very low values drag average down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KURTOSIS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Heavy Tails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Measures how thick the tails of your distribution are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kurtosis = extreme events happen more often than the normal model predicts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5890" y="4962525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Market crashes, viral product launches, supply chain collapses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666537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7439" y="550545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normal model says '3-sigma events' happen 0.3% of the time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5890" y="6118955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High-kurtosis reality says they happen 5-10x more often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5382" y="6979196"/>
            <a:ext cx="192176" cy="192176"/>
            <a:chOff x="0" y="0"/>
            <a:chExt cx="256235" cy="2562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77439" y="679576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why financial models built on normal assumptions failed in 2008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9069" y="3912118"/>
            <a:ext cx="5490686" cy="5078892"/>
            <a:chOff x="0" y="0"/>
            <a:chExt cx="7320915" cy="67718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245657" y="3912118"/>
            <a:ext cx="5490686" cy="5078892"/>
            <a:chOff x="0" y="0"/>
            <a:chExt cx="7320915" cy="6771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42254" y="3912118"/>
            <a:ext cx="5490686" cy="5078892"/>
            <a:chOff x="0" y="0"/>
            <a:chExt cx="7320915" cy="6771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1942254" y="325250"/>
            <a:ext cx="1400663" cy="2130285"/>
          </a:xfrm>
          <a:custGeom>
            <a:avLst/>
            <a:gdLst/>
            <a:ahLst/>
            <a:cxnLst/>
            <a:rect r="r" b="b" t="t" l="l"/>
            <a:pathLst>
              <a:path h="2130285" w="1400663">
                <a:moveTo>
                  <a:pt x="0" y="0"/>
                </a:moveTo>
                <a:lnTo>
                  <a:pt x="1400663" y="0"/>
                </a:lnTo>
                <a:lnTo>
                  <a:pt x="1400663" y="2130285"/>
                </a:lnTo>
                <a:lnTo>
                  <a:pt x="0" y="213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0504" y="387467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Coffee Temperature Case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1949" y="2698423"/>
            <a:ext cx="1670099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true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 A coffe</a:t>
            </a:r>
            <a:r>
              <a:rPr lang="en-US" sz="3002" i="true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e shop wants to ensure no one gets burned. The mean temp is 70°C. How do they use Standard Deviation to set a "Safety Limit"?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89023" y="4085577"/>
            <a:ext cx="241077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[68%]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0509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1 SD Rule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6411" y="6154112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65 to 73 degrees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covers 68% of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cups served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94422" y="4085577"/>
            <a:ext cx="2393156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[95%]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37097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2 SD Rule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2999" y="6154112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64 to 76 degrees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covers 95%.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as warning zone.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81375" y="4085577"/>
            <a:ext cx="2412444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[99%]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33695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3 SD Rule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39587" y="6154112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Above 79 degrees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 the safety cut-off.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Automatic alert fires.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12 / 30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3504" y="9149024"/>
            <a:ext cx="167009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true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Mean serve temp is 70 degrees C. SD is 3 degrees. Set the safety limit.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VALIDATION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Normal Probability Plots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diagnostic tool to check if your data actually follows a normal distribution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points fall close to a straight diagonal line, your data is normal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Curves or S-shapes in the plot reveal skewness or heavy tails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apply normal-distribution formulas to non-normal data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 Excel: Analysis ToolPak &gt; Histogram + manually check the shape before proceeding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554202" y="-155267"/>
            <a:ext cx="7090381" cy="5801221"/>
          </a:xfrm>
          <a:custGeom>
            <a:avLst/>
            <a:gdLst/>
            <a:ahLst/>
            <a:cxnLst/>
            <a:rect r="r" b="b" t="t" l="l"/>
            <a:pathLst>
              <a:path h="5801221" w="7090381">
                <a:moveTo>
                  <a:pt x="0" y="0"/>
                </a:moveTo>
                <a:lnTo>
                  <a:pt x="7090380" y="0"/>
                </a:lnTo>
                <a:lnTo>
                  <a:pt x="7090380" y="5801220"/>
                </a:lnTo>
                <a:lnTo>
                  <a:pt x="0" y="5801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4270743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Central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Limit Theorem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292521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most powerful idea in all of statistics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77773" y="320259"/>
            <a:ext cx="162891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CENTRAL LIMIT THEOREM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" y="2114255"/>
            <a:ext cx="18114845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8"/>
              </a:lnSpc>
            </a:pPr>
            <a:r>
              <a:rPr lang="en-US" sz="19515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CLT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112" y="5143500"/>
            <a:ext cx="1536950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matter what the data looks like, averages of samples are always normally distributed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0445" y="6447539"/>
            <a:ext cx="1399682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Messy data. Weird shapes. Doesn't matter. Sample enough, and the bell curve emerges every time.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SAMPLING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Sampling Distribution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4565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don't need to survey every customer to know what the average customer thinks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864235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680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Take many random samples, the distribution of those sample means is normal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29430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This is exactly why political polls work with only 1,000 people out of millions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154549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4971117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Larger samples produce a tighter, more reliable sampling distribution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05608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822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CLT is the mathematical permission slip for all business research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PRECISION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Standard Error vs. Standard Deviation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Standard Deviation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Standard Error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Spread of individual data points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variable is the raw data?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Describes the population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Does not shrink with more data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Spread of sample means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precise is our estimate?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Describes our sampling accuracy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Shrinks as sample size increases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CONFIDENCE INTERVALS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Confidence Intervals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'We are 95% confident the true average is between X and Y'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give a single-point estimate, always give a range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Professionalism is admitting you might be slightly off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2409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95% CI means: if we ran this study 100 times, 95 intervals would contain the truth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Wider interval = more uncertainty. Narrower interval = more data collected.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EAL-WORLD CLT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CLT in Action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The Exit Poll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Casino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News calls election before all votes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CLT: enough sample = reliable estimate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Margin of error shrinks with more data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Statistics replaces waiting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Loses money on one Blackjack hand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 1 million hands: always wins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Law of Large Numbers in action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Probability only works at scale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LAW OF LARGE NUMBERS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Law of Large Numbers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 you repeat an event more often, results converge to the expected average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coin flip: first 10 flips can be 8 heads. After 10,000 flips: nearly 50/50.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Short-run streaks are noise. Long-run patterns are signal.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 implication: never judge a strategy on a 2-week sample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More data = more certainty. Always ask: how large is the sample?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EXCEL PRO MODE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Excel's Analysis ToolPak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 &gt; Options &gt; Add-ins &gt; Analysis ToolPak &gt; Go &gt; Enable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&gt; Data Analysis button now appears, this is Pro Mode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Generates mean, SD, confidence interval, skewness, kurtosis in one click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Tools: Descriptive Statistics, Histogram, Regression, Sampling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Descriptive Statistics on every new dataset before doing anything else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EXCEL FUNCTIONS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NORM.DIST vs. NORM.INV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NORM.DIST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NORM.INV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Given a value, find the probability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% of deliveries take &lt; 4 days?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=NORM.DIST(value, mean, SD, TRUE)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Input: a data point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Given a probability, find the value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the top 5% sales threshold?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=NORM.INV(probability, mean, SD)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Input: a percentile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689685" y="-1005174"/>
            <a:ext cx="4819414" cy="7501034"/>
          </a:xfrm>
          <a:custGeom>
            <a:avLst/>
            <a:gdLst/>
            <a:ahLst/>
            <a:cxnLst/>
            <a:rect r="r" b="b" t="t" l="l"/>
            <a:pathLst>
              <a:path h="7501034" w="4819414">
                <a:moveTo>
                  <a:pt x="0" y="0"/>
                </a:moveTo>
                <a:lnTo>
                  <a:pt x="4819414" y="0"/>
                </a:lnTo>
                <a:lnTo>
                  <a:pt x="4819414" y="7501034"/>
                </a:lnTo>
                <a:lnTo>
                  <a:pt x="0" y="7501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762" y="4056907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YOUR SOFT SKILL FOR THIS WEEK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1762" y="4361707"/>
            <a:ext cx="14916512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CRI</a:t>
            </a: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TICAL THINKING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1762" y="5723782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Statistics are a map, don't follow the map into a cliff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CRITICAL THINKING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Correlation is NOT Causation (Again)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Sunblock sales and ice cream sales are highly correlated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Does sunblock cause ice cream hunger? No, the sun is the hidden variable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Statistics find the link. Humans find the logic.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spurious correlation has a story that sounds plausible, until you think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Your job: never report a correlation without investigating the mechanism behind 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ETHICS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Ethics of Outlier Removal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Deleting low-end outliers to make the average look better is fraud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report the reason for any data removal, document it in the cleaning log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If you can't explain why you removed it, you should not have removed it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removed outlier that is never mentioned is a lie of omission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audience trusts the analyst to show the full picture, not the flattering one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TAIL RISK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Black Swan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Events the Bell Curve calls impossible, that happen anyway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2008 Financial Crisis: models said it was a 25-sigma event, impossible by definition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3341" y="494143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It happened. The model was wrong. The territory disagreed with the map.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5382" y="5648744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7439" y="5465312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kurtosis distributions produce black swans far more often than normal models predict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5382" y="6810794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7439" y="66273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ask: what does the model assume cannot happen?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JUDGMENT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Over-Reliance on Data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Analysis Paralysis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Informed Courage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Waiting for more data before deciding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Stats say: wait for significance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Competitor moves while you analyze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Perfect data never arrives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stats to reduce risk, not remove it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Sometimes opportunity says 'Go'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informs the decision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human makes the decision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SOFT SKILL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1881" y="941625"/>
            <a:ext cx="16289188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Communicating Statistics to Non-Stats People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71881" y="3021562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881" y="3418061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33939" y="3234628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Don't say: 'The Z-score is 2.5 and the p-value is 0.012'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71881" y="4269119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33939" y="4085687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 say: 'This result is very unusual, it happens less than 1% of the time'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2390" y="4699192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Translate every statistic into a business sentence before presenting it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1881" y="5559433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33939" y="537600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Don't say: 'The 95% CI is 42.3 to 47.8'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1881" y="6410492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33939" y="622705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 say: 'We're confident the true average is somewhere between 42 and 48'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SUMMARY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We Covered This Week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Probability, the language of uncertainty, quantified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Normal Distribution,  the shape of most business phenomena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4804353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462092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Empirical Rule, 68, 95, 99.7 and what they mean operationally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7706" y="5655412"/>
            <a:ext cx="192176" cy="192176"/>
            <a:chOff x="0" y="0"/>
            <a:chExt cx="256235" cy="256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9764" y="547197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CLT, Z-Scores, Confidence Intervals, the analyst's statistical toolkit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86" y="-1372676"/>
            <a:ext cx="12354049" cy="12354049"/>
            <a:chOff x="0" y="0"/>
            <a:chExt cx="16472065" cy="16472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154" cy="16472154"/>
            </a:xfrm>
            <a:custGeom>
              <a:avLst/>
              <a:gdLst/>
              <a:ahLst/>
              <a:cxnLst/>
              <a:rect r="r" b="b" t="t" l="l"/>
              <a:pathLst>
                <a:path h="16472154" w="16472154">
                  <a:moveTo>
                    <a:pt x="0" y="8236077"/>
                  </a:moveTo>
                  <a:cubicBezTo>
                    <a:pt x="0" y="3687445"/>
                    <a:pt x="3687445" y="0"/>
                    <a:pt x="8236077" y="0"/>
                  </a:cubicBezTo>
                  <a:cubicBezTo>
                    <a:pt x="12784710" y="0"/>
                    <a:pt x="16472154" y="3687445"/>
                    <a:pt x="16472154" y="8236077"/>
                  </a:cubicBezTo>
                  <a:cubicBezTo>
                    <a:pt x="16472154" y="12784710"/>
                    <a:pt x="12784710" y="16472154"/>
                    <a:pt x="8236077" y="16472154"/>
                  </a:cubicBezTo>
                  <a:cubicBezTo>
                    <a:pt x="3687445" y="16472154"/>
                    <a:pt x="0" y="12784709"/>
                    <a:pt x="0" y="8236077"/>
                  </a:cubicBezTo>
                  <a:close/>
                </a:path>
              </a:pathLst>
            </a:custGeom>
            <a:solidFill>
              <a:srgbClr val="0A162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77556" y="915670"/>
            <a:ext cx="8780310" cy="7408386"/>
          </a:xfrm>
          <a:custGeom>
            <a:avLst/>
            <a:gdLst/>
            <a:ahLst/>
            <a:cxnLst/>
            <a:rect r="r" b="b" t="t" l="l"/>
            <a:pathLst>
              <a:path h="7408386" w="8780310">
                <a:moveTo>
                  <a:pt x="0" y="0"/>
                </a:moveTo>
                <a:lnTo>
                  <a:pt x="8780310" y="0"/>
                </a:lnTo>
                <a:lnTo>
                  <a:pt x="8780310" y="7408386"/>
                </a:lnTo>
                <a:lnTo>
                  <a:pt x="0" y="7408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71871" y="2781538"/>
            <a:ext cx="12171169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1"/>
              </a:lnSpc>
            </a:pPr>
            <a:r>
              <a:rPr lang="en-US" sz="1200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Let's Talk.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871" y="5193240"/>
            <a:ext cx="10798502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Statistical thinking will one day be as necessary as the ability to read and write. H.G. Wells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0427" y="7195261"/>
            <a:ext cx="6177029" cy="38129"/>
            <a:chOff x="0" y="0"/>
            <a:chExt cx="8236039" cy="50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6077" cy="50800"/>
            </a:xfrm>
            <a:custGeom>
              <a:avLst/>
              <a:gdLst/>
              <a:ahLst/>
              <a:cxnLst/>
              <a:rect r="r" b="b" t="t" l="l"/>
              <a:pathLst>
                <a:path h="50800" w="8236077">
                  <a:moveTo>
                    <a:pt x="0" y="0"/>
                  </a:moveTo>
                  <a:lnTo>
                    <a:pt x="8236077" y="0"/>
                  </a:lnTo>
                  <a:lnTo>
                    <a:pt x="82360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1871" y="7320886"/>
            <a:ext cx="1350716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Lab: 'Quality Control Audit' use the math to tell the factory if the machines are failing.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Next week: Regression &amp; Prediction.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DAHGvOGwzQo</dc:identifier>
  <dcterms:modified xsi:type="dcterms:W3CDTF">2011-08-01T06:04:30Z</dcterms:modified>
  <cp:revision>1</cp:revision>
  <dc:title>BA1_Week6.pptx</dc:title>
</cp:coreProperties>
</file>